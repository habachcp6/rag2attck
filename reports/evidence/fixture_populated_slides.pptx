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303b3f9796e44fb" /><Relationship Type="http://schemas.openxmlformats.org/officeDocument/2006/relationships/extended-properties" Target="/docProps/app.xml" Id="Ra24d80cd05394211" /><Relationship Type="http://schemas.openxmlformats.org/officeDocument/2006/relationships/officeDocument" Target="/ppt/presentation.xml" Id="R60cdc68a71234751" /></Relationships>
</file>

<file path=ppt/presentation.xml><?xml version="1.0" encoding="utf-8"?>
<p:presentation xmlns:p="http://schemas.openxmlformats.org/presentationml/2006/main">
  <p:sldMasterIdLst>
    <p:sldMasterId xmlns:r="http://schemas.openxmlformats.org/officeDocument/2006/relationships" id="2147483648" r:id="Ra93427ade3a4409d"/>
  </p:sldMasterIdLst>
  <p:notesMasterIdLst>
    <p:notesMasterId xmlns:r="http://schemas.openxmlformats.org/officeDocument/2006/relationships" r:id="Rdf4b9a52ff69436a"/>
  </p:notesMasterIdLst>
  <p:sldIdLst>
    <p:sldId xmlns:r="http://schemas.openxmlformats.org/officeDocument/2006/relationships" id="256" r:id="Ree784d9e57a54be9"/>
    <p:sldId xmlns:r="http://schemas.openxmlformats.org/officeDocument/2006/relationships" id="257" r:id="Rc81fa0a00f2f46b3"/>
    <p:sldId xmlns:r="http://schemas.openxmlformats.org/officeDocument/2006/relationships" id="258" r:id="R971471eb80d745e4"/>
    <p:sldId xmlns:r="http://schemas.openxmlformats.org/officeDocument/2006/relationships" id="259" r:id="R1f6b6bbb2e454a2d"/>
    <p:sldId xmlns:r="http://schemas.openxmlformats.org/officeDocument/2006/relationships" id="260" r:id="Rb404c3a1cb964cd1"/>
    <p:sldId xmlns:r="http://schemas.openxmlformats.org/officeDocument/2006/relationships" id="261" r:id="R8d430bf8f94c4dc3"/>
    <p:sldId xmlns:r="http://schemas.openxmlformats.org/officeDocument/2006/relationships" id="262" r:id="Rb49e3e1ee09a420f"/>
    <p:sldId xmlns:r="http://schemas.openxmlformats.org/officeDocument/2006/relationships" id="263" r:id="Rccbe736d2d0e409f"/>
    <p:sldId xmlns:r="http://schemas.openxmlformats.org/officeDocument/2006/relationships" id="264" r:id="R7f8616a4c3b44817"/>
    <p:sldId xmlns:r="http://schemas.openxmlformats.org/officeDocument/2006/relationships" id="265" r:id="Rad04a72cdd834a8c"/>
    <p:sldId xmlns:r="http://schemas.openxmlformats.org/officeDocument/2006/relationships" id="266" r:id="Rbc4bc02abd6b48e9"/>
    <p:sldId xmlns:r="http://schemas.openxmlformats.org/officeDocument/2006/relationships" id="267" r:id="Rf43d7dc305904138"/>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b3bfa985eb14eb0" /><Relationship Type="http://schemas.openxmlformats.org/officeDocument/2006/relationships/slideMaster" Target="/ppt/slideMasters/slideMaster1.xml" Id="Ra93427ade3a4409d" /><Relationship Type="http://schemas.openxmlformats.org/officeDocument/2006/relationships/notesMaster" Target="/ppt/notesMasters/notesMaster1.xml" Id="Rdf4b9a52ff69436a" /><Relationship Type="http://schemas.openxmlformats.org/officeDocument/2006/relationships/presProps" Target="/ppt/presProps.xml" Id="R99b8ea91629f4451" /><Relationship Type="http://schemas.openxmlformats.org/officeDocument/2006/relationships/viewProps" Target="/ppt/viewProps.xml" Id="R7c381a2e75d640bb" /><Relationship Type="http://schemas.openxmlformats.org/officeDocument/2006/relationships/tableStyles" Target="/ppt/tableStyles.xml" Id="Red10609ac4fa4485" /><Relationship Type="http://schemas.openxmlformats.org/officeDocument/2006/relationships/slide" Target="/ppt/slides/slide1.xml" Id="Ree784d9e57a54be9" /><Relationship Type="http://schemas.openxmlformats.org/officeDocument/2006/relationships/slide" Target="/ppt/slides/slide2.xml" Id="Rc81fa0a00f2f46b3" /><Relationship Type="http://schemas.openxmlformats.org/officeDocument/2006/relationships/slide" Target="/ppt/slides/slide3.xml" Id="R971471eb80d745e4" /><Relationship Type="http://schemas.openxmlformats.org/officeDocument/2006/relationships/slide" Target="/ppt/slides/slide4.xml" Id="R1f6b6bbb2e454a2d" /><Relationship Type="http://schemas.openxmlformats.org/officeDocument/2006/relationships/slide" Target="/ppt/slides/slide5.xml" Id="Rb404c3a1cb964cd1" /><Relationship Type="http://schemas.openxmlformats.org/officeDocument/2006/relationships/slide" Target="/ppt/slides/slide6.xml" Id="R8d430bf8f94c4dc3" /><Relationship Type="http://schemas.openxmlformats.org/officeDocument/2006/relationships/slide" Target="/ppt/slides/slide7.xml" Id="Rb49e3e1ee09a420f" /><Relationship Type="http://schemas.openxmlformats.org/officeDocument/2006/relationships/slide" Target="/ppt/slides/slide8.xml" Id="Rccbe736d2d0e409f" /><Relationship Type="http://schemas.openxmlformats.org/officeDocument/2006/relationships/slide" Target="/ppt/slides/slide9.xml" Id="R7f8616a4c3b44817" /><Relationship Type="http://schemas.openxmlformats.org/officeDocument/2006/relationships/slide" Target="/ppt/slides/slide10.xml" Id="Rad04a72cdd834a8c" /><Relationship Type="http://schemas.openxmlformats.org/officeDocument/2006/relationships/slide" Target="/ppt/slides/slide11.xml" Id="Rbc4bc02abd6b48e9" /><Relationship Type="http://schemas.openxmlformats.org/officeDocument/2006/relationships/slide" Target="/ppt/slides/slide12.xml" Id="Rf43d7dc30590413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a8066cba4c4d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ef1001ef8d74791" /><Relationship Type="http://schemas.openxmlformats.org/officeDocument/2006/relationships/notesMaster" Target="/ppt/notesMasters/notesMaster1.xml" Id="R182bd59e851748c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f410846542442bd" /><Relationship Type="http://schemas.openxmlformats.org/officeDocument/2006/relationships/notesMaster" Target="/ppt/notesMasters/notesMaster1.xml" Id="R1814ea4c861149be" /></Relationships>
</file>

<file path=ppt/notesSlides/_rels/notesSlide3.xml.rels>&#65279;<?xml version="1.0" encoding="utf-8"?><Relationships xmlns="http://schemas.openxmlformats.org/package/2006/relationships"><Relationship Type="http://schemas.openxmlformats.org/officeDocument/2006/relationships/slide" Target="/ppt/slides/slide3.xml" Id="R0a58d20ee1c24e85" /><Relationship Type="http://schemas.openxmlformats.org/officeDocument/2006/relationships/notesMaster" Target="/ppt/notesMasters/notesMaster1.xml" Id="R9b1b38929d474b7f" /></Relationships>
</file>

<file path=ppt/notesSlides/_rels/notesSlide4.xml.rels>&#65279;<?xml version="1.0" encoding="utf-8"?><Relationships xmlns="http://schemas.openxmlformats.org/package/2006/relationships"><Relationship Type="http://schemas.openxmlformats.org/officeDocument/2006/relationships/slide" Target="/ppt/slides/slide4.xml" Id="Ra7031076c4cc4aa6" /><Relationship Type="http://schemas.openxmlformats.org/officeDocument/2006/relationships/notesMaster" Target="/ppt/notesMasters/notesMaster1.xml" Id="Recf4f611695d453a"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967b6b9e18440f" /><Relationship Type="http://schemas.openxmlformats.org/officeDocument/2006/relationships/notesMaster" Target="/ppt/notesMasters/notesMaster1.xml" Id="Rd360607cabc2471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3a5543fbb094d4c" /><Relationship Type="http://schemas.openxmlformats.org/officeDocument/2006/relationships/notesMaster" Target="/ppt/notesMasters/notesMaster1.xml" Id="R616e2c86e2fd4a44" /></Relationships>
</file>

<file path=ppt/notesSlides/_rels/notesSlide7.xml.rels>&#65279;<?xml version="1.0" encoding="utf-8"?><Relationships xmlns="http://schemas.openxmlformats.org/package/2006/relationships"><Relationship Type="http://schemas.openxmlformats.org/officeDocument/2006/relationships/slide" Target="/ppt/slides/slide7.xml" Id="Rafdb5544d0044fdf" /><Relationship Type="http://schemas.openxmlformats.org/officeDocument/2006/relationships/notesMaster" Target="/ppt/notesMasters/notesMaster1.xml" Id="R91674af2868943e0"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40e1b1d89346d1" /><Relationship Type="http://schemas.openxmlformats.org/officeDocument/2006/relationships/notesMaster" Target="/ppt/notesMasters/notesMaster1.xml" Id="R2583ba4e59324ad8" /></Relationships>
</file>

<file path=ppt/notesSlides/_rels/notesSlide9.xml.rels>&#65279;<?xml version="1.0" encoding="utf-8"?><Relationships xmlns="http://schemas.openxmlformats.org/package/2006/relationships"><Relationship Type="http://schemas.openxmlformats.org/officeDocument/2006/relationships/slide" Target="/ppt/slides/slide9.xml" Id="R87d1ff92888c422e" /><Relationship Type="http://schemas.openxmlformats.org/officeDocument/2006/relationships/notesMaster" Target="/ppt/notesMasters/notesMaster1.xml" Id="R39b52c82afc44c3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906efc9de64895" /><Relationship Type="http://schemas.openxmlformats.org/officeDocument/2006/relationships/notesMaster" Target="/ppt/notesMasters/notesMaster1.xml" Id="Rdb919e438b6743e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6a91dcb5ddb47b6" /><Relationship Type="http://schemas.openxmlformats.org/officeDocument/2006/relationships/notesMaster" Target="/ppt/notesMasters/notesMaster1.xml" Id="R05283f95aead421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1f8e805219a4046" /><Relationship Type="http://schemas.openxmlformats.org/officeDocument/2006/relationships/notesMaster" Target="/ppt/notesMasters/notesMaster1.xml" Id="R9bc77b0032a44df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artifacts/results/canonical_metric_bundle_v2.json (SHA-256: 442b5933858caafc9da3c06ee9398637213ed30d7a7db80195c0babb1195ef34);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tập scorable N=718 cho thấy Hit@10 đạt 44.71% (321/718), nghĩa là trong 55.29% trường hợp (397/718), kỹ thuật đúng hoàn toàn vắng bóng trong Top-10 gửi cho LLM. Điển hình là kỹ thuật T1136.001 với 0/95 lần trúng Top-10 do khoảng cách ngữ nghĩa giữa Event ID 4720 và STIX description. Chúng tôi ghi nhận giả thuyết Context Scaling &amp; Dilution (k=1,3,5,10): tăng k cải thiện độ phủ nhưng tăng nguy cơ nhiễu distractor; giả thuyết này đã được kiểm chứng thực nghiệm đối chứng end-to-end trên ma trận TEST.</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Ở điều kiện RAG k=10 trên 278 cặp đầy đủ nhãn GT, cả Single và Contextual view đều đạt 83.81% (paired delta = 0.0 pp, McNemar p = 1.0), nghiêm cấm suy diễn quan hệ nhân quả thuần túy khi hình thức biểu diễn thay đổi.</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a:t>
            </a:r>
          </a:p>
          <a:p xmlns:a="http://schemas.openxmlformats.org/drawingml/2006/main">
            <a:r>
              <a:t>Bảng đối chứng RQ1 ghi nhận RAG k=10 đạt độ chính xác quan sát được cao nhất là 79.53% (571/718) so với No-RAG 77.99% (560/718), tức Delta = +1.532 pp (+1.96% relative gain; 95% CI [-2.355, +5.300] pp chứa 0; kiểm định McNemar chính xác p = 0.4219 / hiển thị 0.422 &gt; 0.05). Do đó, nghiên cứu khẳng định đây là độ chính xác quan sát được cao nhất trong thử nghiệm kèm độ bất định, tuyệt đối không tuyên bố chiến thắng có ý nghĩa thống kê hay lợi ích vượt trội trong production.</a:t>
            </a:r>
          </a:p>
          <a:p xmlns:a="http://schemas.openxmlformats.org/drawingml/2006/main">
            <a:r>
              <a:t>Ranh giới lỗi phân định độc lập: 1 physical retry thành công sau sự cố mạng API_FAILURE; ghi nhận 0 terminal provider failure trên toàn bộ 3,590 scorable records (13 incomplete records ghi nhận trên toàn campaign 6,400 requests đều thuộc nhóm unmapped/ambiguous).</a:t>
            </a:r>
          </a:p>
          <a:p xmlns:a="http://schemas.openxmlformats.org/drawingml/2006/main">
            <a:r>
              <a:t>Về các thước đo có điều kiện tại k=10: P(Correct | GT in Top-k) = 91.28% (293/321), trong khi P(Correct | GT NOT in Top-k) = 70.03% (278/397); tỷ lệ này không cho phép suy diễn mô hình tự sửa sai nội tại.</a:t>
            </a:r>
          </a:p>
          <a:p xmlns:a="http://schemas.openxmlformats.org/drawingml/2006/main">
            <a:r>
              <a:t>Bằng chứng dự án: reports/experiment_protocol_v1.md (D2e, D2f, D2h, D2i; SHA-256: d3bf3d31ad307100ac437a7daecc470bf12de9ada49f19de3d77592d5a21974c); artifacts/results/canonical_metric_bundle_v2.json;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dữ liệu và kiểm soát ngân sách:</a:t>
            </a:r>
          </a:p>
          <a:p xmlns:a="http://schemas.openxmlformats.org/drawingml/2006/main">
            <a:r>
              <a:t>1. Dữ liệu DEV là dữ liệu tổng hợp (synthetic-paired-v1 DEV split). Việc gửi request lên OpenAI không biến log tổng hợp thành dữ liệu thực địa in-the-wild.</a:t>
            </a:r>
          </a:p>
          <a:p xmlns:a="http://schemas.openxmlformats.org/drawingml/2006/main">
            <a:r>
              <a:t>2. Toàn bộ nghiên cứu tính trên mẫu số N=1,280 queries / điều kiện (tổng 6,400 logical requests, 6,401 physical attempts bao gồm 1 physical retry thành công do lỗi mạng API_FAILURE với 1,540 cached tokens; ghi nhận 0 terminal provider failure trên 3,590 scorable records).</a:t>
            </a:r>
          </a:p>
          <a:p xmlns:a="http://schemas.openxmlformats.org/drawingml/2006/main">
            <a:r>
              <a:t>3. Hạch toán tài chính chính xác: trần ngân sách đóng băng cứng $19.99 USD (hard_budget_limit_usd = $19.99000000). Chi phí quyết toán thực tế 5 điều kiện chính thức là $6.58 settled spend ($6.57575890 USD).</a:t>
            </a:r>
          </a:p>
          <a:p xmlns:a="http://schemas.openxmlformats.org/drawingml/2006/main">
            <a:r>
              <a:t>4. Phân biệt rạch ròi: Khoản giữ chỗ thận trọng pilot $0.05264010 USD (prior_pilot_provisional_hold_usd) được phân tách minh bạch khỏi chi phí quyết toán thực tế $6.57575890 USD. Tổng chi phí cam kết là $6.63 committed spend ($6.62839900 USD), ngân sách khả dụng còn lại là $13.36 net remaining ($13.36160100 USD; 0 active holds, 0 breach).</a:t>
            </a:r>
          </a:p>
          <a:p xmlns:a="http://schemas.openxmlformats.org/drawingml/2006/main">
            <a:r>
              <a:t>Bằng chứng dự án: config/experiment_config.json (hard_budget_limit_usd: 19.99); artifacts/results/canonical_metric_bundle_v2.json;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Khoảng tin cậy delta chứa 0, kiểm định McNemar p = 0.4219 / 0.422 &gt; 0.05.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artifacts/results/canonical_metric_bundle_v2.json;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No-RAG đạt 77.99% (560/718), RAG k=10 đạt 79.53% (571/718, Delta = +1.532 pp, McNemar p = 0.4219 / 0.422 &gt; 0.05). Ghi nhận 0 terminal provider failures trên 3,590 scorable records.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artifacts/results/canonical_metric_bundle_v2.json;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4e3fe019a0240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66c5352f22346a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6acae892c4f461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4d0991958d1426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c658c41d2a0493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e316ca4bfd04bf8"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ac799e82c8c40a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f32852ea18854287"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8c2863e798194a90"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075725650de8423f"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88a0df020770434b"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66AD3A6-C2FE-4237-AA6A-5D1C659E5AA6}"/>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56A41D51-E448-4B9D-BD7E-791737D4799A}"/>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93AD6A40-E0A7-4F08-AAA7-13A3B5BE3F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55CD510-427D-4031-A3E9-459CEFC2E8E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D7718A8-B591-4F91-9D37-799AB4D8D65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5EFD027-FB12-473F-9721-F23AB01B25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6719805-CFA7-4634-93C7-F705A7513545}"/>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638E448-B36D-4654-B360-833DD199A9B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1BAB1665-5633-4B54-BCD2-5DF9F48C976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EF8E4EC-D327-48DC-A7AA-4A5FF0AE56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5A2718-D2A9-41C2-BAED-95856C316393}"/>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4A0981AA-0BE8-4BB7-AB94-A439FF69CA64}"/>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73B25840-6818-4F45-B03E-E2C76124CBE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BEA3C52-E683-49A4-A81E-7C5176A1E29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A3CD706-6CEA-44A8-9FE1-60B577AFBB2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FA86D74-7202-48B4-B55B-E0E85057431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7E5A7EA0-3B7B-4BA5-9F4C-9BC126CD99E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06A70A8A-C29E-49A7-BDC8-2A74D967B4A2}"/>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53601ECA-C591-4BA0-AC4C-61DE5FA5EBA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70B1A62F-160C-4F98-86D9-E15128320E0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C4CCAA2-E8E1-43A4-9390-4EDCF8E44BE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5F65726-6C58-4FB3-BA65-2EF4FECB127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1E98E12E-B82B-44E2-AB39-8C7F1A2665F5}"/>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50D6CF61-17FF-4CEA-8406-2A4AFBE663B7}"/>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A972D146-675A-4405-917B-19EA65E73BE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FB305520-C2F7-431E-A8F1-04B3C6BD498E}"/>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D037B7AA-CC6C-41C9-91FD-056E6D0A1BC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3C13BCA0-1604-491D-8AB5-2525B362EF7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345D7A69-3440-4CBB-9D84-822D9E9EC29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1AAA2A7-67BE-445F-B132-29CF129F1C5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B713F640-45AE-4811-9AA6-6CF94616D13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40784A77-8D1C-4E6A-9112-F87771A1B07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80A06B20-2456-4BA0-A12B-D54E0E38B62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E4FABA2C-4C74-45F9-9314-84D2EFF2A64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7121CEED-FAF1-48CD-BE50-6E3E55AB185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9CCD978E-677C-486E-B237-7364639139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C785611-CFC5-4A98-B111-8F22655D03F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85009941-4B8A-4EF4-9262-C028962FB82A}"/>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F57FCBBE-A232-450B-B221-E5173C8D8262}"/>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C06E129-F003-4637-82FE-F200110C7B7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3A46B5A3-9FB4-4D25-91F2-A145753F3B0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889C8863-1AD4-42EF-B1C8-3AA275550FC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8AEDFB0-A4F4-49CF-B520-ED04932F1977}"/>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21D980A6-72AE-4C46-81CF-951035B51819}"/>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12322C1-07CC-4FDC-8218-019B838B2F54}"/>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F5C7BEA-51CA-49B6-81C9-134C118AB47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6A9DBD4F-43B1-4AD2-AB4A-D7D05928196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7CCF4926-653F-48A2-B10B-8A0C9483C0C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59CD4AD-D2CA-4B12-8ADD-9555B95AD11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6FAEB06F-1EA0-4139-8329-316C271C38DF}"/>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4CE66CA-F7B5-4A8D-B123-6A9B2CD6530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B994293-7906-4CD5-8759-ED8802BB3FB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F5E64CC-9370-457D-82EF-BEA75049564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047B670C-802B-4BE6-A18D-FD192ACB412C}"/>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8BFA5B23-7AD6-44FE-8999-022B60CFD88F}"/>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77959591-E412-4A76-AF2F-A1C939E8FB7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F28D573-E24D-4EAA-B3AD-7C19AB3BC7B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4F1BD6D-7637-4B21-A793-63219F7BEBF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80313c984b4ab8" /><Relationship Type="http://schemas.openxmlformats.org/officeDocument/2006/relationships/slideLayout" Target="/ppt/slideLayouts/slideLayout1.xml" Id="R65e2623160df4dd6" /><Relationship Type="http://schemas.openxmlformats.org/officeDocument/2006/relationships/slideLayout" Target="/ppt/slideLayouts/slideLayout2.xml" Id="R38110e15d9384813" /><Relationship Type="http://schemas.openxmlformats.org/officeDocument/2006/relationships/slideLayout" Target="/ppt/slideLayouts/slideLayout3.xml" Id="Rd4409d8e3e144a78" /><Relationship Type="http://schemas.openxmlformats.org/officeDocument/2006/relationships/slideLayout" Target="/ppt/slideLayouts/slideLayout4.xml" Id="R44d6c638be3a4cd0" /><Relationship Type="http://schemas.openxmlformats.org/officeDocument/2006/relationships/slideLayout" Target="/ppt/slideLayouts/slideLayout5.xml" Id="R7fe774aaf432407d" /><Relationship Type="http://schemas.openxmlformats.org/officeDocument/2006/relationships/slideLayout" Target="/ppt/slideLayouts/slideLayout6.xml" Id="R0414dbe39c2047cd" /><Relationship Type="http://schemas.openxmlformats.org/officeDocument/2006/relationships/slideLayout" Target="/ppt/slideLayouts/slideLayout7.xml" Id="R8c801c3c0dee4943" /><Relationship Type="http://schemas.openxmlformats.org/officeDocument/2006/relationships/slideLayout" Target="/ppt/slideLayouts/slideLayout8.xml" Id="Rf5f2eee6b2b64e3a" /><Relationship Type="http://schemas.openxmlformats.org/officeDocument/2006/relationships/slideLayout" Target="/ppt/slideLayouts/slideLayout9.xml" Id="R8b8ea25d04614827" /><Relationship Type="http://schemas.openxmlformats.org/officeDocument/2006/relationships/slideLayout" Target="/ppt/slideLayouts/slideLayout10.xml" Id="R529a6d65172a40e1" /><Relationship Type="http://schemas.openxmlformats.org/officeDocument/2006/relationships/slideLayout" Target="/ppt/slideLayouts/slideLayout11.xml" Id="R5220afb4e3f34b9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82F14072-77CD-4895-9161-56F28FBF53A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2338165-10E2-43FE-BED9-7A50A97192C5}"/>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E5D2423-D0DB-4F96-AD3B-CD94DC5E4053}"/>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A4C3C3BE-8AA0-4F63-81F6-23E19DFA76AA}"/>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6ED9F82-E47A-4C60-A328-068DDDC514E5}"/>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5e2623160df4dd6"/>
    <p:sldLayoutId xmlns:r="http://schemas.openxmlformats.org/officeDocument/2006/relationships" id="2147483650" r:id="R38110e15d9384813"/>
    <p:sldLayoutId xmlns:r="http://schemas.openxmlformats.org/officeDocument/2006/relationships" id="2147483651" r:id="Rd4409d8e3e144a78"/>
    <p:sldLayoutId xmlns:r="http://schemas.openxmlformats.org/officeDocument/2006/relationships" id="2147483652" r:id="R44d6c638be3a4cd0"/>
    <p:sldLayoutId xmlns:r="http://schemas.openxmlformats.org/officeDocument/2006/relationships" id="2147483653" r:id="R7fe774aaf432407d"/>
    <p:sldLayoutId xmlns:r="http://schemas.openxmlformats.org/officeDocument/2006/relationships" id="2147483654" r:id="R0414dbe39c2047cd"/>
    <p:sldLayoutId xmlns:r="http://schemas.openxmlformats.org/officeDocument/2006/relationships" id="2147483655" r:id="R8c801c3c0dee4943"/>
    <p:sldLayoutId xmlns:r="http://schemas.openxmlformats.org/officeDocument/2006/relationships" id="2147483656" r:id="Rf5f2eee6b2b64e3a"/>
    <p:sldLayoutId xmlns:r="http://schemas.openxmlformats.org/officeDocument/2006/relationships" id="2147483657" r:id="R8b8ea25d04614827"/>
    <p:sldLayoutId xmlns:r="http://schemas.openxmlformats.org/officeDocument/2006/relationships" id="2147483658" r:id="R529a6d65172a40e1"/>
    <p:sldLayoutId xmlns:r="http://schemas.openxmlformats.org/officeDocument/2006/relationships" id="2147483659" r:id="R5220afb4e3f34b93"/>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0af1768a2ef245fc" /><Relationship Type="http://schemas.openxmlformats.org/officeDocument/2006/relationships/notesSlide" Target="/ppt/notesSlides/notesSlide1.xml" Id="Rb5bf5d6165d742e5"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91c8bd1db13342e2" /><Relationship Type="http://schemas.openxmlformats.org/officeDocument/2006/relationships/notesSlide" Target="/ppt/notesSlides/notesSlide2.xml" Id="R95e713d195914d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9c5cd65b48264132" /><Relationship Type="http://schemas.openxmlformats.org/officeDocument/2006/relationships/notesSlide" Target="/ppt/notesSlides/notesSlide3.xml" Id="Re64f706b556344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520df1460d3e4a65" /><Relationship Type="http://schemas.openxmlformats.org/officeDocument/2006/relationships/notesSlide" Target="/ppt/notesSlides/notesSlide4.xml" Id="Rfbd138c83061429c"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296503da20854947" /><Relationship Type="http://schemas.openxmlformats.org/officeDocument/2006/relationships/notesSlide" Target="/ppt/notesSlides/notesSlide5.xml" Id="R355bcc095d3442fb"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31d883c096df4df8" /><Relationship Type="http://schemas.openxmlformats.org/officeDocument/2006/relationships/image" Target="/ppt/media/image.png" Id="Rf3bc57342be64de3" /><Relationship Type="http://schemas.openxmlformats.org/officeDocument/2006/relationships/notesSlide" Target="/ppt/notesSlides/notesSlide6.xml" Id="R7cf0d4f713b14b5d"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dc7de4aac5e64b79" /><Relationship Type="http://schemas.openxmlformats.org/officeDocument/2006/relationships/notesSlide" Target="/ppt/notesSlides/notesSlide7.xml" Id="R0a2ea92965724308"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2feaf22a24c14c10" /><Relationship Type="http://schemas.openxmlformats.org/officeDocument/2006/relationships/notesSlide" Target="/ppt/notesSlides/notesSlide8.xml" Id="Rf4c826f24ef64b3d"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e4c36dbdf31d46a9" /><Relationship Type="http://schemas.openxmlformats.org/officeDocument/2006/relationships/image" Target="/ppt/media/image2.png" Id="Radc785b5bd864996" /><Relationship Type="http://schemas.openxmlformats.org/officeDocument/2006/relationships/notesSlide" Target="/ppt/notesSlides/notesSlide9.xml" Id="R7982bac7d40e4c1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c7c427f1d5aa4b6d" /><Relationship Type="http://schemas.openxmlformats.org/officeDocument/2006/relationships/notesSlide" Target="/ppt/notesSlides/notesSlide10.xml" Id="Rdbec655105dc43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41c2914f19eb497f" /><Relationship Type="http://schemas.openxmlformats.org/officeDocument/2006/relationships/notesSlide" Target="/ppt/notesSlides/notesSlide11.xml" Id="Rf846845c68dd469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09f72a9028d44002" /><Relationship Type="http://schemas.openxmlformats.org/officeDocument/2006/relationships/notesSlide" Target="/ppt/notesSlides/notesSlide12.xml" Id="R5b4248cad5114a9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9BBDE0A-F882-44FC-ACFD-716BB2C8E95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677D3C6-93AD-45CB-AD7E-452E6FC19EF7}"/>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hape_slide_1_title">
            <a:extLst xmlns:a="http://schemas.openxmlformats.org/drawingml/2006/main">
              <a:ext uri="{FF2B5EF4-FFF2-40B4-BE49-F238E27FC236}">
                <a16:creationId xmlns:a16="http://schemas.microsoft.com/office/drawing/2014/main" id="{F8EE04D9-453A-4D77-8C63-4338CCC878F5}"/>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a:p xmlns:a="http://schemas.openxmlformats.org/drawingml/2006/main">
            <a:pPr>
              <a:spcBef>
                <a:spcPts val="800"/>
              </a:spcBef>
              <a:buNone/>
              <a:defRPr sz="1300" b="1">
                <a:solidFill>
                  <a:srgbClr val="DC2626"/>
                </a:solidFill>
                <a:latin typeface="Calibri"/>
                <a:ea typeface="Calibri"/>
                <a:cs typeface="Calibri"/>
              </a:defRPr>
            </a:pPr>
            <a:r>
              <a:t>[CANONICAL CANDIDATE — PENDING ROOT FINAL REVIEW]</a:t>
            </a:r>
          </a:p>
        </p:txBody>
      </p:sp>
    </p:spTree>
    <p:extLst>
      <p:ext uri="{BB962C8B-B14F-4D97-AF65-F5344CB8AC3E}">
        <p14:creationId xmlns:p14="http://schemas.microsoft.com/office/powerpoint/2010/main" val="124512228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B4B7B1C4-ED8A-4A61-8DD5-84578764B21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ED88CA9-747B-4B15-9007-DE0C43EC4220}"/>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E30F82F-DD27-4284-B91F-F5EBE25DB5B8}"/>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6BD838B9-9218-4D3A-B6C2-6C619916DE3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  |  [CANONICAL CANDIDATE — PENDING ROOT FINAL REVIEW]</a:t>
            </a:r>
          </a:p>
        </p:txBody>
      </p:sp>
      <p:sp>
        <p:nvSpPr>
          <p:cNvPr id="6" name="shape_slide_2_problem">
            <a:extLst xmlns:a="http://schemas.openxmlformats.org/drawingml/2006/main">
              <a:ext uri="{FF2B5EF4-FFF2-40B4-BE49-F238E27FC236}">
                <a16:creationId xmlns:a16="http://schemas.microsoft.com/office/drawing/2014/main" id="{6FFDCB39-2EFB-4987-AA90-39F497B216C6}"/>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2_problem_textbox">
            <a:extLst xmlns:a="http://schemas.openxmlformats.org/drawingml/2006/main">
              <a:ext uri="{FF2B5EF4-FFF2-40B4-BE49-F238E27FC236}">
                <a16:creationId xmlns:a16="http://schemas.microsoft.com/office/drawing/2014/main" id="{86A5F9E3-3768-48FB-BC28-8A7CFDCE23D2}"/>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shape_slide_2_challenge">
            <a:extLst xmlns:a="http://schemas.openxmlformats.org/drawingml/2006/main">
              <a:ext uri="{FF2B5EF4-FFF2-40B4-BE49-F238E27FC236}">
                <a16:creationId xmlns:a16="http://schemas.microsoft.com/office/drawing/2014/main" id="{794731FA-C678-4DED-A35E-631FA7593A7B}"/>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2_challenge_textbox">
            <a:extLst xmlns:a="http://schemas.openxmlformats.org/drawingml/2006/main">
              <a:ext uri="{FF2B5EF4-FFF2-40B4-BE49-F238E27FC236}">
                <a16:creationId xmlns:a16="http://schemas.microsoft.com/office/drawing/2014/main" id="{79900B27-C0C4-4ABB-AC65-D75CF82505D5}"/>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shape_slide_2_motivation">
            <a:extLst xmlns:a="http://schemas.openxmlformats.org/drawingml/2006/main">
              <a:ext uri="{FF2B5EF4-FFF2-40B4-BE49-F238E27FC236}">
                <a16:creationId xmlns:a16="http://schemas.microsoft.com/office/drawing/2014/main" id="{12D0A04D-8081-4B88-8C4B-A0C1E8D77786}"/>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2_motivation_textbox">
            <a:extLst xmlns:a="http://schemas.openxmlformats.org/drawingml/2006/main">
              <a:ext uri="{FF2B5EF4-FFF2-40B4-BE49-F238E27FC236}">
                <a16:creationId xmlns:a16="http://schemas.microsoft.com/office/drawing/2014/main" id="{2CE2FC6A-4DE5-4F12-89F6-E0D6326FC8BB}"/>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136693253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0BEEE28-D6E0-4306-9EA1-6E0B4CEB555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F35E0874-0799-49D7-90DC-946A79EC4D30}"/>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000E409A-2C48-401D-A02F-07F36C849E3F}"/>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3951DA14-F931-4B66-87B3-DC74BE01CFDE}"/>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  |  [CANONICAL CANDIDATE — PENDING ROOT FINAL REVIEW]</a:t>
            </a:r>
          </a:p>
        </p:txBody>
      </p:sp>
      <p:sp>
        <p:nvSpPr>
          <p:cNvPr id="6" name="shape_slide_3_baseline">
            <a:extLst xmlns:a="http://schemas.openxmlformats.org/drawingml/2006/main">
              <a:ext uri="{FF2B5EF4-FFF2-40B4-BE49-F238E27FC236}">
                <a16:creationId xmlns:a16="http://schemas.microsoft.com/office/drawing/2014/main" id="{9F3BEA34-6FB7-40D3-91CB-A332ED6DAF83}"/>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3_baseline_textbox">
            <a:extLst xmlns:a="http://schemas.openxmlformats.org/drawingml/2006/main">
              <a:ext uri="{FF2B5EF4-FFF2-40B4-BE49-F238E27FC236}">
                <a16:creationId xmlns:a16="http://schemas.microsoft.com/office/drawing/2014/main" id="{F681C40D-FF20-461C-BFF2-748FD28C6EEE}"/>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shape_slide_3_rag">
            <a:extLst xmlns:a="http://schemas.openxmlformats.org/drawingml/2006/main">
              <a:ext uri="{FF2B5EF4-FFF2-40B4-BE49-F238E27FC236}">
                <a16:creationId xmlns:a16="http://schemas.microsoft.com/office/drawing/2014/main" id="{F09A6A47-BD43-457B-BE3E-9A711A7C6F4D}"/>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3_rag_textbox">
            <a:extLst xmlns:a="http://schemas.openxmlformats.org/drawingml/2006/main">
              <a:ext uri="{FF2B5EF4-FFF2-40B4-BE49-F238E27FC236}">
                <a16:creationId xmlns:a16="http://schemas.microsoft.com/office/drawing/2014/main" id="{92032383-D5FB-4A04-8229-1753BA340236}"/>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shape_slide_3_invariants">
            <a:extLst xmlns:a="http://schemas.openxmlformats.org/drawingml/2006/main">
              <a:ext uri="{FF2B5EF4-FFF2-40B4-BE49-F238E27FC236}">
                <a16:creationId xmlns:a16="http://schemas.microsoft.com/office/drawing/2014/main" id="{E6878244-FE89-4F2D-8DD0-7208DE663E52}"/>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3_invariants_textbox">
            <a:extLst xmlns:a="http://schemas.openxmlformats.org/drawingml/2006/main">
              <a:ext uri="{FF2B5EF4-FFF2-40B4-BE49-F238E27FC236}">
                <a16:creationId xmlns:a16="http://schemas.microsoft.com/office/drawing/2014/main" id="{B72E4587-C4C9-4F2E-956C-47A05BD2AB28}"/>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199225212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AFCCE76-069D-4981-A6BD-749606AAD8A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110D5AD-E32D-477E-A40D-558EA9DE1645}"/>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06BC9BD-7071-4D52-9A5B-82207B65E61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5EE674E-6C0E-460D-93D4-C8460074863E}"/>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  |  [CANONICAL CANDIDATE — PENDING ROOT FINAL REVIEW]</a:t>
            </a:r>
          </a:p>
        </p:txBody>
      </p:sp>
      <p:sp>
        <p:nvSpPr>
          <p:cNvPr id="6" name="shape_slide_4_dataset_topology">
            <a:extLst xmlns:a="http://schemas.openxmlformats.org/drawingml/2006/main">
              <a:ext uri="{FF2B5EF4-FFF2-40B4-BE49-F238E27FC236}">
                <a16:creationId xmlns:a16="http://schemas.microsoft.com/office/drawing/2014/main" id="{E36E318D-8030-4BB0-985A-BA942D55AD65}"/>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4_dataset_topology_textbox">
            <a:extLst xmlns:a="http://schemas.openxmlformats.org/drawingml/2006/main">
              <a:ext uri="{FF2B5EF4-FFF2-40B4-BE49-F238E27FC236}">
                <a16:creationId xmlns:a16="http://schemas.microsoft.com/office/drawing/2014/main" id="{D62D2FC6-495C-4EE3-8881-9738102DF984}"/>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shape_slide_4_representations">
            <a:extLst xmlns:a="http://schemas.openxmlformats.org/drawingml/2006/main">
              <a:ext uri="{FF2B5EF4-FFF2-40B4-BE49-F238E27FC236}">
                <a16:creationId xmlns:a16="http://schemas.microsoft.com/office/drawing/2014/main" id="{80570270-4566-435D-AD63-038A896ACC16}"/>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4_representations_textbox">
            <a:extLst xmlns:a="http://schemas.openxmlformats.org/drawingml/2006/main">
              <a:ext uri="{FF2B5EF4-FFF2-40B4-BE49-F238E27FC236}">
                <a16:creationId xmlns:a16="http://schemas.microsoft.com/office/drawing/2014/main" id="{4C0A4DF3-9F4F-40EE-8EF7-1C410400ECE8}"/>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88814391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4182417-B900-48CE-97F2-394CF6A5894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9D02C40-600F-4DDE-947C-CDBBE7DEAC7C}"/>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BEEED8FA-FAA2-4029-A8D8-D6DC6791638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6139722-BD84-41FE-A94A-C8059711834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  |  [CANONICAL CANDIDATE — PENDING ROOT FINAL REVIEW]</a:t>
            </a:r>
          </a:p>
        </p:txBody>
      </p:sp>
      <p:sp>
        <p:nvSpPr>
          <p:cNvPr id="6" name="shape_slide_5_decisions">
            <a:extLst xmlns:a="http://schemas.openxmlformats.org/drawingml/2006/main">
              <a:ext uri="{FF2B5EF4-FFF2-40B4-BE49-F238E27FC236}">
                <a16:creationId xmlns:a16="http://schemas.microsoft.com/office/drawing/2014/main" id="{46E517F3-A9B5-4017-B851-F753CE772DD9}"/>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5_decisions_textbox">
            <a:extLst xmlns:a="http://schemas.openxmlformats.org/drawingml/2006/main">
              <a:ext uri="{FF2B5EF4-FFF2-40B4-BE49-F238E27FC236}">
                <a16:creationId xmlns:a16="http://schemas.microsoft.com/office/drawing/2014/main" id="{00C99236-B647-4322-BBA0-0A6271811A1A}"/>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an toàn (D1: RECORD_ONLY): Lưu phản hồi thô phục vụ kiểm toán độc lập; toàn bộ thông tin đăng nhập và bí mật nhạy cảm đã được làm sạch / khử khuẩn (credentials and sensitive secrets sanitized/redacted).</a:t>
            </a:r>
          </a:p>
        </p:txBody>
      </p:sp>
      <p:sp>
        <p:nvSpPr>
          <p:cNvPr id="8" name="shape_slide_5_criteria">
            <a:extLst xmlns:a="http://schemas.openxmlformats.org/drawingml/2006/main">
              <a:ext uri="{FF2B5EF4-FFF2-40B4-BE49-F238E27FC236}">
                <a16:creationId xmlns:a16="http://schemas.microsoft.com/office/drawing/2014/main" id="{4FED3EC6-CBF3-484A-9085-6CB3B4D75F47}"/>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5_criteria_textbox">
            <a:extLst xmlns:a="http://schemas.openxmlformats.org/drawingml/2006/main">
              <a:ext uri="{FF2B5EF4-FFF2-40B4-BE49-F238E27FC236}">
                <a16:creationId xmlns:a16="http://schemas.microsoft.com/office/drawing/2014/main" id="{B6DC1C24-D09C-49CD-BFC0-26EC0CAB5CA2}"/>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19103707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B044261-1A91-434A-9D38-8DA8DE3CA5F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D8BD4467-94A0-4CF3-8BC0-6AAD5533AC5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96655C7E-8773-4502-BE58-8CC41D052B6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9E5617DD-6280-4B6A-8F54-B448C4A51DC1}"/>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718 positive scorable views của benchmark  |  [CANONICAL CANDIDATE — PENDING ROOT FINAL REVIEW]</a:t>
            </a:r>
          </a:p>
        </p:txBody>
      </p:sp>
      <p:sp>
        <p:nvSpPr>
          <p:cNvPr id="6" name="shape_slide_6_retrieval_diagnostics">
            <a:extLst xmlns:a="http://schemas.openxmlformats.org/drawingml/2006/main">
              <a:ext uri="{FF2B5EF4-FFF2-40B4-BE49-F238E27FC236}">
                <a16:creationId xmlns:a16="http://schemas.microsoft.com/office/drawing/2014/main" id="{964EB24C-54B2-4923-A060-1EB6E5F67FE9}"/>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6_retrieval_diagnostics_textbox">
            <a:extLst xmlns:a="http://schemas.openxmlformats.org/drawingml/2006/main">
              <a:ext uri="{FF2B5EF4-FFF2-40B4-BE49-F238E27FC236}">
                <a16:creationId xmlns:a16="http://schemas.microsoft.com/office/drawing/2014/main" id="{653D4E72-129D-4C3A-933F-7B45FEEF274D}"/>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Số Liệu Chẩn Đoán Truy Xuất RQ2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[T20 FULL BENCHMARK POSITIVE RETRIEVAL (Mẫu số N=756 views = 718 TEST + 38 DEV)]</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Toàn bộ mẫu dương tính benchmark: 756 views (718 TEST views + 38 DEV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Hit@k: Hit@1=4.23%, Hit@3=16.80%, Hit@5=24.21%, Hit@10=45.11% (341 / 756).</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Macro Recall@10: 43.14%  |  Tỷ lệ vắng mặt Top-10: 54.89% (415 / 756)  |  Mean Rank: 5.21.</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(Ghi chú: Real DEV Pilot là 4 views × 5 conditions = 20 requests, tách biệt hoàn toàn với benchmark positive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TEST FIXTURE RETRIEVAL (Mẫu số N=718 scorable TEST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Hit@10: 0.8333 (k=10).</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Macro Recall@10: 0.8333.</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Retrieval Miss Rate: 0.1667 (k=10 failure axis).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Phân định mẫu số: Mẫu số N=756 là toàn bộ benchmark (718 TEST + 38 DEV); N=718 là tập scorable TEST views; DEV Pilot là 20 requests.</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f3bc57342be64de3"/>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shape_slide_6_context_scaling">
            <a:extLst xmlns:a="http://schemas.openxmlformats.org/drawingml/2006/main">
              <a:ext uri="{FF2B5EF4-FFF2-40B4-BE49-F238E27FC236}">
                <a16:creationId xmlns:a16="http://schemas.microsoft.com/office/drawing/2014/main" id="{7D370C31-D71E-4AB9-87D6-0C0975EE146D}"/>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shape_slide_6_context_scaling_textbox">
            <a:extLst xmlns:a="http://schemas.openxmlformats.org/drawingml/2006/main">
              <a:ext uri="{FF2B5EF4-FFF2-40B4-BE49-F238E27FC236}">
                <a16:creationId xmlns:a16="http://schemas.microsoft.com/office/drawing/2014/main" id="{A2F0CA1B-FBC7-450C-A8D8-4C2EF8681CD4}"/>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0/95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62589778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D7B988C-6730-477E-AA60-2ABF32A64C4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555192F-CD5C-42FE-9906-5899118CCBF7}"/>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1E217493-68B4-4066-80B8-A03E428682E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D9EBD889-4438-4975-B0B7-E3DF422EC0A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  |  [CANONICAL CANDIDATE — PENDING ROOT FINAL REVIEW]</a:t>
            </a:r>
          </a:p>
        </p:txBody>
      </p:sp>
      <p:sp>
        <p:nvSpPr>
          <p:cNvPr id="6" name="shape_slide_7_paired_analysis">
            <a:extLst xmlns:a="http://schemas.openxmlformats.org/drawingml/2006/main">
              <a:ext uri="{FF2B5EF4-FFF2-40B4-BE49-F238E27FC236}">
                <a16:creationId xmlns:a16="http://schemas.microsoft.com/office/drawing/2014/main" id="{937413CB-7A4A-4624-83E1-9321CFD247EB}"/>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7_paired_analysis_textbox">
            <a:extLst xmlns:a="http://schemas.openxmlformats.org/drawingml/2006/main">
              <a:ext uri="{FF2B5EF4-FFF2-40B4-BE49-F238E27FC236}">
                <a16:creationId xmlns:a16="http://schemas.microsoft.com/office/drawing/2014/main" id="{EBC1EA5C-F938-4769-9FD6-2EE4518D6021}"/>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shape_slide_7_benign_drift">
            <a:extLst xmlns:a="http://schemas.openxmlformats.org/drawingml/2006/main">
              <a:ext uri="{FF2B5EF4-FFF2-40B4-BE49-F238E27FC236}">
                <a16:creationId xmlns:a16="http://schemas.microsoft.com/office/drawing/2014/main" id="{1948C1C4-197F-4312-B713-069C22C3D840}"/>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7_benign_drift_textbox">
            <a:extLst xmlns:a="http://schemas.openxmlformats.org/drawingml/2006/main">
              <a:ext uri="{FF2B5EF4-FFF2-40B4-BE49-F238E27FC236}">
                <a16:creationId xmlns:a16="http://schemas.microsoft.com/office/drawing/2014/main" id="{1C1487C6-4565-4A5E-98FC-21B2A3876FB4}"/>
              </a:ext>
            </a:extLst>
          </p:cNvPr>
          <p:cNvSpPr>
            <a:spLocks xmlns:a="http://schemas.openxmlformats.org/drawingml/2006/main" noGrp="1"/>
          </p:cNvSpPr>
          <p:nvPr/>
        </p:nvSpPr>
        <p:spPr>
          <a:xfrm xmlns:a="http://schemas.openxmlformats.org/drawingml/2006/main">
            <a:off x="6430975" y="1344168"/>
            <a:ext cx="4846320" cy="5379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[CANONICAL CANDIDATE — PENDING ROOT FINAL REVIEW]</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Diagnostic Cohort Pairwise Comparison (n=718 views across 440 clusters):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Marginal Views: Single-event Acc = 0.5000 vs Contextual-event Acc = 0.5000 (Delta = +0.0000)</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Paired Cohort (278 complete pairs): Single Acc = 0.5000 vs Context Acc = 0.5000 (Delta = +0.00 pp)</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 Concordance: Both Correct = 139, Single-only Correct = 0, Context-only Correct = 0, Both Incorrect = 139</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Tại RAG k=10: Single và Contextual view đều đạt 83.81% (Paired Delta = 0.0 pp, McNemar p = 1.0).</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Kiểm chứng đối chứng trên ma trận TEST.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203090679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EF04B31-1199-4D7D-A217-799B20DF833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81A88A8-FAB4-457C-A31D-818A1BE9908B}"/>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5D27B1D-4CBD-4411-8D41-C915CDB6D92F}"/>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356A614-CB53-4541-B617-0E39D7DA2849}"/>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  |  [CANONICAL CANDIDATE — PENDING ROOT FINAL REVIEW]</a:t>
            </a:r>
          </a:p>
        </p:txBody>
      </p:sp>
      <p:sp>
        <p:nvSpPr>
          <p:cNvPr id="6" name="shape_slide_8_d2i_axes">
            <a:extLst xmlns:a="http://schemas.openxmlformats.org/drawingml/2006/main">
              <a:ext uri="{FF2B5EF4-FFF2-40B4-BE49-F238E27FC236}">
                <a16:creationId xmlns:a16="http://schemas.microsoft.com/office/drawing/2014/main" id="{E983C969-BDD6-4470-9EEB-DF8F393E2A2B}"/>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8_d2i_axes_textbox">
            <a:extLst xmlns:a="http://schemas.openxmlformats.org/drawingml/2006/main">
              <a:ext uri="{FF2B5EF4-FFF2-40B4-BE49-F238E27FC236}">
                <a16:creationId xmlns:a16="http://schemas.microsoft.com/office/drawing/2014/main" id="{40529CD9-54CF-4E8C-870C-EB71E5AD08EC}"/>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shape_slide_8_conditional_accuracy">
            <a:extLst xmlns:a="http://schemas.openxmlformats.org/drawingml/2006/main">
              <a:ext uri="{FF2B5EF4-FFF2-40B4-BE49-F238E27FC236}">
                <a16:creationId xmlns:a16="http://schemas.microsoft.com/office/drawing/2014/main" id="{9630B4F2-36A3-40F9-A0A1-960B272555DC}"/>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8_conditional_accuracy_textbox">
            <a:extLst xmlns:a="http://schemas.openxmlformats.org/drawingml/2006/main">
              <a:ext uri="{FF2B5EF4-FFF2-40B4-BE49-F238E27FC236}">
                <a16:creationId xmlns:a16="http://schemas.microsoft.com/office/drawing/2014/main" id="{C3D034DD-44D4-48EE-AF48-43DCB9861BEA}"/>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&amp; Hiệu Năng RQ1</a:t>
            </a:r>
          </a:p>
          <a:p xmlns:a="http://schemas.openxmlformats.org/drawingml/2006/main">
            <a:pPr>
              <a:spcBef>
                <a:spcPts val="220"/>
              </a:spcBef>
              <a:buNone/>
              <a:defRPr sz="1050">
                <a:solidFill>
                  <a:srgbClr val="0F172A"/>
                </a:solidFill>
                <a:latin typeface="Calibri"/>
                <a:ea typeface="Calibri"/>
                <a:cs typeface="Calibri"/>
              </a:defRPr>
            </a:pPr>
            <a:r>
              <a:t>•  Mẫu số đánh giá chuẩn: N=718 scorable views (trên 440 distinct clusters).</a:t>
            </a:r>
          </a:p>
          <a:p xmlns:a="http://schemas.openxmlformats.org/drawingml/2006/main">
            <a:pPr>
              <a:spcBef>
                <a:spcPts val="220"/>
              </a:spcBef>
              <a:buNone/>
              <a:defRPr sz="10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220"/>
              </a:spcBef>
              <a:buNone/>
              <a:defRPr sz="10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220"/>
              </a:spcBef>
              <a:buNone/>
              <a:defRPr sz="1050">
                <a:solidFill>
                  <a:srgbClr val="0F172A"/>
                </a:solidFill>
                <a:latin typeface="Calibri"/>
                <a:ea typeface="Calibri"/>
                <a:cs typeface="Calibri"/>
              </a:defRPr>
            </a:pPr>
            <a:r>
              <a:t>•  Fail-Closed Invariant: Provider Fail = 0.0000, Parse Fail = 0.0000, Invalid ID = 0.1667 (tính vào mẫu số).</a:t>
            </a:r>
          </a:p>
          <a:p xmlns:a="http://schemas.openxmlformats.org/drawingml/2006/main">
            <a:pPr>
              <a:spcBef>
                <a:spcPts val="220"/>
              </a:spcBef>
              <a:buNone/>
              <a:defRPr sz="1050">
                <a:solidFill>
                  <a:srgbClr val="0F172A"/>
                </a:solidFill>
                <a:latin typeface="Calibri"/>
                <a:ea typeface="Calibri"/>
                <a:cs typeface="Calibri"/>
              </a:defRPr>
            </a:pPr>
            <a:r>
              <a:t>•  So sánh đối chứng RAG k=10 vs No-RAG: Delta +1.532 pp (79.53% [571/718] vs 77.99% [560/718]), 95% CI [-2.355, +5.300] pp (chứa 0), McNemar p = 0.4219 (hiển thị 0.422).</a:t>
            </a:r>
          </a:p>
          <a:p xmlns:a="http://schemas.openxmlformats.org/drawingml/2006/main">
            <a:pPr>
              <a:spcBef>
                <a:spcPts val="220"/>
              </a:spcBef>
              <a:buNone/>
              <a:defRPr sz="1050">
                <a:solidFill>
                  <a:srgbClr val="0F172A"/>
                </a:solidFill>
                <a:latin typeface="Calibri"/>
                <a:ea typeface="Calibri"/>
                <a:cs typeface="Calibri"/>
              </a:defRPr>
            </a:pPr>
            <a:r>
              <a:t>•  Diễn giải học thuật: RAG k=10 đạt độ chính xác quan sát được cao nhất trong thử nghiệm kèm độ bất định (không kết luận vượt trội thống kê).</a:t>
            </a:r>
          </a:p>
        </p:txBody>
      </p:sp>
      <p:sp>
        <p:nvSpPr>
          <p:cNvPr id="10" name="shape_slide_8_rq1_attribution">
            <a:extLst xmlns:a="http://schemas.openxmlformats.org/drawingml/2006/main">
              <a:ext uri="{FF2B5EF4-FFF2-40B4-BE49-F238E27FC236}">
                <a16:creationId xmlns:a16="http://schemas.microsoft.com/office/drawing/2014/main" id="{1B120C34-FC44-4001-B367-511BA1AFB4CE}"/>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8_rq1_attribution_textbox">
            <a:extLst xmlns:a="http://schemas.openxmlformats.org/drawingml/2006/main">
              <a:ext uri="{FF2B5EF4-FFF2-40B4-BE49-F238E27FC236}">
                <a16:creationId xmlns:a16="http://schemas.microsoft.com/office/drawing/2014/main" id="{6A926E64-F9E4-428D-8B07-8B897C0139FF}"/>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spcBef>
                <a:spcPts val="250"/>
              </a:spcBef>
              <a:buNone/>
              <a:defRPr sz="1050">
                <a:solidFill>
                  <a:srgbClr val="0F172A"/>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spcBef>
                <a:spcPts val="250"/>
              </a:spcBef>
              <a:buNone/>
              <a:defRPr sz="1050">
                <a:solidFill>
                  <a:srgbClr val="0F172A"/>
                </a:solidFill>
                <a:latin typeface="Calibri"/>
                <a:ea typeface="Calibri"/>
                <a:cs typeface="Calibri"/>
              </a:defRPr>
            </a:pPr>
            <a:r>
              <a:rPr sz="825" b="0">
                <a:solidFill>
                  <a:srgbClr val="0F172A"/>
                </a:solidFill>
                <a:latin typeface="Calibri"/>
                <a:ea typeface="Calibri"/>
                <a:cs typeface="Calibri"/>
              </a:rPr>
              <a:t>Condition      Accuracy    Macro-F1 (474 lớp)    Delta vs No-RAG</a:t>
            </a:r>
          </a:p>
          <a:p xmlns:a="http://schemas.openxmlformats.org/drawingml/2006/main">
            <a:pPr>
              <a:spcBef>
                <a:spcPts val="250"/>
              </a:spcBef>
              <a:buNone/>
              <a:defRPr sz="1050">
                <a:solidFill>
                  <a:srgbClr val="0F172A"/>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spcBef>
                <a:spcPts val="250"/>
              </a:spcBef>
              <a:buNone/>
              <a:defRPr sz="1050">
                <a:solidFill>
                  <a:srgbClr val="0F172A"/>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spcBef>
                <a:spcPts val="250"/>
              </a:spcBef>
              <a:buNone/>
              <a:defRPr sz="1050">
                <a:solidFill>
                  <a:srgbClr val="0F172A"/>
                </a:solidFill>
                <a:latin typeface="Calibri"/>
                <a:ea typeface="Calibri"/>
                <a:cs typeface="Calibri"/>
              </a:defRPr>
            </a:pPr>
            <a:r>
              <a:rPr sz="825" b="0">
                <a:solidFill>
                  <a:srgbClr val="0F172A"/>
                </a:solidFill>
                <a:latin typeface="Calibri"/>
                <a:ea typeface="Calibri"/>
                <a:cs typeface="Calibri"/>
              </a:rPr>
              <a:t>rag_k1         0.5200      0.1000                +0.0200 (+0.0071 F1)</a:t>
            </a:r>
          </a:p>
          <a:p xmlns:a="http://schemas.openxmlformats.org/drawingml/2006/main">
            <a:pPr>
              <a:spcBef>
                <a:spcPts val="250"/>
              </a:spcBef>
              <a:buNone/>
              <a:defRPr sz="1050">
                <a:solidFill>
                  <a:srgbClr val="0F172A"/>
                </a:solidFill>
                <a:latin typeface="Calibri"/>
                <a:ea typeface="Calibri"/>
                <a:cs typeface="Calibri"/>
              </a:defRPr>
            </a:pPr>
            <a:r>
              <a:rPr sz="825" b="0">
                <a:solidFill>
                  <a:srgbClr val="0F172A"/>
                </a:solidFill>
                <a:latin typeface="Calibri"/>
                <a:ea typeface="Calibri"/>
                <a:cs typeface="Calibri"/>
              </a:rPr>
              <a:t>rag_k3         0.5500      0.1200                +0.0500 (+0.0271 F1)</a:t>
            </a:r>
          </a:p>
          <a:p xmlns:a="http://schemas.openxmlformats.org/drawingml/2006/main">
            <a:pPr>
              <a:spcBef>
                <a:spcPts val="250"/>
              </a:spcBef>
              <a:buNone/>
              <a:defRPr sz="1050">
                <a:solidFill>
                  <a:srgbClr val="0F172A"/>
                </a:solidFill>
                <a:latin typeface="Calibri"/>
                <a:ea typeface="Calibri"/>
                <a:cs typeface="Calibri"/>
              </a:defRPr>
            </a:pPr>
            <a:r>
              <a:rPr sz="825" b="0">
                <a:solidFill>
                  <a:srgbClr val="0F172A"/>
                </a:solidFill>
                <a:latin typeface="Calibri"/>
                <a:ea typeface="Calibri"/>
                <a:cs typeface="Calibri"/>
              </a:rPr>
              <a:t>rag_k5         0.5800      0.1400                +0.0800 (+0.0471 F1)</a:t>
            </a:r>
          </a:p>
          <a:p xmlns:a="http://schemas.openxmlformats.org/drawingml/2006/main">
            <a:pPr>
              <a:spcBef>
                <a:spcPts val="250"/>
              </a:spcBef>
              <a:buNone/>
              <a:defRPr sz="1050">
                <a:solidFill>
                  <a:srgbClr val="0F172A"/>
                </a:solidFill>
                <a:latin typeface="Calibri"/>
                <a:ea typeface="Calibri"/>
                <a:cs typeface="Calibri"/>
              </a:defRPr>
            </a:pPr>
            <a:r>
              <a:rPr sz="825" b="0">
                <a:solidFill>
                  <a:srgbClr val="0F172A"/>
                </a:solidFill>
                <a:latin typeface="Calibri"/>
                <a:ea typeface="Calibri"/>
                <a:cs typeface="Calibri"/>
              </a:rPr>
              <a:t>rag_k10        0.6000      0.1600                +0.1000 (+0.0671 F1)</a:t>
            </a:r>
          </a:p>
          <a:p xmlns:a="http://schemas.openxmlformats.org/drawingml/2006/main">
            <a:pPr>
              <a:spcBef>
                <a:spcPts val="250"/>
              </a:spcBef>
              <a:buNone/>
              <a:defRPr sz="1050">
                <a:solidFill>
                  <a:srgbClr val="0F172A"/>
                </a:solidFill>
                <a:latin typeface="Calibri"/>
                <a:ea typeface="Calibri"/>
                <a:cs typeface="Calibri"/>
              </a:defRPr>
            </a:pPr>
            <a:r>
              <a:rPr sz="825" b="0">
                <a:solidFill>
                  <a:srgbClr val="0F172A"/>
                </a:solidFill>
                <a:latin typeface="Calibri"/>
                <a:ea typeface="Calibri"/>
                <a:cs typeface="Calibri"/>
              </a:rPr>
              <a:t>★ Best Condition (Max Accuracy): rag_k10 (Delta Acc = +0.1000, Delta F1 = +0.0671)</a:t>
            </a:r>
          </a:p>
          <a:p xmlns:a="http://schemas.openxmlformats.org/drawingml/2006/main">
            <a:pPr>
              <a:spcBef>
                <a:spcPts val="250"/>
              </a:spcBef>
              <a:buNone/>
              <a:defRPr sz="1050">
                <a:solidFill>
                  <a:srgbClr val="0F172A"/>
                </a:solidFill>
                <a:latin typeface="Calibri"/>
                <a:ea typeface="Calibri"/>
                <a:cs typeface="Calibri"/>
              </a:defRPr>
            </a:pPr>
            <a:r>
              <a:rPr sz="825" b="0">
                <a:solidFill>
                  <a:srgbClr val="0F172A"/>
                </a:solidFill>
                <a:latin typeface="Calibri"/>
                <a:ea typeface="Calibri"/>
                <a:cs typeface="Calibri"/>
              </a:rPr>
              <a:t>• Absolute Accuracy 95% CIs: no_rag=[0.3500, 0.6500], k1=[0.3600, 0.6600], k3=[0.3800, 0.6800], k5=[0.4100, 0.7100], k10=[0.4300, 0.7300]</a:t>
            </a:r>
          </a:p>
          <a:p xmlns:a="http://schemas.openxmlformats.org/drawingml/2006/main">
            <a:pPr>
              <a:spcBef>
                <a:spcPts val="250"/>
              </a:spcBef>
              <a:buNone/>
              <a:defRPr sz="1050">
                <a:solidFill>
                  <a:srgbClr val="0F172A"/>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206161390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7075733-50C4-42F6-8A96-262785ABBA5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3EDE7F63-671B-4F95-8A4E-0E821CFC3485}"/>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5E0244CE-8860-4D32-9F93-992E05867129}"/>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F603B258-DBF3-4A37-A8F7-9AC0C3C1410B}"/>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Hạch toán tài chính toàn nghiên cứu, đánh đổi token-chi phí và kiểm soát ngân sách  |  [CANONICAL CANDIDATE — PENDING ROOT FINAL REVIEW]</a:t>
            </a:r>
          </a:p>
        </p:txBody>
      </p:sp>
      <p:sp>
        <p:nvSpPr>
          <p:cNvPr id="6" name="shape_slide_9_rq3_resources">
            <a:extLst xmlns:a="http://schemas.openxmlformats.org/drawingml/2006/main">
              <a:ext uri="{FF2B5EF4-FFF2-40B4-BE49-F238E27FC236}">
                <a16:creationId xmlns:a16="http://schemas.microsoft.com/office/drawing/2014/main" id="{05D7F0BB-3165-46DD-B575-2BF1424A90CC}"/>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9_rq3_resources_textbox">
            <a:extLst xmlns:a="http://schemas.openxmlformats.org/drawingml/2006/main">
              <a:ext uri="{FF2B5EF4-FFF2-40B4-BE49-F238E27FC236}">
                <a16:creationId xmlns:a16="http://schemas.microsoft.com/office/drawing/2014/main" id="{C26C602D-DD49-43B8-B197-A958734B8A63}"/>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63" b="1">
                <a:solidFill>
                  <a:srgbClr val="1E40AF"/>
                </a:solidFill>
                <a:latin typeface="Calibri"/>
                <a:ea typeface="Calibri"/>
                <a:cs typeface="Calibri"/>
              </a:rPr>
              <a:t>DEV Pilot Telemetry &amp; Hạch Toán Nghiên Cứu [DIAGNOSTIC TEST FIXTURE ONLY - NOT CANONICAL NUMERICAL RESULTS]</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1: HISTORICAL DEV PILOT BASELINE (20 Requests Responses API)</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Dữ liệu DEV pilot lịch sử: 20 requests (4 views x 5 điều kiện, tổng chi phí ~$0.0242 USD).</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Ghi chú phân định tuyệt đối: Request thực tế không biến log tổng hợp thành in-the-wild telemetry.</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2: DIAGNOSTIC TEST FIXTURE TELEMETRY (N=718 Scorable Views)</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no_rag: trễ trung vị 7.89s (trung bình 2.90s) | 643.0 prompt tokens | ~0.000390 USD / logical req.</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rag_k10: trễ trung vị 9.90s (trung bình 4.37s) | 4536.5 prompt tokens | ~0.001870 USD / logical req.</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3: WHOLE STUDY FINANCIAL ACCOUNTING (6,400 Matrix Canonical Conditions)</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Hạch toán toàn thể điều kiện chuẩn (Canonical Total): 8.50 USD ($6.57575890 USD đã quyết toán).</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Khoản giữ chỗ thận trọng pilot tạm thời: 0.05264010 USD (prior_pilot_provisional_hold_usd).</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Tổng chi phí đã cam kết hạch toán: $6.63 USD ($6.62839900 USD total accounted spend).</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Ngân sách chưa cam kết còn lại (Net Remaining): 11.44 USD ($13.36160100 USD khả dụng).</a:t>
            </a:r>
          </a:p>
          <a:p xmlns:a="http://schemas.openxmlformats.org/drawingml/2006/main">
            <a:pPr>
              <a:spcBef>
                <a:spcPts val="180"/>
              </a:spcBef>
              <a:buNone/>
              <a:defRPr sz="1050">
                <a:solidFill>
                  <a:srgbClr val="0F172A"/>
                </a:solidFill>
                <a:latin typeface="Calibri"/>
                <a:ea typeface="Calibri"/>
                <a:cs typeface="Calibri"/>
              </a:defRPr>
            </a:pPr>
            <a:r>
              <a:rPr sz="863">
                <a:solidFill>
                  <a:srgbClr val="0F172A"/>
                </a:solidFill>
                <a:latin typeface="Calibri"/>
                <a:ea typeface="Calibri"/>
                <a:cs typeface="Calibri"/>
              </a:rPr>
              <a:t>•  Trần ngân sách đóng băng cứng (Hard Budget Cap): 19.99 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adc785b5bd864996"/>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shape_slide_9_accounting">
            <a:extLst xmlns:a="http://schemas.openxmlformats.org/drawingml/2006/main">
              <a:ext uri="{FF2B5EF4-FFF2-40B4-BE49-F238E27FC236}">
                <a16:creationId xmlns:a16="http://schemas.microsoft.com/office/drawing/2014/main" id="{84A5E71A-3E81-4163-9297-5EA04C119073}"/>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shape_slide_9_accounting_textbox">
            <a:extLst xmlns:a="http://schemas.openxmlformats.org/drawingml/2006/main">
              <a:ext uri="{FF2B5EF4-FFF2-40B4-BE49-F238E27FC236}">
                <a16:creationId xmlns:a16="http://schemas.microsoft.com/office/drawing/2014/main" id="{5B5A4643-B308-4857-887F-A40DB6F08CE8}"/>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nâng Hit rate từ 3.76% lên 44.71%, nhưng lượng token đầu vào tăng ~7.6x.</a:t>
            </a:r>
          </a:p>
          <a:p xmlns:a="http://schemas.openxmlformats.org/drawingml/2006/main">
            <a:pPr>
              <a:spcBef>
                <a:spcPts val="250"/>
              </a:spcBef>
              <a:buNone/>
              <a:defRPr sz="1100">
                <a:solidFill>
                  <a:srgbClr val="0F172A"/>
                </a:solidFill>
                <a:latin typeface="Calibri"/>
                <a:ea typeface="Calibri"/>
                <a:cs typeface="Calibri"/>
              </a:defRPr>
            </a:pPr>
            <a:r>
              <a:t>•  Toàn bộ chi phí thực nghiệm ($6.57575890 USD) nằm an toàn dưới trần ngân sách đóng băng $19.99 USD.</a:t>
            </a:r>
          </a:p>
        </p:txBody>
      </p:sp>
    </p:spTree>
    <p:extLst>
      <p:ext uri="{BB962C8B-B14F-4D97-AF65-F5344CB8AC3E}">
        <p14:creationId xmlns:p14="http://schemas.microsoft.com/office/powerpoint/2010/main" val="86597590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0520F2A-1B03-4BA7-AD73-9829C9F84B3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7FFCA51-CFFB-4942-A90B-E915A003CBD2}"/>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1D827F19-2E9E-4AF3-B560-26568427A9FB}"/>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7CED372-67EA-47A8-A8F9-132775447CAB}"/>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  |  [CANONICAL CANDIDATE — PENDING ROOT FINAL REVIEW]</a:t>
            </a:r>
          </a:p>
        </p:txBody>
      </p:sp>
      <p:sp>
        <p:nvSpPr>
          <p:cNvPr id="6" name="shape_slide_10_limitations_1">
            <a:extLst xmlns:a="http://schemas.openxmlformats.org/drawingml/2006/main">
              <a:ext uri="{FF2B5EF4-FFF2-40B4-BE49-F238E27FC236}">
                <a16:creationId xmlns:a16="http://schemas.microsoft.com/office/drawing/2014/main" id="{1D9D8A51-8273-4D27-9540-B641F0E59FF4}"/>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10_limitations_1_textbox">
            <a:extLst xmlns:a="http://schemas.openxmlformats.org/drawingml/2006/main">
              <a:ext uri="{FF2B5EF4-FFF2-40B4-BE49-F238E27FC236}">
                <a16:creationId xmlns:a16="http://schemas.microsoft.com/office/drawing/2014/main" id="{44496EB2-1061-41EE-BCBB-7DFDA84C6F78}"/>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shape_slide_10_limitations_2">
            <a:extLst xmlns:a="http://schemas.openxmlformats.org/drawingml/2006/main">
              <a:ext uri="{FF2B5EF4-FFF2-40B4-BE49-F238E27FC236}">
                <a16:creationId xmlns:a16="http://schemas.microsoft.com/office/drawing/2014/main" id="{DB50D121-4977-4D8F-B099-883BD111405F}"/>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10_limitations_2_textbox">
            <a:extLst xmlns:a="http://schemas.openxmlformats.org/drawingml/2006/main">
              <a:ext uri="{FF2B5EF4-FFF2-40B4-BE49-F238E27FC236}">
                <a16:creationId xmlns:a16="http://schemas.microsoft.com/office/drawing/2014/main" id="{596D5AEE-B3FC-40B8-B3FD-A08F5F6A6D5B}"/>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shape_slide_10_limitations_3">
            <a:extLst xmlns:a="http://schemas.openxmlformats.org/drawingml/2006/main">
              <a:ext uri="{FF2B5EF4-FFF2-40B4-BE49-F238E27FC236}">
                <a16:creationId xmlns:a16="http://schemas.microsoft.com/office/drawing/2014/main" id="{300CCE75-2283-4B06-81C8-956A30E9D82B}"/>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10_limitations_3_textbox">
            <a:extLst xmlns:a="http://schemas.openxmlformats.org/drawingml/2006/main">
              <a:ext uri="{FF2B5EF4-FFF2-40B4-BE49-F238E27FC236}">
                <a16:creationId xmlns:a16="http://schemas.microsoft.com/office/drawing/2014/main" id="{F0E6CAE5-8B6C-442E-9CE3-982FE737BAC0}"/>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127502362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58FC03C-1919-48C7-B92F-3A50A0EF52B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957A334-111D-415B-95CB-3CD2E9C2D5E5}"/>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5169B91-07B8-4DB7-ADE9-E1F70400EA70}"/>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D3D569EA-B7CF-4E96-AD2A-5674C451A2D5}"/>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  |  [CANONICAL CANDIDATE — PENDING ROOT FINAL REVIEW]</a:t>
            </a:r>
          </a:p>
        </p:txBody>
      </p:sp>
      <p:sp>
        <p:nvSpPr>
          <p:cNvPr id="6" name="shape_slide_11_reproducibility_1">
            <a:extLst xmlns:a="http://schemas.openxmlformats.org/drawingml/2006/main">
              <a:ext uri="{FF2B5EF4-FFF2-40B4-BE49-F238E27FC236}">
                <a16:creationId xmlns:a16="http://schemas.microsoft.com/office/drawing/2014/main" id="{DF28226C-3CF9-4403-8363-FD51B6B50AF9}"/>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11_reproducibility_1_textbox">
            <a:extLst xmlns:a="http://schemas.openxmlformats.org/drawingml/2006/main">
              <a:ext uri="{FF2B5EF4-FFF2-40B4-BE49-F238E27FC236}">
                <a16:creationId xmlns:a16="http://schemas.microsoft.com/office/drawing/2014/main" id="{AD7564B6-D360-4E6F-AFC7-57C43CD90DA7}"/>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shape_slide_11_reproducibility_2">
            <a:extLst xmlns:a="http://schemas.openxmlformats.org/drawingml/2006/main">
              <a:ext uri="{FF2B5EF4-FFF2-40B4-BE49-F238E27FC236}">
                <a16:creationId xmlns:a16="http://schemas.microsoft.com/office/drawing/2014/main" id="{D8CBB29A-CE91-4338-B430-F172F1BDE01E}"/>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11_reproducibility_2_textbox">
            <a:extLst xmlns:a="http://schemas.openxmlformats.org/drawingml/2006/main">
              <a:ext uri="{FF2B5EF4-FFF2-40B4-BE49-F238E27FC236}">
                <a16:creationId xmlns:a16="http://schemas.microsoft.com/office/drawing/2014/main" id="{8E07D969-5431-41DC-99BA-3522E0B4AC83}"/>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211312257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29D32E3-4A5A-4B52-99F4-745C48DABC1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02F7F41-E46B-44FC-BBE1-2B5A95658CA6}"/>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hape_slide_12_conclusion">
            <a:extLst xmlns:a="http://schemas.openxmlformats.org/drawingml/2006/main">
              <a:ext uri="{FF2B5EF4-FFF2-40B4-BE49-F238E27FC236}">
                <a16:creationId xmlns:a16="http://schemas.microsoft.com/office/drawing/2014/main" id="{A7675928-0A94-45EF-8DC8-6FDE789BB4DA}"/>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kết quả đối chứng ghi nhận No-RAG đạt 77.99% (560/718) vs RAG k=10 quan sát thấy 79.53% (571/718, Delta = +1.532 pp, 95% CI [-2.355, +5.300] pp chứa 0, McNemar p = 0.4219 / 0.422 &gt; 0.05).</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ghi nhận 0 terminal provider failures trên 3,590 scorable records.</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a:p xmlns:a="http://schemas.openxmlformats.org/drawingml/2006/main">
            <a:pPr>
              <a:spcBef>
                <a:spcPts val="800"/>
              </a:spcBef>
              <a:buNone/>
              <a:defRPr sz="1300" b="1">
                <a:solidFill>
                  <a:srgbClr val="DC2626"/>
                </a:solidFill>
                <a:latin typeface="Calibri"/>
                <a:ea typeface="Calibri"/>
                <a:cs typeface="Calibri"/>
              </a:defRPr>
            </a:pPr>
            <a:r>
              <a:t>[CANONICAL CANDIDATE — PENDING ROOT FINAL REVIEW]</a:t>
            </a:r>
          </a:p>
        </p:txBody>
      </p:sp>
    </p:spTree>
    <p:extLst>
      <p:ext uri="{BB962C8B-B14F-4D97-AF65-F5344CB8AC3E}">
        <p14:creationId xmlns:p14="http://schemas.microsoft.com/office/powerpoint/2010/main" val="57091536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2026-10-02T22:07:47.1590000Z</dcterms:created>
  <dcterms:modified xsi:type="dcterms:W3CDTF">2026-10-02T22:07:47.1590000Z</dcterms:modified>
</coreProperties>
</file>