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ec0596f32eb4d50" /><Relationship Type="http://schemas.openxmlformats.org/officeDocument/2006/relationships/extended-properties" Target="/docProps/app.xml" Id="Re0666cfafa294f47" /><Relationship Type="http://schemas.openxmlformats.org/officeDocument/2006/relationships/officeDocument" Target="/ppt/presentation.xml" Id="R418f8306c4ea4185" /></Relationships>
</file>

<file path=ppt/presentation.xml><?xml version="1.0" encoding="utf-8"?>
<p:presentation xmlns:p="http://schemas.openxmlformats.org/presentationml/2006/main">
  <p:sldMasterIdLst>
    <p:sldMasterId xmlns:r="http://schemas.openxmlformats.org/officeDocument/2006/relationships" id="2147483648" r:id="Rebefc75836174f1a"/>
  </p:sldMasterIdLst>
  <p:notesMasterIdLst>
    <p:notesMasterId xmlns:r="http://schemas.openxmlformats.org/officeDocument/2006/relationships" r:id="Ra1d2833b2cc4409a"/>
  </p:notesMasterIdLst>
  <p:sldIdLst>
    <p:sldId xmlns:r="http://schemas.openxmlformats.org/officeDocument/2006/relationships" id="256" r:id="R3f5a8671a3d8424d"/>
    <p:sldId xmlns:r="http://schemas.openxmlformats.org/officeDocument/2006/relationships" id="257" r:id="Rf70e6d0425594080"/>
    <p:sldId xmlns:r="http://schemas.openxmlformats.org/officeDocument/2006/relationships" id="258" r:id="R7d16815bfa3545b5"/>
    <p:sldId xmlns:r="http://schemas.openxmlformats.org/officeDocument/2006/relationships" id="259" r:id="R0b8ee83ebe4b4a4e"/>
    <p:sldId xmlns:r="http://schemas.openxmlformats.org/officeDocument/2006/relationships" id="260" r:id="R7a537e5bcc794282"/>
    <p:sldId xmlns:r="http://schemas.openxmlformats.org/officeDocument/2006/relationships" id="261" r:id="R1e7201fcbfb14516"/>
    <p:sldId xmlns:r="http://schemas.openxmlformats.org/officeDocument/2006/relationships" id="262" r:id="Rfdc486169bf54441"/>
    <p:sldId xmlns:r="http://schemas.openxmlformats.org/officeDocument/2006/relationships" id="263" r:id="R8d1937e3c6b145f3"/>
    <p:sldId xmlns:r="http://schemas.openxmlformats.org/officeDocument/2006/relationships" id="264" r:id="R839f58f7306d4df3"/>
    <p:sldId xmlns:r="http://schemas.openxmlformats.org/officeDocument/2006/relationships" id="265" r:id="R4d0eb1bed2d3486e"/>
    <p:sldId xmlns:r="http://schemas.openxmlformats.org/officeDocument/2006/relationships" id="266" r:id="Rb89fdf37a91e47e4"/>
    <p:sldId xmlns:r="http://schemas.openxmlformats.org/officeDocument/2006/relationships" id="267" r:id="Rd51a58807c1f4791"/>
  </p:sldIdLst>
  <p:sldSz cx="12191695"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9bf56e451f6f47ca" /><Relationship Type="http://schemas.openxmlformats.org/officeDocument/2006/relationships/slideMaster" Target="/ppt/slideMasters/slideMaster1.xml" Id="Rebefc75836174f1a" /><Relationship Type="http://schemas.openxmlformats.org/officeDocument/2006/relationships/notesMaster" Target="/ppt/notesMasters/notesMaster1.xml" Id="Ra1d2833b2cc4409a" /><Relationship Type="http://schemas.openxmlformats.org/officeDocument/2006/relationships/presProps" Target="/ppt/presProps.xml" Id="Re16d58c149b54b43" /><Relationship Type="http://schemas.openxmlformats.org/officeDocument/2006/relationships/viewProps" Target="/ppt/viewProps.xml" Id="R055769b1aedd4da8" /><Relationship Type="http://schemas.openxmlformats.org/officeDocument/2006/relationships/tableStyles" Target="/ppt/tableStyles.xml" Id="R3d13fafc4af84f44" /><Relationship Type="http://schemas.openxmlformats.org/officeDocument/2006/relationships/slide" Target="/ppt/slides/slide1.xml" Id="R3f5a8671a3d8424d" /><Relationship Type="http://schemas.openxmlformats.org/officeDocument/2006/relationships/slide" Target="/ppt/slides/slide2.xml" Id="Rf70e6d0425594080" /><Relationship Type="http://schemas.openxmlformats.org/officeDocument/2006/relationships/slide" Target="/ppt/slides/slide3.xml" Id="R7d16815bfa3545b5" /><Relationship Type="http://schemas.openxmlformats.org/officeDocument/2006/relationships/slide" Target="/ppt/slides/slide4.xml" Id="R0b8ee83ebe4b4a4e" /><Relationship Type="http://schemas.openxmlformats.org/officeDocument/2006/relationships/slide" Target="/ppt/slides/slide5.xml" Id="R7a537e5bcc794282" /><Relationship Type="http://schemas.openxmlformats.org/officeDocument/2006/relationships/slide" Target="/ppt/slides/slide6.xml" Id="R1e7201fcbfb14516" /><Relationship Type="http://schemas.openxmlformats.org/officeDocument/2006/relationships/slide" Target="/ppt/slides/slide7.xml" Id="Rfdc486169bf54441" /><Relationship Type="http://schemas.openxmlformats.org/officeDocument/2006/relationships/slide" Target="/ppt/slides/slide8.xml" Id="R8d1937e3c6b145f3" /><Relationship Type="http://schemas.openxmlformats.org/officeDocument/2006/relationships/slide" Target="/ppt/slides/slide9.xml" Id="R839f58f7306d4df3" /><Relationship Type="http://schemas.openxmlformats.org/officeDocument/2006/relationships/slide" Target="/ppt/slides/slide10.xml" Id="R4d0eb1bed2d3486e" /><Relationship Type="http://schemas.openxmlformats.org/officeDocument/2006/relationships/slide" Target="/ppt/slides/slide11.xml" Id="Rb89fdf37a91e47e4" /><Relationship Type="http://schemas.openxmlformats.org/officeDocument/2006/relationships/slide" Target="/ppt/slides/slide12.xml" Id="Rd51a58807c1f479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a9a575c9cae479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aab4c4ac68848a0" /><Relationship Type="http://schemas.openxmlformats.org/officeDocument/2006/relationships/notesMaster" Target="/ppt/notesMasters/notesMaster1.xml" Id="R3b73fe6dd35d411d" /></Relationships>
</file>

<file path=ppt/notesSlides/_rels/notesSlide2.xml.rels>&#65279;<?xml version="1.0" encoding="utf-8"?><Relationships xmlns="http://schemas.openxmlformats.org/package/2006/relationships"><Relationship Type="http://schemas.openxmlformats.org/officeDocument/2006/relationships/slide" Target="/ppt/slides/slide2.xml" Id="R37e682dad0b1403e" /><Relationship Type="http://schemas.openxmlformats.org/officeDocument/2006/relationships/notesMaster" Target="/ppt/notesMasters/notesMaster1.xml" Id="Rb1a82857b6244b37" /></Relationships>
</file>

<file path=ppt/notesSlides/_rels/notesSlide3.xml.rels>&#65279;<?xml version="1.0" encoding="utf-8"?><Relationships xmlns="http://schemas.openxmlformats.org/package/2006/relationships"><Relationship Type="http://schemas.openxmlformats.org/officeDocument/2006/relationships/slide" Target="/ppt/slides/slide3.xml" Id="Redaa5855edb64f9e" /><Relationship Type="http://schemas.openxmlformats.org/officeDocument/2006/relationships/notesMaster" Target="/ppt/notesMasters/notesMaster1.xml" Id="R52a07493fa904f74"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289e78d5b046a9" /><Relationship Type="http://schemas.openxmlformats.org/officeDocument/2006/relationships/notesMaster" Target="/ppt/notesMasters/notesMaster1.xml" Id="R714a3f3f9da5423d" /></Relationships>
</file>

<file path=ppt/notesSlides/_rels/notesSlide5.xml.rels>&#65279;<?xml version="1.0" encoding="utf-8"?><Relationships xmlns="http://schemas.openxmlformats.org/package/2006/relationships"><Relationship Type="http://schemas.openxmlformats.org/officeDocument/2006/relationships/slide" Target="/ppt/slides/slide5.xml" Id="Rb7235b29da254a02" /><Relationship Type="http://schemas.openxmlformats.org/officeDocument/2006/relationships/notesMaster" Target="/ppt/notesMasters/notesMaster1.xml" Id="R5eb64596cd244660" /></Relationships>
</file>

<file path=ppt/notesSlides/_rels/notesSlide6.xml.rels>&#65279;<?xml version="1.0" encoding="utf-8"?><Relationships xmlns="http://schemas.openxmlformats.org/package/2006/relationships"><Relationship Type="http://schemas.openxmlformats.org/officeDocument/2006/relationships/slide" Target="/ppt/slides/slide6.xml" Id="R86263410f3364d4c" /><Relationship Type="http://schemas.openxmlformats.org/officeDocument/2006/relationships/notesMaster" Target="/ppt/notesMasters/notesMaster1.xml" Id="Rea194a1ab2294c9d" /></Relationships>
</file>

<file path=ppt/notesSlides/_rels/notesSlide7.xml.rels>&#65279;<?xml version="1.0" encoding="utf-8"?><Relationships xmlns="http://schemas.openxmlformats.org/package/2006/relationships"><Relationship Type="http://schemas.openxmlformats.org/officeDocument/2006/relationships/slide" Target="/ppt/slides/slide7.xml" Id="Rae0171d09f07455e" /><Relationship Type="http://schemas.openxmlformats.org/officeDocument/2006/relationships/notesMaster" Target="/ppt/notesMasters/notesMaster1.xml" Id="R3de6be0067ed4011" /></Relationships>
</file>

<file path=ppt/notesSlides/_rels/notesSlide8.xml.rels>&#65279;<?xml version="1.0" encoding="utf-8"?><Relationships xmlns="http://schemas.openxmlformats.org/package/2006/relationships"><Relationship Type="http://schemas.openxmlformats.org/officeDocument/2006/relationships/slide" Target="/ppt/slides/slide8.xml" Id="R4993015381c2445e" /><Relationship Type="http://schemas.openxmlformats.org/officeDocument/2006/relationships/notesMaster" Target="/ppt/notesMasters/notesMaster1.xml" Id="R63b82b36835c4226" /></Relationships>
</file>

<file path=ppt/notesSlides/_rels/notesSlide9.xml.rels>&#65279;<?xml version="1.0" encoding="utf-8"?><Relationships xmlns="http://schemas.openxmlformats.org/package/2006/relationships"><Relationship Type="http://schemas.openxmlformats.org/officeDocument/2006/relationships/slide" Target="/ppt/slides/slide9.xml" Id="R8f73a2b26c3e4aec" /><Relationship Type="http://schemas.openxmlformats.org/officeDocument/2006/relationships/notesMaster" Target="/ppt/notesMasters/notesMaster1.xml" Id="Rb70c3eaa32c84a9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67fd42dd5b44f66" /><Relationship Type="http://schemas.openxmlformats.org/officeDocument/2006/relationships/notesMaster" Target="/ppt/notesMasters/notesMaster1.xml" Id="R6eeee7b99b2b44c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9fc1617f7e74c13" /><Relationship Type="http://schemas.openxmlformats.org/officeDocument/2006/relationships/notesMaster" Target="/ppt/notesMasters/notesMaster1.xml" Id="Rb9da86b0fdff4f3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0d4bf7ecea84c01" /><Relationship Type="http://schemas.openxmlformats.org/officeDocument/2006/relationships/notesMaster" Target="/ppt/notesMasters/notesMaster1.xml" Id="Ref40f4d29cb4495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961ba9b3...); reports/experiment_protocol_v1.md (D3 policy);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xmlns:a="http://schemas.openxmlformats.org/drawingml/2006/main">
            <a:r>
              <a:t>Bằng chứng dự án: outputs/reproduction/figures/fig_rq2_retrieval_hit_rates.png;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[DIAGNOSTIC TEST FIXTURE ONLY - NOT CANONICAL NUMERICAL RESULTS]; kết quả đối chứng trên diagnostic cohort (n=718 views across 440 clusters) ghi nhận quan sát mô tả độc lập.</a:t>
            </a:r>
          </a:p>
          <a:p xmlns:a="http://schemas.openxmlformats.org/drawingml/2006/main">
            <a:r>
              <a:t>Bằng chứng dự án: scripts/verify_t20_canonical_artifacts.py; outputs/reproduction/tables/table_4_pairwise_representation_comparison.md; tests/test_t20_canonical_artifacts.py.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 Các chỉ số có điều kiện P(Correct | GT in Top-k) và P(Correct | GT NOT in Top-k) cho phép định lượng xem LLM có bị đánh lừa bởi distractor hay có thể gán đúng khi thiếu ngữ cảnh truy xuất (không giả định năng lực tự sửa sai nội tại). Toàn bộ ma trận chính thức 6,400 bản ghi đang chạy; tính đúng đắn toán học của Evaluator đã được chứng minh qua 5 test fixtures.</a:t>
            </a:r>
          </a:p>
          <a:p xmlns:a="http://schemas.openxmlformats.org/drawingml/2006/main">
            <a:r>
              <a:t>Bằng chứng dự án: reports/experiment_protocol_v1.md (D2e, D2f, D2h, D2i; SHA-256: d3bf3d31...); tests/test_experiment_evaluation.py (94 tests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và dữ liệu:</a:t>
            </a:r>
          </a:p>
          <a:p xmlns:a="http://schemas.openxmlformats.org/drawingml/2006/main">
            <a:r>
              <a:t>1. Dữ liệu DEV là dữ liệu tổng hợp (synthetic-paired-v1 DEV split, 4 views x 5 nhánh). Việc gửi request lên OpenAI không biến log tổng hợp thành dữ liệu thực địa in-the-wild.</a:t>
            </a:r>
          </a:p>
          <a:p xmlns:a="http://schemas.openxmlformats.org/drawingml/2006/main">
            <a:r>
              <a:t>2. Chi phí pilot 20 request ($0.024209 USD standard, $0.026320 USD conservative) là 'Chi phí hạch toán ước tính từ token quan sát được và biểu giá công bố', vì chúng tôi chưa có hóa đơn quyết toán chính thức từ OpenAI.</a:t>
            </a:r>
          </a:p>
          <a:p xmlns:a="http://schemas.openxmlformats.org/drawingml/2006/main">
            <a:r>
              <a:t>3. Con số ~$0.00165/query là ước tính ban đầu tại nhánh k=3 do độ dài reasoning output.</a:t>
            </a:r>
          </a:p>
          <a:p xmlns:a="http://schemas.openxmlformats.org/drawingml/2006/main">
            <a:r>
              <a:t>4. Phân biệt rõ khoản giữ chỗ thận trọng tạm thời ($0.05264010 USD prior_pilot_provisional_hold_usd), dự báo chuẩn tắc tập TEST ($8.20 – $8.99 USD cho 6,400 requests), và trần ngân sách đóng băng cứng $19.99 USD (hard_budget_limit_usd).</a:t>
            </a:r>
          </a:p>
          <a:p xmlns:a="http://schemas.openxmlformats.org/drawingml/2006/main">
            <a:r>
              <a:t>Bằng chứng dự án: config/experiment_config.json (hard_budget_limit_usd: 19.99); reports/evidence/dev_cost_pilot_20261001/summary.json (SHA-256: f8dfe994...);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961ba9b3...);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Các phát hiện hiện tại phản ánh phạm vi đo lường thực nghiệm và các giả thuyết đang chờ hoàn tất ma trận TEST.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7cd6848b379466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8983cc92cb2441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9a7a3c67caa49c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61a9d08f86d427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b329a65c29849a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36c64e4ec1f460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d0c1355d5564d5c"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cc1da7181c7541fd"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c02319f55bd346c6"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0fe2d56b18b04d2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e6563eec117943e5"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5F65FD0-18D3-40A1-81D2-7DD331BA1459}"/>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CFD99702-E94B-4719-8127-BF1E1D645188}"/>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FA94C1BE-ECB6-4513-A15F-75A1C4B5AB7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6B2A07E-A8E9-46C3-9B24-A73BA9C75C3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35E55D6-25E6-4D1C-8B83-1614A4DB5D0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67B8D94-4688-4146-BFE8-EDBD54BBD5A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5E8833FC-E042-461C-9FBE-4B0839EF442A}"/>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1FF78225-5405-48B3-9720-3260F603647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C9508622-9065-4DD5-9E19-9BD0C5ACC8A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213BA54-BFA8-4ACF-AF21-404BB1F401C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2B74632-442F-4355-B638-9405A2AA8E14}"/>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C0240103-CAE5-4C62-9D8F-1A20D33CE43D}"/>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3CF1F627-0305-4FD7-9BB2-66E1F7D8A18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2D54A19D-BD09-4155-8B7A-6623FF02CFF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069A511-726E-4BF2-BD17-1FC39AFA88B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A81C51C-F18E-4EEB-9F1A-2CAA2BF50D3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E2BDF15-6368-499D-B841-E23549123689}"/>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0C8B2580-A070-4E6C-A841-4BC6FD9744AD}"/>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7A3A53CD-7EA0-4DFC-B5A9-A6FCAEB4133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ACEC179D-4D00-4FFC-AA83-CAEBD38B6D0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7E75401-1A84-410A-90F7-B528D166227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50BAE0C-5CF6-40D3-BC14-575E7EF316F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403E099-C5C3-4478-BF9A-885D0F62F73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41D7E936-D5B4-4A85-A1FF-18A8EEAC19F1}"/>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59DA8200-7B6E-4D1D-AED5-38A72D0D1B35}"/>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8AB1871-58AA-47C0-B71D-97A8C3FDE63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87644B2C-B3CB-4127-9930-5ECC249D290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07AEB394-16FD-4B8D-B139-B0D95B73635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049C5653-B8EB-4584-ADD4-30B9DD7175B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A79C238-B0B7-42BA-8E33-58FE3FD8356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4A7B3E59-6FB6-4119-86F1-82F068CAF05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2910D873-D102-4A33-8958-2F1DD1A472E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21F38A83-DCB0-42E8-B8E8-E613A100175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A4260A55-751B-4755-9CEF-81C147005B5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8348BB24-5C21-4318-8DEF-23F8E2C6585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BE83BFA9-CBC7-4A9F-B92A-3277AF05F26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845A60D-DBFB-4C16-9CA2-DE225AA19252}"/>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E193F75F-C310-4633-900B-6E4627C49819}"/>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4CDF1625-6F25-4C65-BC9E-8D92AE1E8E04}"/>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C3B515C6-37D6-453A-80CA-B7EAE8E866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612F0E3A-D0C7-4B78-A435-CBFF0648D2B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E2E0C7F-E08A-42DE-846D-CEE02EBB29E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CDA3500-A98E-42D7-915C-C4B94E996C15}"/>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306C3FB7-879D-40F3-9EA3-F1E4C8096319}"/>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9A405AC1-9650-494E-B486-6AE02AA47C55}"/>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73E8210-4201-4218-9B6A-7F9D8789808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B71F4330-5262-4D4D-85B7-6CC100333AE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D504ADB-B612-4E95-A5D8-13BDAC41BD0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A4B837-300D-426B-A7C3-E148738F313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84D15B48-8FD4-4D43-8878-D2C96FF5CCA8}"/>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CDE0F18A-C1D2-4CB4-8E4D-3361546269A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DBEAA1F0-3328-48D2-9977-8B9A38BD874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C2A07CA-2E6D-4BE6-970C-3517401E911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8EEBDC85-5C83-415B-9209-8107668138E8}"/>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2B1CA8F1-A9A7-4D6F-8BFD-84F21BAD6AD6}"/>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FA6A1A75-8BC2-4D0A-BBA8-43DDA347B40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38281CF-6176-403A-9169-4DAB269AA88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8EBC3A9-2CD4-47AF-8E58-3E0D972B470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b53a70b4da14139" /><Relationship Type="http://schemas.openxmlformats.org/officeDocument/2006/relationships/slideLayout" Target="/ppt/slideLayouts/slideLayout1.xml" Id="R6fbba830e2bf44f3" /><Relationship Type="http://schemas.openxmlformats.org/officeDocument/2006/relationships/slideLayout" Target="/ppt/slideLayouts/slideLayout2.xml" Id="Rcf53c79d937c43fd" /><Relationship Type="http://schemas.openxmlformats.org/officeDocument/2006/relationships/slideLayout" Target="/ppt/slideLayouts/slideLayout3.xml" Id="R6828dca130a14e71" /><Relationship Type="http://schemas.openxmlformats.org/officeDocument/2006/relationships/slideLayout" Target="/ppt/slideLayouts/slideLayout4.xml" Id="R655df3797908481c" /><Relationship Type="http://schemas.openxmlformats.org/officeDocument/2006/relationships/slideLayout" Target="/ppt/slideLayouts/slideLayout5.xml" Id="R165ab68bd1a9462e" /><Relationship Type="http://schemas.openxmlformats.org/officeDocument/2006/relationships/slideLayout" Target="/ppt/slideLayouts/slideLayout6.xml" Id="Rbe9c1803ed3a484e" /><Relationship Type="http://schemas.openxmlformats.org/officeDocument/2006/relationships/slideLayout" Target="/ppt/slideLayouts/slideLayout7.xml" Id="R62378c32967c40f9" /><Relationship Type="http://schemas.openxmlformats.org/officeDocument/2006/relationships/slideLayout" Target="/ppt/slideLayouts/slideLayout8.xml" Id="Rb464b537dd924951" /><Relationship Type="http://schemas.openxmlformats.org/officeDocument/2006/relationships/slideLayout" Target="/ppt/slideLayouts/slideLayout9.xml" Id="Rb7e5dac8e8864181" /><Relationship Type="http://schemas.openxmlformats.org/officeDocument/2006/relationships/slideLayout" Target="/ppt/slideLayouts/slideLayout10.xml" Id="R42536b05d6904da3" /><Relationship Type="http://schemas.openxmlformats.org/officeDocument/2006/relationships/slideLayout" Target="/ppt/slideLayouts/slideLayout11.xml" Id="R03348f632aee40c2"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1FC9767C-250C-4495-9E87-57F5E055A207}"/>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E8594496-FF93-47D6-8431-1D7A177736D4}"/>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C3A523DF-00DB-4B51-B915-7654C6061530}"/>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6BDB433-D7B3-46F8-AD63-518BCB96CC60}"/>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FFDEB83-1840-48E2-B4C1-025730A72DEB}"/>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fbba830e2bf44f3"/>
    <p:sldLayoutId xmlns:r="http://schemas.openxmlformats.org/officeDocument/2006/relationships" id="2147483650" r:id="Rcf53c79d937c43fd"/>
    <p:sldLayoutId xmlns:r="http://schemas.openxmlformats.org/officeDocument/2006/relationships" id="2147483651" r:id="R6828dca130a14e71"/>
    <p:sldLayoutId xmlns:r="http://schemas.openxmlformats.org/officeDocument/2006/relationships" id="2147483652" r:id="R655df3797908481c"/>
    <p:sldLayoutId xmlns:r="http://schemas.openxmlformats.org/officeDocument/2006/relationships" id="2147483653" r:id="R165ab68bd1a9462e"/>
    <p:sldLayoutId xmlns:r="http://schemas.openxmlformats.org/officeDocument/2006/relationships" id="2147483654" r:id="Rbe9c1803ed3a484e"/>
    <p:sldLayoutId xmlns:r="http://schemas.openxmlformats.org/officeDocument/2006/relationships" id="2147483655" r:id="R62378c32967c40f9"/>
    <p:sldLayoutId xmlns:r="http://schemas.openxmlformats.org/officeDocument/2006/relationships" id="2147483656" r:id="Rb464b537dd924951"/>
    <p:sldLayoutId xmlns:r="http://schemas.openxmlformats.org/officeDocument/2006/relationships" id="2147483657" r:id="Rb7e5dac8e8864181"/>
    <p:sldLayoutId xmlns:r="http://schemas.openxmlformats.org/officeDocument/2006/relationships" id="2147483658" r:id="R42536b05d6904da3"/>
    <p:sldLayoutId xmlns:r="http://schemas.openxmlformats.org/officeDocument/2006/relationships" id="2147483659" r:id="R03348f632aee40c2"/>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73873cbf87ad4438" /><Relationship Type="http://schemas.openxmlformats.org/officeDocument/2006/relationships/notesSlide" Target="/ppt/notesSlides/notesSlide1.xml" Id="R27742f513e604f50"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afb6ec0fad0b4e06" /><Relationship Type="http://schemas.openxmlformats.org/officeDocument/2006/relationships/notesSlide" Target="/ppt/notesSlides/notesSlide2.xml" Id="Rec7187fa19204ed2"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0c7de270ff524dc4" /><Relationship Type="http://schemas.openxmlformats.org/officeDocument/2006/relationships/notesSlide" Target="/ppt/notesSlides/notesSlide3.xml" Id="R65b2c52dfd544f6b"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33b7675d4b6347dc" /><Relationship Type="http://schemas.openxmlformats.org/officeDocument/2006/relationships/notesSlide" Target="/ppt/notesSlides/notesSlide4.xml" Id="R4afc7d3211954945"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1d6b091b43394a2a" /><Relationship Type="http://schemas.openxmlformats.org/officeDocument/2006/relationships/notesSlide" Target="/ppt/notesSlides/notesSlide5.xml" Id="Rfa38e4cd44d342da"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e6e773e37fe44b9b" /><Relationship Type="http://schemas.openxmlformats.org/officeDocument/2006/relationships/image" Target="/ppt/media/image.png" Id="Rf8ca018465404876" /><Relationship Type="http://schemas.openxmlformats.org/officeDocument/2006/relationships/notesSlide" Target="/ppt/notesSlides/notesSlide6.xml" Id="Rf690e1ae23ce4023"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5d8e74edc5824990" /><Relationship Type="http://schemas.openxmlformats.org/officeDocument/2006/relationships/notesSlide" Target="/ppt/notesSlides/notesSlide7.xml" Id="R60364e50fdf747fa"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1e6df51943804901" /><Relationship Type="http://schemas.openxmlformats.org/officeDocument/2006/relationships/notesSlide" Target="/ppt/notesSlides/notesSlide8.xml" Id="R2ceb49a8d5204503"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34340c59e7204b43" /><Relationship Type="http://schemas.openxmlformats.org/officeDocument/2006/relationships/image" Target="/ppt/media/image2.png" Id="R58da3dcd2ff14277" /><Relationship Type="http://schemas.openxmlformats.org/officeDocument/2006/relationships/notesSlide" Target="/ppt/notesSlides/notesSlide9.xml" Id="R324ea504b548434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dc59690d559f4140" /><Relationship Type="http://schemas.openxmlformats.org/officeDocument/2006/relationships/notesSlide" Target="/ppt/notesSlides/notesSlide10.xml" Id="R54320dc6e79e4f2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afc4e49eaa88489f" /><Relationship Type="http://schemas.openxmlformats.org/officeDocument/2006/relationships/notesSlide" Target="/ppt/notesSlides/notesSlide11.xml" Id="R4c8dbb12a8a1434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00ba1612f3f84e91" /><Relationship Type="http://schemas.openxmlformats.org/officeDocument/2006/relationships/notesSlide" Target="/ppt/notesSlides/notesSlide12.xml" Id="R2f4f9b8fef244d3d"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B959BA56-CF1D-4BBA-BF72-05061A0B98C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03CA2F5-909C-4654-97E4-CFC2F363E2C7}"/>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E60BEA90-4AE9-4815-8122-47B63F250575}"/>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p:txBody>
      </p:sp>
    </p:spTree>
    <p:extLst>
      <p:ext uri="{BB962C8B-B14F-4D97-AF65-F5344CB8AC3E}">
        <p14:creationId xmlns:p14="http://schemas.microsoft.com/office/powerpoint/2010/main" val="74788372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7AC01FD-E0BE-4CA2-9728-D1692C7CAAA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CC34BA4-B19C-4589-88DA-4E1B06762FF2}"/>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B2E2DBE-53DE-46CA-A2FE-AF81E63281D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A7DD74E-589F-4D6E-ACBE-AD1FB904E681}"/>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a:t>
            </a:r>
          </a:p>
        </p:txBody>
      </p:sp>
      <p:sp>
        <p:nvSpPr>
          <p:cNvPr id="6" name="Rounded Rectangle 5">
            <a:extLst xmlns:a="http://schemas.openxmlformats.org/drawingml/2006/main">
              <a:ext uri="{FF2B5EF4-FFF2-40B4-BE49-F238E27FC236}">
                <a16:creationId xmlns:a16="http://schemas.microsoft.com/office/drawing/2014/main" id="{4011CF02-8CDC-4560-814B-3DF01DA5CB27}"/>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6BA2453-E1DB-467A-B761-6586ACE30EEB}"/>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Rounded Rectangle 7">
            <a:extLst xmlns:a="http://schemas.openxmlformats.org/drawingml/2006/main">
              <a:ext uri="{FF2B5EF4-FFF2-40B4-BE49-F238E27FC236}">
                <a16:creationId xmlns:a16="http://schemas.microsoft.com/office/drawing/2014/main" id="{BE34707B-5640-4432-98F4-BB8D9766398D}"/>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4C1E83E0-1E31-4190-82AD-F6539C12E080}"/>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Rounded Rectangle 9">
            <a:extLst xmlns:a="http://schemas.openxmlformats.org/drawingml/2006/main">
              <a:ext uri="{FF2B5EF4-FFF2-40B4-BE49-F238E27FC236}">
                <a16:creationId xmlns:a16="http://schemas.microsoft.com/office/drawing/2014/main" id="{8AAE9A99-093F-466F-8395-A38F016D77F0}"/>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99B55F59-54F1-4FB9-8401-146AA8BC7239}"/>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1056427338"/>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8841C0A-8121-43F1-93A7-33246033629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ACBA789D-266C-46C4-A3A0-3A6D4EC0AB6A}"/>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C4790685-BFFF-4697-9F29-2FC59E31D121}"/>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2D9861AB-3B2E-4344-A5DA-BF2C24F3FEDA}"/>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a:t>
            </a:r>
          </a:p>
        </p:txBody>
      </p:sp>
      <p:sp>
        <p:nvSpPr>
          <p:cNvPr id="6" name="Rounded Rectangle 5">
            <a:extLst xmlns:a="http://schemas.openxmlformats.org/drawingml/2006/main">
              <a:ext uri="{FF2B5EF4-FFF2-40B4-BE49-F238E27FC236}">
                <a16:creationId xmlns:a16="http://schemas.microsoft.com/office/drawing/2014/main" id="{98D1B0AD-3396-419F-AC44-1A621FCB296A}"/>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306C2415-F573-4A41-8AAB-F155FF9274F9}"/>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Rounded Rectangle 7">
            <a:extLst xmlns:a="http://schemas.openxmlformats.org/drawingml/2006/main">
              <a:ext uri="{FF2B5EF4-FFF2-40B4-BE49-F238E27FC236}">
                <a16:creationId xmlns:a16="http://schemas.microsoft.com/office/drawing/2014/main" id="{FBD03D21-1E70-438C-ACB7-0FEEE1CEAFFF}"/>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87849F11-5B1A-42DD-B840-7DBCCB7C78D0}"/>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Rounded Rectangle 9">
            <a:extLst xmlns:a="http://schemas.openxmlformats.org/drawingml/2006/main">
              <a:ext uri="{FF2B5EF4-FFF2-40B4-BE49-F238E27FC236}">
                <a16:creationId xmlns:a16="http://schemas.microsoft.com/office/drawing/2014/main" id="{543CB129-0D2D-4A90-BBFE-A8AA966953DA}"/>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726D0067-9579-48ED-ACC0-A386053B2A38}"/>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95981039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D192B5B-44D2-4E94-B034-C88E3D06D7D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6C6F833-C7C4-498F-8B00-2E6B5D433EDF}"/>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A5FC2171-3405-42CB-841D-16B599E543C5}"/>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3488690E-6EDA-4B87-B6CF-9FD154DA6C3C}"/>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a:t>
            </a:r>
          </a:p>
        </p:txBody>
      </p:sp>
      <p:sp>
        <p:nvSpPr>
          <p:cNvPr id="6" name="Rounded Rectangle 5">
            <a:extLst xmlns:a="http://schemas.openxmlformats.org/drawingml/2006/main">
              <a:ext uri="{FF2B5EF4-FFF2-40B4-BE49-F238E27FC236}">
                <a16:creationId xmlns:a16="http://schemas.microsoft.com/office/drawing/2014/main" id="{EC891EDF-7372-4FF4-A822-5FD38EEA920E}"/>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7F89C87D-F1F9-42B8-A504-B5CCA3B2044A}"/>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(718 scorable views across 440 distinct clusters)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SHA-256 trong lock v1 | Cohort pairs: 278 complete pairs, 162 contextual-only pairs, 200 neither-mapped pairs.</a:t>
            </a:r>
          </a:p>
        </p:txBody>
      </p:sp>
      <p:sp>
        <p:nvSpPr>
          <p:cNvPr id="8" name="Rounded Rectangle 7">
            <a:extLst xmlns:a="http://schemas.openxmlformats.org/drawingml/2006/main">
              <a:ext uri="{FF2B5EF4-FFF2-40B4-BE49-F238E27FC236}">
                <a16:creationId xmlns:a16="http://schemas.microsoft.com/office/drawing/2014/main" id="{BE91E602-8DB9-4F0D-97FD-14CE432E1DD1}"/>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44493409-4010-4B74-891D-4FF6A13E0B50}"/>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180028565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3C25C0E-13F2-41AC-83C7-2A720201EA8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08ACB25-B67A-4075-97D7-F378711056A7}"/>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E1836714-478B-4758-8DB7-73B834C1AF1E}"/>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9EC1CE0E-7802-4D66-B7F3-5ECF84544B74}"/>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a:t>
            </a:r>
          </a:p>
        </p:txBody>
      </p:sp>
      <p:sp>
        <p:nvSpPr>
          <p:cNvPr id="6" name="Rounded Rectangle 5">
            <a:extLst xmlns:a="http://schemas.openxmlformats.org/drawingml/2006/main">
              <a:ext uri="{FF2B5EF4-FFF2-40B4-BE49-F238E27FC236}">
                <a16:creationId xmlns:a16="http://schemas.microsoft.com/office/drawing/2014/main" id="{20F0CE78-A157-40B1-9997-D04A368A76B0}"/>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80ED5C56-902F-4DE7-87A8-51AD1278BD5D}"/>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an toàn (D1: RECORD_ONLY): Lưu phản hồi thô phục vụ kiểm toán độc lập; toàn bộ thông tin đăng nhập và bí mật nhạy cảm đã được làm sạch / khử khuẩn (credentials and sensitive secrets sanitized/redacted).</a:t>
            </a:r>
          </a:p>
        </p:txBody>
      </p:sp>
      <p:sp>
        <p:nvSpPr>
          <p:cNvPr id="8" name="Rounded Rectangle 7">
            <a:extLst xmlns:a="http://schemas.openxmlformats.org/drawingml/2006/main">
              <a:ext uri="{FF2B5EF4-FFF2-40B4-BE49-F238E27FC236}">
                <a16:creationId xmlns:a16="http://schemas.microsoft.com/office/drawing/2014/main" id="{0D166698-49CD-4FD7-8428-6B25784EDE55}"/>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15362817-4121-4F9E-BBC7-7D29120F8A7F}"/>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79059660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CA6AE8B-D4C7-4E5F-AC64-0A3C067FE97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FFED41CC-2C50-4C61-A973-0B117D47086D}"/>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3DA338A1-9970-4A2C-9CF5-F341174EF03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9A663EF1-2EC3-4BF7-98FD-A559B2AA3362}"/>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756 positive views của benchmark</a:t>
            </a:r>
          </a:p>
        </p:txBody>
      </p:sp>
      <p:sp>
        <p:nvSpPr>
          <p:cNvPr id="6" name="Rounded Rectangle 5">
            <a:extLst xmlns:a="http://schemas.openxmlformats.org/drawingml/2006/main">
              <a:ext uri="{FF2B5EF4-FFF2-40B4-BE49-F238E27FC236}">
                <a16:creationId xmlns:a16="http://schemas.microsoft.com/office/drawing/2014/main" id="{7CB293FC-B124-43E0-B637-AE7B23DEAF3C}"/>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C1BD8FF2-B41F-49E9-B636-F7DEBA374647}"/>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Số Liệu Chẩn Đoán Truy Xuất RQ2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[T20 FULL BENCHMARK POSITIVE RETRIEVAL (Mẫu số N=756 views = 718 TEST + 38 DEV)]</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Toàn bộ mẫu dương tính benchmark: 756 views (718 TEST views + 38 DEV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Hit@k: Hit@1=4.23%, Hit@3=16.80%, Hit@5=24.21%, Hit@10=45.11% (341 / 756).</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Macro Recall@10: 43.14%  |  Tỷ lệ vắng mặt Top-10: 54.89% (415 / 756)  |  Mean Rank: 5.21.</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(Ghi chú: Real DEV Pilot là 4 views × 5 conditions = 20 requests, tách biệt hoàn toàn với benchmark positive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TEST FIXTURE RETRIEVAL (Mẫu số N=718 scorable TEST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Hit@10: 0.8333 (k=10).</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Macro Recall@10: 0.8333.</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Retrieval Miss Rate: 0.1667 (k=10 failure axis).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Phân định mẫu số: Mẫu số N=756 là toàn bộ benchmark (718 TEST + 38 DEV); N=718 là tập scorable TEST views; DEV Pilot là 20 requests.</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f8ca018465404876"/>
          <a:stretch xmlns:a="http://schemas.openxmlformats.org/drawingml/2006/main">
            <a:fillRect l="0" t="0" r="0" b="0"/>
          </a:stretch>
        </p:blipFill>
        <p:spPr>
          <a:xfrm xmlns:a="http://schemas.openxmlformats.org/drawingml/2006/main">
            <a:off x="6248095" y="1234440"/>
            <a:ext cx="5212080" cy="3257550"/>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B8742DAB-DFAB-4305-8723-704851E29B11}"/>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B8BB598D-CE33-4722-BC7B-E736F03F7EDE}"/>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100">
                <a:solidFill>
                  <a:srgbClr val="0F172A"/>
                </a:solidFill>
                <a:latin typeface="Calibri"/>
                <a:ea typeface="Calibri"/>
                <a:cs typeface="Calibri"/>
              </a:defRPr>
            </a:pPr>
            <a:r>
              <a:t>•  Khoảng cách ngữ nghĩa tại T1136.001 (Local Account): 0/99 lượt trúng Top-10 do log Event ID 4720 lệch từ vựng so với STIX persistence.</a:t>
            </a:r>
          </a:p>
          <a:p xmlns:a="http://schemas.openxmlformats.org/drawingml/2006/main">
            <a:pPr>
              <a:spcBef>
                <a:spcPts val="250"/>
              </a:spcBef>
              <a:buNone/>
              <a:defRPr sz="110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157450885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F749E31-DF2B-4CE2-B277-C8D5EDCE3DA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BB8176D1-A685-4159-BAA6-EA67002F8B0F}"/>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72134F25-7D33-430E-871E-C2BAFA5A641C}"/>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534A1B69-23AE-4926-BE62-625E12541ED2}"/>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Tác Động Của Hình Thức Biểu Diễn Telemetry</a:t>
            </a:r>
          </a:p>
          <a:p xmlns:a="http://schemas.openxmlformats.org/drawingml/2006/main">
            <a:pPr>
              <a:buNone/>
              <a:defRPr sz="1300">
                <a:solidFill>
                  <a:srgbClr val="06B6D4"/>
                </a:solidFill>
                <a:latin typeface="Calibri"/>
                <a:ea typeface="Calibri"/>
                <a:cs typeface="Calibri"/>
              </a:defRPr>
            </a:pPr>
            <a:r>
              <a:t>So sánh thực nghiệm Single vs Contextual trên 670 cặp kịch bản đối ứng</a:t>
            </a:r>
          </a:p>
        </p:txBody>
      </p:sp>
      <p:sp>
        <p:nvSpPr>
          <p:cNvPr id="6" name="Rounded Rectangle 5">
            <a:extLst xmlns:a="http://schemas.openxmlformats.org/drawingml/2006/main">
              <a:ext uri="{FF2B5EF4-FFF2-40B4-BE49-F238E27FC236}">
                <a16:creationId xmlns:a16="http://schemas.microsoft.com/office/drawing/2014/main" id="{70FE6936-B067-4C94-B924-95E7E5A7771F}"/>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A0C64D86-DC0F-44A1-A36A-A52831514462}"/>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Phân Tích Cặp Anchor Chuẩn (296 Cặp - Primary)</a:t>
            </a:r>
          </a:p>
          <a:p xmlns:a="http://schemas.openxmlformats.org/drawingml/2006/main">
            <a:pPr>
              <a:spcBef>
                <a:spcPts val="300"/>
              </a:spcBef>
              <a:buNone/>
              <a:defRPr sz="1150">
                <a:solidFill>
                  <a:srgbClr val="0F172A"/>
                </a:solidFill>
                <a:latin typeface="Calibri"/>
                <a:ea typeface="Calibri"/>
                <a:cs typeface="Calibri"/>
              </a:defRPr>
            </a:pPr>
            <a:r>
              <a:t>•  Quy mô: 670 cặp kịch bản đối ứng; 374 cặp bị loại trừ do đa nhãn/mismatch.</a:t>
            </a:r>
          </a:p>
          <a:p xmlns:a="http://schemas.openxmlformats.org/drawingml/2006/main">
            <a:pPr>
              <a:spcBef>
                <a:spcPts val="300"/>
              </a:spcBef>
              <a:buNone/>
              <a:defRPr sz="1150">
                <a:solidFill>
                  <a:srgbClr val="0F172A"/>
                </a:solidFill>
                <a:latin typeface="Calibri"/>
                <a:ea typeface="Calibri"/>
                <a:cs typeface="Calibri"/>
              </a:defRPr>
            </a:pPr>
            <a:r>
              <a:t>•  Tiêu chí Anchor chuẩn (scripts/verify_t20_canonical_artifacts.py):</a:t>
            </a:r>
          </a:p>
          <a:p xmlns:a="http://schemas.openxmlformats.org/drawingml/2006/main">
            <a:pPr>
              <a:spcBef>
                <a:spcPts val="300"/>
              </a:spcBef>
              <a:buNone/>
              <a:defRPr sz="1150">
                <a:solidFill>
                  <a:srgbClr val="0F172A"/>
                </a:solidFill>
                <a:latin typeface="Calibri"/>
                <a:ea typeface="Calibri"/>
                <a:cs typeface="Calibri"/>
              </a:defRPr>
            </a:pPr>
            <a:r>
              <a:t>  • Single view có duy nhất 1 kỹ thuật và kỹ thuật này có mặt trong Contextual view.</a:t>
            </a:r>
          </a:p>
          <a:p xmlns:a="http://schemas.openxmlformats.org/drawingml/2006/main">
            <a:pPr>
              <a:spcBef>
                <a:spcPts val="300"/>
              </a:spcBef>
              <a:buNone/>
              <a:defRPr sz="1150">
                <a:solidFill>
                  <a:srgbClr val="0F172A"/>
                </a:solidFill>
                <a:latin typeface="Calibri"/>
                <a:ea typeface="Calibri"/>
                <a:cs typeface="Calibri"/>
              </a:defRPr>
            </a:pPr>
            <a:r>
              <a:t>•  Phân bố thứ hạng thực nghiệm quan sát được:</a:t>
            </a:r>
          </a:p>
          <a:p xmlns:a="http://schemas.openxmlformats.org/drawingml/2006/main">
            <a:pPr>
              <a:spcBef>
                <a:spcPts val="300"/>
              </a:spcBef>
              <a:buNone/>
              <a:defRPr sz="1150">
                <a:solidFill>
                  <a:srgbClr val="0F172A"/>
                </a:solidFill>
                <a:latin typeface="Calibri"/>
                <a:ea typeface="Calibri"/>
                <a:cs typeface="Calibri"/>
              </a:defRPr>
            </a:pPr>
            <a:r>
              <a:t>  • Single-event đạt thứ hạng tốt hơn: 65 cặp (22.0%)</a:t>
            </a:r>
          </a:p>
          <a:p xmlns:a="http://schemas.openxmlformats.org/drawingml/2006/main">
            <a:pPr>
              <a:spcBef>
                <a:spcPts val="300"/>
              </a:spcBef>
              <a:buNone/>
              <a:defRPr sz="1150">
                <a:solidFill>
                  <a:srgbClr val="0F172A"/>
                </a:solidFill>
                <a:latin typeface="Calibri"/>
                <a:ea typeface="Calibri"/>
                <a:cs typeface="Calibri"/>
              </a:defRPr>
            </a:pPr>
            <a:r>
              <a:t>  • Contextual-event đạt thứ hạng tốt hơn: 23 cặp (7.8%)</a:t>
            </a:r>
          </a:p>
          <a:p xmlns:a="http://schemas.openxmlformats.org/drawingml/2006/main">
            <a:pPr>
              <a:spcBef>
                <a:spcPts val="300"/>
              </a:spcBef>
              <a:buNone/>
              <a:defRPr sz="1150">
                <a:solidFill>
                  <a:srgbClr val="0F172A"/>
                </a:solidFill>
                <a:latin typeface="Calibri"/>
                <a:ea typeface="Calibri"/>
                <a:cs typeface="Calibri"/>
              </a:defRPr>
            </a:pPr>
            <a:r>
              <a:t>  • Hiệu năng thứ hạng tương đương: 208 cặp (70.3%)</a:t>
            </a:r>
          </a:p>
          <a:p xmlns:a="http://schemas.openxmlformats.org/drawingml/2006/main">
            <a:pPr>
              <a:spcBef>
                <a:spcPts val="300"/>
              </a:spcBef>
              <a:buNone/>
              <a:defRPr sz="1150">
                <a:solidFill>
                  <a:srgbClr val="0F172A"/>
                </a:solidFill>
                <a:latin typeface="Calibri"/>
                <a:ea typeface="Calibri"/>
                <a:cs typeface="Calibri"/>
              </a:defRPr>
            </a:pPr>
            <a:r>
              <a:t>    - Cả hai biểu diễn cùng trượt Top-10: 147 cặp</a:t>
            </a:r>
          </a:p>
          <a:p xmlns:a="http://schemas.openxmlformats.org/drawingml/2006/main">
            <a:pPr>
              <a:spcBef>
                <a:spcPts val="300"/>
              </a:spcBef>
              <a:buNone/>
              <a:defRPr sz="1150">
                <a:solidFill>
                  <a:srgbClr val="0F172A"/>
                </a:solidFill>
                <a:latin typeface="Calibri"/>
                <a:ea typeface="Calibri"/>
                <a:cs typeface="Calibri"/>
              </a:defRPr>
            </a:pPr>
            <a:r>
              <a:t>    - Đồng hạng chính xác trong Top-10: 61 cặp</a:t>
            </a:r>
          </a:p>
          <a:p xmlns:a="http://schemas.openxmlformats.org/drawingml/2006/main">
            <a:pPr>
              <a:spcBef>
                <a:spcPts val="300"/>
              </a:spcBef>
              <a:buNone/>
              <a:defRPr sz="1150">
                <a:solidFill>
                  <a:srgbClr val="0F172A"/>
                </a:solidFill>
                <a:latin typeface="Calibri"/>
                <a:ea typeface="Calibri"/>
                <a:cs typeface="Calibri"/>
              </a:defRPr>
            </a:pPr>
            <a:r>
              <a:t>•  Nhóm lọc đơn kỹ thuật nghiêm ngặt (252 cặp - Secondary): Single tốt hơn 59 cặp (23.4%) vs. Contextual 23 cặp (9.1%), ngang nhau 170 cặp.</a:t>
            </a:r>
          </a:p>
        </p:txBody>
      </p:sp>
      <p:sp>
        <p:nvSpPr>
          <p:cNvPr id="8" name="Rounded Rectangle 7">
            <a:extLst xmlns:a="http://schemas.openxmlformats.org/drawingml/2006/main">
              <a:ext uri="{FF2B5EF4-FFF2-40B4-BE49-F238E27FC236}">
                <a16:creationId xmlns:a16="http://schemas.microsoft.com/office/drawing/2014/main" id="{4D696FF7-697F-4BBE-8AC7-21428916BE2E}"/>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406CCC3-16F4-4801-B427-A743D4CD20E5}"/>
              </a:ext>
            </a:extLst>
          </p:cNvPr>
          <p:cNvSpPr>
            <a:spLocks xmlns:a="http://schemas.openxmlformats.org/drawingml/2006/main" noGrp="1"/>
          </p:cNvSpPr>
          <p:nvPr/>
        </p:nvSpPr>
        <p:spPr>
          <a:xfrm xmlns:a="http://schemas.openxmlformats.org/drawingml/2006/main">
            <a:off x="6430975" y="1344168"/>
            <a:ext cx="4846320" cy="5410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Hiện Tượng Quan Sát &amp; Schema So Sánh </a:t>
            </a:r>
            <a:r>
              <a:t>[DIAGNOSTIC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t>•  Hiện tượng Benign Drift khi mở rộng ngữ cảnh:</a:t>
            </a:r>
          </a:p>
          <a:p xmlns:a="http://schemas.openxmlformats.org/drawingml/2006/main">
            <a:pPr>
              <a:spcBef>
                <a:spcPts val="300"/>
              </a:spcBef>
              <a:buNone/>
              <a:defRPr sz="1150">
                <a:solidFill>
                  <a:srgbClr val="0F172A"/>
                </a:solidFill>
                <a:latin typeface="Calibri"/>
                <a:ea typeface="Calibri"/>
                <a:cs typeface="Calibri"/>
              </a:defRPr>
            </a:pPr>
            <a:r>
              <a:t>  • Gộp các sự kiện lân cận bổ sung nhiều token thông thường (Explorer, DNS, svchost).</a:t>
            </a:r>
          </a:p>
          <a:p xmlns:a="http://schemas.openxmlformats.org/drawingml/2006/main">
            <a:pPr>
              <a:spcBef>
                <a:spcPts val="300"/>
              </a:spcBef>
              <a:buNone/>
              <a:defRPr sz="1150">
                <a:solidFill>
                  <a:srgbClr val="0F172A"/>
                </a:solidFill>
                <a:latin typeface="Calibri"/>
                <a:ea typeface="Calibri"/>
                <a:cs typeface="Calibri"/>
              </a:defRPr>
            </a:pPr>
            <a:r>
              <a:t>  • Vector dense embedding bị kéo lệch về hành vi bình thường, làm tụt thứ hạng kỹ thuật tấn công.</a:t>
            </a:r>
          </a:p>
          <a:p xmlns:a="http://schemas.openxmlformats.org/drawingml/2006/main">
            <a:pPr>
              <a:spcBef>
                <a:spcPts val="300"/>
              </a:spcBef>
              <a:buNone/>
              <a:defRPr sz="1150">
                <a:solidFill>
                  <a:srgbClr val="0F172A"/>
                </a:solidFill>
                <a:latin typeface="Calibri"/>
                <a:ea typeface="Calibri"/>
                <a:cs typeface="Calibri"/>
              </a:defRPr>
            </a:pPr>
            <a:r>
              <a:t>•  Schema So Sánh Đối Chứng Scaffold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Diagnostic Cohort Pairwise Comparison (n=718 views across 440 clusters):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Marginal Views: Single-event Acc = 0.5000 vs Contextual-event Acc = 0.5000 (Delta = +0.0000)</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Paired Cohort (278 complete pairs): Single Acc = 0.5000 vs Context Acc = 0.5000 (Delta = +0.00 pp)</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 Concordance: Both Correct = 139, Single-only Correct = 0, Context-only Correct = 0, Both Incorrect = 139</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McNemar Exploratory Test: p_asympt = 1.0000, p_exact = 1.0000</a:t>
            </a:r>
          </a:p>
          <a:p xmlns:a="http://schemas.openxmlformats.org/drawingml/2006/main">
            <a:pPr>
              <a:spcBef>
                <a:spcPts val="300"/>
              </a:spcBef>
              <a:buNone/>
              <a:defRPr sz="1150">
                <a:solidFill>
                  <a:srgbClr val="0F172A"/>
                </a:solidFill>
                <a:latin typeface="Calibri"/>
                <a:ea typeface="Calibri"/>
                <a:cs typeface="Calibri"/>
              </a:defRPr>
            </a:pPr>
            <a:r>
              <a:t>  • Đối chứng: Zero-Shot No-RAG vs Zero-Shot RAG (k=1..10) vs Prompt Scaffolds.</a:t>
            </a:r>
          </a:p>
          <a:p xmlns:a="http://schemas.openxmlformats.org/drawingml/2006/main">
            <a:pPr>
              <a:spcBef>
                <a:spcPts val="300"/>
              </a:spcBef>
              <a:buNone/>
              <a:defRPr sz="1150">
                <a:solidFill>
                  <a:srgbClr val="0F172A"/>
                </a:solidFill>
                <a:latin typeface="Calibri"/>
                <a:ea typeface="Calibri"/>
                <a:cs typeface="Calibri"/>
              </a:defRPr>
            </a:pPr>
            <a:r>
              <a:t>  • Giả thuyết: Khối tri thức RAG bổ trợ cần đi kèm tiền lọc sự kiện nghi vấn thay vì nhúng thô.</a:t>
            </a:r>
          </a:p>
          <a:p xmlns:a="http://schemas.openxmlformats.org/drawingml/2006/main">
            <a:pPr>
              <a:spcBef>
                <a:spcPts val="300"/>
              </a:spcBef>
              <a:buNone/>
              <a:defRPr sz="1150">
                <a:solidFill>
                  <a:srgbClr val="0F172A"/>
                </a:solidFill>
                <a:latin typeface="Calibri"/>
                <a:ea typeface="Calibri"/>
                <a:cs typeface="Calibri"/>
              </a:defRPr>
            </a:pPr>
            <a:r>
              <a:t>  • Trạng thái: Toàn bộ ma trận TEST đang thực thi; kết luận chính thức sẽ công bố khi hoàn tất.</a:t>
            </a:r>
          </a:p>
          <a:p xmlns:a="http://schemas.openxmlformats.org/drawingml/2006/main">
            <a:pPr>
              <a:spcBef>
                <a:spcPts val="300"/>
              </a:spcBef>
              <a:buNone/>
              <a:defRPr sz="1150">
                <a:solidFill>
                  <a:srgbClr val="0F172A"/>
                </a:solidFill>
                <a:latin typeface="Calibri"/>
                <a:ea typeface="Calibri"/>
                <a:cs typeface="Calibri"/>
              </a:defRPr>
            </a:pPr>
            <a:r>
              <a:t>•  Phạm vi khảo sát: Ghi nhận trên synthetic-paired-v1; cần tiếp tục kiểm chứng trên telemetry thực tế.</a:t>
            </a:r>
          </a:p>
        </p:txBody>
      </p:sp>
    </p:spTree>
    <p:extLst>
      <p:ext uri="{BB962C8B-B14F-4D97-AF65-F5344CB8AC3E}">
        <p14:creationId xmlns:p14="http://schemas.microsoft.com/office/powerpoint/2010/main" val="81464486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6197B92-FC50-4BE9-84BD-3756AC9ED8E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A265C8AC-CDA5-45D8-872F-B01EF59D4FA6}"/>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67224D6E-37FC-4917-92F2-2CEC50164682}"/>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5BEDA46-FB4D-44B2-8344-1F3FA1C56DFA}"/>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a:t>
            </a:r>
          </a:p>
        </p:txBody>
      </p:sp>
      <p:sp>
        <p:nvSpPr>
          <p:cNvPr id="6" name="Rounded Rectangle 5">
            <a:extLst xmlns:a="http://schemas.openxmlformats.org/drawingml/2006/main">
              <a:ext uri="{FF2B5EF4-FFF2-40B4-BE49-F238E27FC236}">
                <a16:creationId xmlns:a16="http://schemas.microsoft.com/office/drawing/2014/main" id="{7DF6A05E-2962-4C5D-9DA5-C67EBA4C1EF2}"/>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117D281B-769C-4B40-9E0E-7ADAB76DFEF0}"/>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Rounded Rectangle 7">
            <a:extLst xmlns:a="http://schemas.openxmlformats.org/drawingml/2006/main">
              <a:ext uri="{FF2B5EF4-FFF2-40B4-BE49-F238E27FC236}">
                <a16:creationId xmlns:a16="http://schemas.microsoft.com/office/drawing/2014/main" id="{AD8C3C66-D82C-4A2D-A406-3CDB90BA53B0}"/>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B5266489-C9B8-46CC-8143-993526F6790E}"/>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(Conditional Metrics)</a:t>
            </a:r>
          </a:p>
          <a:p xmlns:a="http://schemas.openxmlformats.org/drawingml/2006/main">
            <a:pPr>
              <a:spcBef>
                <a:spcPts val="350"/>
              </a:spcBef>
              <a:buNone/>
              <a:defRPr sz="1150">
                <a:solidFill>
                  <a:srgbClr val="0F172A"/>
                </a:solidFill>
                <a:latin typeface="Calibri"/>
                <a:ea typeface="Calibri"/>
                <a:cs typeface="Calibri"/>
              </a:defRPr>
            </a:pPr>
            <a:r>
              <a:t>•  P(Correct | GT Retrieved) = 0.6000: Xác suất gán đúng quan sát được khi kỹ thuật mục tiêu hiện diện trong Top-k.</a:t>
            </a:r>
          </a:p>
          <a:p xmlns:a="http://schemas.openxmlformats.org/drawingml/2006/main">
            <a:pPr>
              <a:spcBef>
                <a:spcPts val="350"/>
              </a:spcBef>
              <a:buNone/>
              <a:defRPr sz="1150">
                <a:solidFill>
                  <a:srgbClr val="0F172A"/>
                </a:solidFill>
                <a:latin typeface="Calibri"/>
                <a:ea typeface="Calibri"/>
                <a:cs typeface="Calibri"/>
              </a:defRPr>
            </a:pPr>
            <a:r>
              <a:t>•  P(Correct | GT Absent) = 0.0000: Xác suất gán đúng quan sát được khi kỹ thuật mục tiêu vắng mặt trong Top-k (không giả định tự sửa sai nội tại).</a:t>
            </a:r>
          </a:p>
          <a:p xmlns:a="http://schemas.openxmlformats.org/drawingml/2006/main">
            <a:pPr>
              <a:spcBef>
                <a:spcPts val="350"/>
              </a:spcBef>
              <a:buNone/>
              <a:defRPr sz="1150">
                <a:solidFill>
                  <a:srgbClr val="0F172A"/>
                </a:solidFill>
                <a:latin typeface="Calibri"/>
                <a:ea typeface="Calibri"/>
                <a:cs typeface="Calibri"/>
              </a:defRPr>
            </a:pPr>
            <a:r>
              <a:t>•  Macro-F1 &amp; Exact Match: Tính trên không gian kỹ thuật chuẩn Frozen Benchmark Universe (D2d = 474).</a:t>
            </a:r>
          </a:p>
          <a:p xmlns:a="http://schemas.openxmlformats.org/drawingml/2006/main">
            <a:pPr>
              <a:spcBef>
                <a:spcPts val="350"/>
              </a:spcBef>
              <a:buNone/>
              <a:defRPr sz="1150">
                <a:solidFill>
                  <a:srgbClr val="0F172A"/>
                </a:solidFill>
                <a:latin typeface="Calibri"/>
                <a:ea typeface="Calibri"/>
                <a:cs typeface="Calibri"/>
              </a:defRPr>
            </a:pPr>
            <a:r>
              <a:t>•  Fail-Closed Invariant: Provider Fail = 0.0000, Parse Fail = 0.0000, Invalid ID = 0.1667 (tính vào mẫu số).</a:t>
            </a:r>
          </a:p>
        </p:txBody>
      </p:sp>
      <p:sp>
        <p:nvSpPr>
          <p:cNvPr id="10" name="Rounded Rectangle 9">
            <a:extLst xmlns:a="http://schemas.openxmlformats.org/drawingml/2006/main">
              <a:ext uri="{FF2B5EF4-FFF2-40B4-BE49-F238E27FC236}">
                <a16:creationId xmlns:a16="http://schemas.microsoft.com/office/drawing/2014/main" id="{5728ADA4-C967-467E-AC84-A56B9398D81E}"/>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BEB37232-BC02-4E02-B428-B5DC86A7F808}"/>
              </a:ext>
            </a:extLst>
          </p:cNvPr>
          <p:cNvSpPr>
            <a:spLocks xmlns:a="http://schemas.openxmlformats.org/drawingml/2006/main" noGrp="1"/>
          </p:cNvSpPr>
          <p:nvPr/>
        </p:nvSpPr>
        <p:spPr>
          <a:xfrm xmlns:a="http://schemas.openxmlformats.org/drawingml/2006/main">
            <a:off x="6430975"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rPr sz="713" b="1">
                <a:solidFill>
                  <a:srgbClr val="DC2626"/>
                </a:solidFill>
                <a:latin typeface="Calibri"/>
                <a:ea typeface="Calibri"/>
                <a:cs typeface="Calibri"/>
              </a:rPr>
              <a:t>[DIAGNOSTIC TEST FIXTURE ONLY - NOT CANONICAL NUMERICAL RESULTS]</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Bảng Đối Chứng Hiệu Năng RQ1 (Diagnostic Fixture):</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Condition      Accuracy    Macro-F1 (474 lớp)    Delta vs No-RAG</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no_rag         0.5000      0.0929                baseline</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rag_k1         0.5200      0.1000                +0.0200 (+0.0071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rag_k3         0.5500      0.1200                +0.0500 (+0.0271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rag_k5         0.5800      0.1400                +0.0800 (+0.0471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rag_k10        0.6000      0.1600                +0.1000 (+0.0671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Best Condition (Max Accuracy): rag_k10 (Delta Acc = +0.1000, Delta F1 = +0.0671)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Absolute Accuracy 95% CIs: no_rag=[0.3500, 0.6500], k1=[0.3600, 0.6600], k3=[0.3800, 0.6800], k5=[0.4100, 0.7100], k10=[0.4300, 0.7300]</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RQ2 Phân rã lỗi (k=10): Wrong Class = 0.3333 | Overlaps: Miss&amp;Wrong=0, Prov=0, Parse=0, Inval=0</a:t>
            </a:r>
          </a:p>
        </p:txBody>
      </p:sp>
    </p:spTree>
    <p:extLst>
      <p:ext uri="{BB962C8B-B14F-4D97-AF65-F5344CB8AC3E}">
        <p14:creationId xmlns:p14="http://schemas.microsoft.com/office/powerpoint/2010/main" val="15498925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D28292C-D21B-4B40-854D-EEA25083F92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5F58E0FD-EFE6-400F-80FE-1747392F6CDC}"/>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6BFEF9BB-1D00-4C27-9BDB-D1169294BD63}"/>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15CB8889-BD42-4A57-8759-B3955D40DD19}"/>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Dữ liệu DEV pilot (synthetic split) đối chiếu Dự phóng Hạch toán Fixture [DIAGNOSTIC TEST FIXTURE ONLY]</a:t>
            </a:r>
          </a:p>
        </p:txBody>
      </p:sp>
      <p:sp>
        <p:nvSpPr>
          <p:cNvPr id="6" name="Rounded Rectangle 5">
            <a:extLst xmlns:a="http://schemas.openxmlformats.org/drawingml/2006/main">
              <a:ext uri="{FF2B5EF4-FFF2-40B4-BE49-F238E27FC236}">
                <a16:creationId xmlns:a16="http://schemas.microsoft.com/office/drawing/2014/main" id="{34975B01-D92D-45C2-BE88-487F21B95A54}"/>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4893621C-C620-4095-B126-79EDCD09B4CD}"/>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63" b="1">
                <a:solidFill>
                  <a:srgbClr val="1E40AF"/>
                </a:solidFill>
                <a:latin typeface="Calibri"/>
                <a:ea typeface="Calibri"/>
                <a:cs typeface="Calibri"/>
              </a:rPr>
              <a:t>DEV Pilot Telemetry &amp; Hạch Toán Nghiên Cứu [DIAGNOSTIC TEST FIXTURE ONLY - NOT CANONICAL NUMERICAL RESULTS]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1: HISTORICAL DEV PILOT BASELINE (20 Requests Responses API)</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Dữ liệu DEV pilot lịch sử: 20 requests (4 views x 5 điều kiện, tổng chi phí ~$0.0242 USD).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Ghi chú phân định tuyệt đối: Request thực tế không biến log tổng hợp thành in-the-wild telemetry.</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2: DIAGNOSTIC TEST FIXTURE TELEMETRY (N=718 Scorable Views)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no_rag: trễ trung vị 7.89s (trung bình 2.90s) | 643.0 prompt tokens | ~0.000390 USD / logical req.</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rag_k10: trễ trung vị 9.90s (trung bình 4.37s) | 4536.5 prompt tokens | ~0.001870 USD / logical req.</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3: WHOLE STUDY FINANCIAL ACCOUNTING (6,400 Matrix Canonical Conditions)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Hạch toán toàn thể điều kiện chuẩn (Canonical Total): 8.50 USD ($6.57575890 USD đã quyết toán).</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Khoản giữ chỗ thận trọng pilot tạm thời: 0.05264010 USD (prior_pilot_provisional_hold_usd).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Tổng chi phí đã cam kết hạch toán: $6.63 USD ($6.62839900 USD total accounted spend).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Ngân sách chưa cam kết còn lại (Net Remaining): 11.44 USD ($13.36160100 USD khả dụng).</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Trần ngân sách đóng băng cứng (Hard Budget Cap): 19.99 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58da3dcd2ff14277"/>
          <a:stretch xmlns:a="http://schemas.openxmlformats.org/drawingml/2006/main">
            <a:fillRect l="0" t="0" r="0" b="0"/>
          </a:stretch>
        </p:blipFill>
        <p:spPr>
          <a:xfrm xmlns:a="http://schemas.openxmlformats.org/drawingml/2006/main">
            <a:off x="6248095" y="1234440"/>
            <a:ext cx="5212080" cy="2132215"/>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386CC619-F029-481F-BF92-EC25D11F687A}"/>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ECBFEA72-0D73-4D75-BEF1-391478E99CA4}"/>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50"/>
              </a:spcBef>
              <a:buNone/>
              <a:defRPr sz="1100">
                <a:solidFill>
                  <a:srgbClr val="0F172A"/>
                </a:solidFill>
                <a:latin typeface="Calibri"/>
                <a:ea typeface="Calibri"/>
                <a:cs typeface="Calibri"/>
              </a:defRPr>
            </a:pPr>
            <a:r>
              <a:t>•  Tăng k từ 1 lên 10 giúp tăng Hit rate từ 4.2% lên 45.1%, nhưng lượng token đầu vào tăng ~4x.</a:t>
            </a:r>
          </a:p>
          <a:p xmlns:a="http://schemas.openxmlformats.org/drawingml/2006/main">
            <a:pPr>
              <a:spcBef>
                <a:spcPts val="250"/>
              </a:spcBef>
              <a:buNone/>
              <a:defRPr sz="1100">
                <a:solidFill>
                  <a:srgbClr val="0F172A"/>
                </a:solidFill>
                <a:latin typeface="Calibri"/>
                <a:ea typeface="Calibri"/>
                <a:cs typeface="Calibri"/>
              </a:defRPr>
            </a:pPr>
            <a:r>
              <a:t>•  Dự báo chuẩn tắc tập TEST: 8.50 USD nằm an toàn dưới trần ngân sách đóng băng 19.99 USD [DIAGNOSTIC FIXTURE].</a:t>
            </a:r>
          </a:p>
        </p:txBody>
      </p:sp>
    </p:spTree>
    <p:extLst>
      <p:ext uri="{BB962C8B-B14F-4D97-AF65-F5344CB8AC3E}">
        <p14:creationId xmlns:p14="http://schemas.microsoft.com/office/powerpoint/2010/main" val="118224435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035EBE8-53DD-45B4-88A8-DC99A6640FE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CD44846-3032-4665-A874-9DB23538852C}"/>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541B6A31-FE42-4FDC-BD2F-28666C6A4AF8}"/>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201C9F79-B2CE-4488-B86D-42A035D4B0E3}"/>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a:t>
            </a:r>
          </a:p>
        </p:txBody>
      </p:sp>
      <p:sp>
        <p:nvSpPr>
          <p:cNvPr id="6" name="Rounded Rectangle 5">
            <a:extLst xmlns:a="http://schemas.openxmlformats.org/drawingml/2006/main">
              <a:ext uri="{FF2B5EF4-FFF2-40B4-BE49-F238E27FC236}">
                <a16:creationId xmlns:a16="http://schemas.microsoft.com/office/drawing/2014/main" id="{369C9FB8-3F1B-484C-82B2-7E43D80A6041}"/>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B7D4578-8594-416E-B8F7-9F861D1E7A49}"/>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Rounded Rectangle 7">
            <a:extLst xmlns:a="http://schemas.openxmlformats.org/drawingml/2006/main">
              <a:ext uri="{FF2B5EF4-FFF2-40B4-BE49-F238E27FC236}">
                <a16:creationId xmlns:a16="http://schemas.microsoft.com/office/drawing/2014/main" id="{9CE6973E-3518-4EE3-A2D7-994A0E635478}"/>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0C36BE4-7CA5-458D-9FB0-5B698D16067D}"/>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Rounded Rectangle 9">
            <a:extLst xmlns:a="http://schemas.openxmlformats.org/drawingml/2006/main">
              <a:ext uri="{FF2B5EF4-FFF2-40B4-BE49-F238E27FC236}">
                <a16:creationId xmlns:a16="http://schemas.microsoft.com/office/drawing/2014/main" id="{CA95DEB7-E756-4724-B9F8-C29E83263C12}"/>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B5477A4D-0990-4359-B0BF-9E1814D8F50B}"/>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170428552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FFABAE1-FF17-47D0-9C48-F05D44B445F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27E8A66-3F9A-40AA-AA0C-9EFBDFBF7FD1}"/>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919A8047-8884-42B9-81E8-1815DF8B0DC3}"/>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543EEE72-DEDE-4489-B2CD-A1F67E8ED7F5}"/>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a:t>
            </a:r>
          </a:p>
        </p:txBody>
      </p:sp>
      <p:sp>
        <p:nvSpPr>
          <p:cNvPr id="6" name="Rounded Rectangle 5">
            <a:extLst xmlns:a="http://schemas.openxmlformats.org/drawingml/2006/main">
              <a:ext uri="{FF2B5EF4-FFF2-40B4-BE49-F238E27FC236}">
                <a16:creationId xmlns:a16="http://schemas.microsoft.com/office/drawing/2014/main" id="{B9F91D04-F16A-434B-84B3-CA801F111095}"/>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9A98039-C969-434E-A561-AC2F6095A8BB}"/>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Rounded Rectangle 7">
            <a:extLst xmlns:a="http://schemas.openxmlformats.org/drawingml/2006/main">
              <a:ext uri="{FF2B5EF4-FFF2-40B4-BE49-F238E27FC236}">
                <a16:creationId xmlns:a16="http://schemas.microsoft.com/office/drawing/2014/main" id="{834515B1-FA97-48DA-BC78-59A4E2D0CADB}"/>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1ED0C34F-3BE1-4104-9DFC-C75BC952D566}"/>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chống rò rỉ nhãn đầu tiên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133103304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BB52EC8-E2E4-4C5B-AD9C-34AA3201A40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2A541938-7315-4F3B-B40E-D4C80FCC3527}"/>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5F149EF5-3AB6-4FEB-9594-C48DA41E8A71}"/>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giả thuyết RQ2 về mức độ ảnh hưởng nhân quả của retrieval đang được kiểm chứng đối chứng trên ma trận TEST.</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không giả định độc lập xác suất ngẫu nhiên.</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p:txBody>
      </p:sp>
    </p:spTree>
    <p:extLst>
      <p:ext uri="{BB962C8B-B14F-4D97-AF65-F5344CB8AC3E}">
        <p14:creationId xmlns:p14="http://schemas.microsoft.com/office/powerpoint/2010/main" val="63544655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2026-10-02T09:57:32.8350000Z</dcterms:created>
  <dcterms:modified xsi:type="dcterms:W3CDTF">2026-10-02T09:57:32.8360000Z</dcterms:modified>
</coreProperties>
</file>