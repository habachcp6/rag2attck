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848f257f9524519" /><Relationship Type="http://schemas.openxmlformats.org/officeDocument/2006/relationships/extended-properties" Target="/docProps/app.xml" Id="R3f25b4c11cde48af" /><Relationship Type="http://schemas.openxmlformats.org/officeDocument/2006/relationships/officeDocument" Target="/ppt/presentation.xml" Id="R1aabce62fa3a4bfb" /></Relationships>
</file>

<file path=ppt/presentation.xml><?xml version="1.0" encoding="utf-8"?>
<p:presentation xmlns:p="http://schemas.openxmlformats.org/presentationml/2006/main">
  <p:sldMasterIdLst>
    <p:sldMasterId xmlns:r="http://schemas.openxmlformats.org/officeDocument/2006/relationships" id="2147483648" r:id="Re83606f4b3cd4a6c"/>
  </p:sldMasterIdLst>
  <p:notesMasterIdLst>
    <p:notesMasterId xmlns:r="http://schemas.openxmlformats.org/officeDocument/2006/relationships" r:id="Rb98fb851a9004693"/>
  </p:notesMasterIdLst>
  <p:sldIdLst>
    <p:sldId xmlns:r="http://schemas.openxmlformats.org/officeDocument/2006/relationships" id="256" r:id="Rc72db5862dc744cd"/>
    <p:sldId xmlns:r="http://schemas.openxmlformats.org/officeDocument/2006/relationships" id="257" r:id="R847ef263d8c84ea2"/>
    <p:sldId xmlns:r="http://schemas.openxmlformats.org/officeDocument/2006/relationships" id="258" r:id="R421d86f0cbf54a3f"/>
    <p:sldId xmlns:r="http://schemas.openxmlformats.org/officeDocument/2006/relationships" id="259" r:id="Ra0ee6b1df59c400b"/>
    <p:sldId xmlns:r="http://schemas.openxmlformats.org/officeDocument/2006/relationships" id="260" r:id="R9c40e427af924bf6"/>
    <p:sldId xmlns:r="http://schemas.openxmlformats.org/officeDocument/2006/relationships" id="261" r:id="Ra1bfcc8411cf4d6f"/>
    <p:sldId xmlns:r="http://schemas.openxmlformats.org/officeDocument/2006/relationships" id="262" r:id="Rc581e41578ab494f"/>
    <p:sldId xmlns:r="http://schemas.openxmlformats.org/officeDocument/2006/relationships" id="263" r:id="R62576bcb9b6a4eed"/>
    <p:sldId xmlns:r="http://schemas.openxmlformats.org/officeDocument/2006/relationships" id="264" r:id="Rd321c64c8e64467a"/>
    <p:sldId xmlns:r="http://schemas.openxmlformats.org/officeDocument/2006/relationships" id="265" r:id="R60c66094471d4eb3"/>
    <p:sldId xmlns:r="http://schemas.openxmlformats.org/officeDocument/2006/relationships" id="266" r:id="R75481b05ea3b4d2d"/>
    <p:sldId xmlns:r="http://schemas.openxmlformats.org/officeDocument/2006/relationships" id="267" r:id="Rb613b301df2d45e1"/>
  </p:sldIdLst>
  <p:sldSz cx="12191695" cy="6858000"/>
  <p:notesSz cx="6858000" cy="9144000"/>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5186934ce1af4d22" /><Relationship Type="http://schemas.openxmlformats.org/officeDocument/2006/relationships/slideMaster" Target="/ppt/slideMasters/slideMaster1.xml" Id="Re83606f4b3cd4a6c" /><Relationship Type="http://schemas.openxmlformats.org/officeDocument/2006/relationships/notesMaster" Target="/ppt/notesMasters/notesMaster1.xml" Id="Rb98fb851a9004693" /><Relationship Type="http://schemas.openxmlformats.org/officeDocument/2006/relationships/presProps" Target="/ppt/presProps.xml" Id="R9ae83d298621424b" /><Relationship Type="http://schemas.openxmlformats.org/officeDocument/2006/relationships/viewProps" Target="/ppt/viewProps.xml" Id="R3f588972f20d4999" /><Relationship Type="http://schemas.openxmlformats.org/officeDocument/2006/relationships/tableStyles" Target="/ppt/tableStyles.xml" Id="R80699d1af73d438d" /><Relationship Type="http://schemas.openxmlformats.org/officeDocument/2006/relationships/slide" Target="/ppt/slides/slide1.xml" Id="Rc72db5862dc744cd" /><Relationship Type="http://schemas.openxmlformats.org/officeDocument/2006/relationships/slide" Target="/ppt/slides/slide2.xml" Id="R847ef263d8c84ea2" /><Relationship Type="http://schemas.openxmlformats.org/officeDocument/2006/relationships/slide" Target="/ppt/slides/slide3.xml" Id="R421d86f0cbf54a3f" /><Relationship Type="http://schemas.openxmlformats.org/officeDocument/2006/relationships/slide" Target="/ppt/slides/slide4.xml" Id="Ra0ee6b1df59c400b" /><Relationship Type="http://schemas.openxmlformats.org/officeDocument/2006/relationships/slide" Target="/ppt/slides/slide5.xml" Id="R9c40e427af924bf6" /><Relationship Type="http://schemas.openxmlformats.org/officeDocument/2006/relationships/slide" Target="/ppt/slides/slide6.xml" Id="Ra1bfcc8411cf4d6f" /><Relationship Type="http://schemas.openxmlformats.org/officeDocument/2006/relationships/slide" Target="/ppt/slides/slide7.xml" Id="Rc581e41578ab494f" /><Relationship Type="http://schemas.openxmlformats.org/officeDocument/2006/relationships/slide" Target="/ppt/slides/slide8.xml" Id="R62576bcb9b6a4eed" /><Relationship Type="http://schemas.openxmlformats.org/officeDocument/2006/relationships/slide" Target="/ppt/slides/slide9.xml" Id="Rd321c64c8e64467a" /><Relationship Type="http://schemas.openxmlformats.org/officeDocument/2006/relationships/slide" Target="/ppt/slides/slide10.xml" Id="R60c66094471d4eb3" /><Relationship Type="http://schemas.openxmlformats.org/officeDocument/2006/relationships/slide" Target="/ppt/slides/slide11.xml" Id="R75481b05ea3b4d2d" /><Relationship Type="http://schemas.openxmlformats.org/officeDocument/2006/relationships/slide" Target="/ppt/slides/slide12.xml" Id="Rb613b301df2d45e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8650dff58e8440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b79d9e1b6eb4edd" /><Relationship Type="http://schemas.openxmlformats.org/officeDocument/2006/relationships/notesMaster" Target="/ppt/notesMasters/notesMaster1.xml" Id="R1f3ad873823a41e3" /></Relationships>
</file>

<file path=ppt/notesSlides/_rels/notesSlide2.xml.rels>&#65279;<?xml version="1.0" encoding="utf-8"?><Relationships xmlns="http://schemas.openxmlformats.org/package/2006/relationships"><Relationship Type="http://schemas.openxmlformats.org/officeDocument/2006/relationships/slide" Target="/ppt/slides/slide2.xml" Id="Rb0ce96e257b84acf" /><Relationship Type="http://schemas.openxmlformats.org/officeDocument/2006/relationships/notesMaster" Target="/ppt/notesMasters/notesMaster1.xml" Id="R122bdacea0864b9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d352faad4da4972" /><Relationship Type="http://schemas.openxmlformats.org/officeDocument/2006/relationships/notesMaster" Target="/ppt/notesMasters/notesMaster1.xml" Id="Ra196b40eeddb4004" /></Relationships>
</file>

<file path=ppt/notesSlides/_rels/notesSlide4.xml.rels>&#65279;<?xml version="1.0" encoding="utf-8"?><Relationships xmlns="http://schemas.openxmlformats.org/package/2006/relationships"><Relationship Type="http://schemas.openxmlformats.org/officeDocument/2006/relationships/slide" Target="/ppt/slides/slide4.xml" Id="R52b8cb7f0a264b8e" /><Relationship Type="http://schemas.openxmlformats.org/officeDocument/2006/relationships/notesMaster" Target="/ppt/notesMasters/notesMaster1.xml" Id="R02283abec42041e8" /></Relationships>
</file>

<file path=ppt/notesSlides/_rels/notesSlide5.xml.rels>&#65279;<?xml version="1.0" encoding="utf-8"?><Relationships xmlns="http://schemas.openxmlformats.org/package/2006/relationships"><Relationship Type="http://schemas.openxmlformats.org/officeDocument/2006/relationships/slide" Target="/ppt/slides/slide5.xml" Id="R2b776237c7c3408d" /><Relationship Type="http://schemas.openxmlformats.org/officeDocument/2006/relationships/notesMaster" Target="/ppt/notesMasters/notesMaster1.xml" Id="R2b4b4041bca84864" /></Relationships>
</file>

<file path=ppt/notesSlides/_rels/notesSlide6.xml.rels>&#65279;<?xml version="1.0" encoding="utf-8"?><Relationships xmlns="http://schemas.openxmlformats.org/package/2006/relationships"><Relationship Type="http://schemas.openxmlformats.org/officeDocument/2006/relationships/slide" Target="/ppt/slides/slide6.xml" Id="Rc5907f2830b044e0" /><Relationship Type="http://schemas.openxmlformats.org/officeDocument/2006/relationships/notesMaster" Target="/ppt/notesMasters/notesMaster1.xml" Id="Rb19b857a0af147a1" /></Relationships>
</file>

<file path=ppt/notesSlides/_rels/notesSlide7.xml.rels>&#65279;<?xml version="1.0" encoding="utf-8"?><Relationships xmlns="http://schemas.openxmlformats.org/package/2006/relationships"><Relationship Type="http://schemas.openxmlformats.org/officeDocument/2006/relationships/slide" Target="/ppt/slides/slide7.xml" Id="R6e2fc5f8ff944a4c" /><Relationship Type="http://schemas.openxmlformats.org/officeDocument/2006/relationships/notesMaster" Target="/ppt/notesMasters/notesMaster1.xml" Id="R2c38aaadf72d4592" /></Relationships>
</file>

<file path=ppt/notesSlides/_rels/notesSlide8.xml.rels>&#65279;<?xml version="1.0" encoding="utf-8"?><Relationships xmlns="http://schemas.openxmlformats.org/package/2006/relationships"><Relationship Type="http://schemas.openxmlformats.org/officeDocument/2006/relationships/slide" Target="/ppt/slides/slide8.xml" Id="R72344945b9b64052" /><Relationship Type="http://schemas.openxmlformats.org/officeDocument/2006/relationships/notesMaster" Target="/ppt/notesMasters/notesMaster1.xml" Id="R56722ca74c534d07" /></Relationships>
</file>

<file path=ppt/notesSlides/_rels/notesSlide9.xml.rels>&#65279;<?xml version="1.0" encoding="utf-8"?><Relationships xmlns="http://schemas.openxmlformats.org/package/2006/relationships"><Relationship Type="http://schemas.openxmlformats.org/officeDocument/2006/relationships/slide" Target="/ppt/slides/slide9.xml" Id="R85c12debe35344e5" /><Relationship Type="http://schemas.openxmlformats.org/officeDocument/2006/relationships/notesMaster" Target="/ppt/notesMasters/notesMaster1.xml" Id="R95f18095a9df4e0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cf3f214f01d40d0" /><Relationship Type="http://schemas.openxmlformats.org/officeDocument/2006/relationships/notesMaster" Target="/ppt/notesMasters/notesMaster1.xml" Id="R02628abd0fb6467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2f346aaa1b442da" /><Relationship Type="http://schemas.openxmlformats.org/officeDocument/2006/relationships/notesMaster" Target="/ppt/notesMasters/notesMaster1.xml" Id="R36be917a11e442d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fd3fc86e4474744" /><Relationship Type="http://schemas.openxmlformats.org/officeDocument/2006/relationships/notesMaster" Target="/ppt/notesMasters/notesMaster1.xml" Id="R32ca8ff767eb41d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a:t>
            </a:r>
          </a:p>
          <a:p xmlns:a="http://schemas.openxmlformats.org/drawingml/2006/main">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xmlns:a="http://schemas.openxmlformats.org/drawingml/2006/main">
            <a:r>
              <a:t>Khai báo tác tạo: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config/canonical_experiment_lock_v1.json (SHA-256: 961ba9b3e9e1b459a6694a5c8c76424d36c89d65bd4d88b14d0b0de7e4c017ac); reports/experiment_protocol_v1.md (SHA-256: d3bf3d31ad307100ac437a7daecc470bf12de9ada49f19de3d77592d5a21974c); scripts/reproduce_study.py.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2):</a:t>
            </a:r>
          </a:p>
          <a:p xmlns:a="http://schemas.openxmlformats.org/drawingml/2006/main">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xmlns:a="http://schemas.openxmlformats.org/drawingml/2006/main">
            <a:r>
              <a:t>Bằng chứng dự án: docs/README_PROPOSED.md; config/canonical_experiment_lock_v1.json (SHA-256: 961ba9b3...); reports/experiment_protocol_v1.md (D3 policy); tests/test_attack_id_validation.py.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3):</a:t>
            </a:r>
          </a:p>
          <a:p xmlns:a="http://schemas.openxmlformats.org/drawingml/2006/main">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xmlns:a="http://schemas.openxmlformats.org/drawingml/2006/main">
            <a:r>
              <a:t>Bằng chứng dự án: prompts/baseline_v1.txt (SHA-256: b751fde1ee33b03ebca935e478ffef3ff03ff8bcf440263309a039755ab0f7cf); attack/corpus/enterprise-windows-v19.2.jsonl (SHA-256: b219341154ddf2f12e97d622158a04ab7d57641df6a865559258d365852c3c75); config/experiment_config.json; tests/test_rag_pipeline.py.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4):</a:t>
            </a:r>
          </a:p>
          <a:p xmlns:a="http://schemas.openxmlformats.org/drawingml/2006/main">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xmlns:a="http://schemas.openxmlformats.org/drawingml/2006/main">
            <a:r>
              <a:t>Bằng chứng dự án: data/ground_truth/synthetic/inference.jsonl (SHA-256: 90d5f59e64f669f9d7990520625906d40081d5aa112521c7bb5e2f750b3e5fbf); data/ground_truth/synthetic/pairs.json (SHA-256: 079e57a441b18d12351bb9715fc4b0a43058a9ceb68a8670c5e7bfa5dbad3ca8); tests/test_benchmark_inputs.py; tests/test_synthetic_freeze.py.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5):</a:t>
            </a:r>
          </a:p>
          <a:p xmlns:a="http://schemas.openxmlformats.org/drawingml/2006/main">
            <a:r>
              <a:t>Giao thức thực nghiệm v1.1 đóng băng 7 quyết định phương pháp luận cốt lõi D1-D7 và được tách bạch rõ ràng từng nhãn:</a:t>
            </a:r>
          </a:p>
          <a:p xmlns:a="http://schemas.openxmlformats.org/drawingml/2006/main">
            <a:r>
              <a:t>- D2d: Vũ trụ Macro-F1 cố định đúng 474 lớp (FROZEN_BENCHMARK_UNIVERSE = 474).</a:t>
            </a:r>
          </a:p>
          <a:p xmlns:a="http://schemas.openxmlformats.org/drawingml/2006/main">
            <a:r>
              <a:t>- D2e: invalid_id_as_failure (INCLUDE_IN_DENOMINATOR cho mã sai cú pháp/ảo giác).</a:t>
            </a:r>
          </a:p>
          <a:p xmlns:a="http://schemas.openxmlformats.org/drawingml/2006/main">
            <a:r>
              <a:t>- D2f: api_failure_as_failure (INCLUDE_IN_DENOMINATOR cho lỗi provider/timeout/parser).</a:t>
            </a:r>
          </a:p>
          <a:p xmlns:a="http://schemas.openxmlformats.org/drawingml/2006/main">
            <a:r>
              <a:t>- D2g: ALLOW_HISTORICAL chấp nhận các mã lịch sử/thu hồi dưới dạng distinct observation count, không tự ý gán lại mã thay thế.</a:t>
            </a:r>
          </a:p>
          <a:p xmlns:a="http://schemas.openxmlformats.org/drawingml/2006/main">
            <a:r>
              <a:t>- D2h: ANY_GT_RETRIEVED cho multi-label retrieval success.</a:t>
            </a:r>
          </a:p>
          <a:p xmlns:a="http://schemas.openxmlformats.org/drawingml/2006/main">
            <a:r>
              <a:t>- D2i: INDEPENDENT_AXES ghi nhận đầy đủ phần giao thoa giữa các trục đo lường lỗi.</a:t>
            </a:r>
          </a:p>
          <a:p xmlns:a="http://schemas.openxmlformats.org/drawingml/2006/main">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6):</a:t>
            </a:r>
          </a:p>
          <a:p xmlns:a="http://schemas.openxmlformats.org/drawingml/2006/main">
            <a:r>
              <a:t>Chẩn đoán độc lập khâu tìm kiếm (RQ2) trên 756 positive views cho thấy Hit@10 chỉ đạt 45.11%, nghĩa là trong 54.89% trường hợp, kỹ thuật đúng hoàn toàn vắng bóng trong Top-10 gửi cho LLM. Điển hình là kỹ thuật T1136.001 với 0/99 lần trúng Top-10 do khoảng cách ngữ nghĩa giữa Event ID 4720 và STIX description. Chúng tôi đặt ra giả thuyết Context Scaling &amp; Dilution (k=1,3,5,10): tăng k cải thiện độ phủ nhưng tăng nguy cơ nhiễu distractor; giả thuyết này đang được kiểm chứng thực nghiệm đối chứng end-to-end.</a:t>
            </a:r>
          </a:p>
          <a:p xmlns:a="http://schemas.openxmlformats.org/drawingml/2006/main">
            <a:r>
              <a:t>Bằng chứng dự án: outputs/reproduction/figures/fig_rq2_retrieval_hit_rates.png; outputs/reproduction/tables/table_1_retrieval_diagnostics.md; tests/test_retrieval_diagnostics.py.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7):</a:t>
            </a:r>
          </a:p>
          <a:p xmlns:a="http://schemas.openxmlformats.org/drawingml/2006/main">
            <a:r>
              <a:t>So sánh đối ứng trên 296 cặp anchor chuẩn chỉ ra rằng biểu diễn Single-event đạt thứ hạng tìm kiếm tốt hơn Contextual-event (65 cặp vs 23 cặp), và hơn 70% có thứ hạng tương đương (phần lớn do cả hai cùng trượt Top-10). Điều này cho thấy việc đưa thêm log nền gây hiện tượng benign drift. Chúng tôi thiết lập schema so sánh đối chứng scaffold giữa Zero-Shot No-RAG, Zero-Shot RAG và các prompt scaffold, hiện đang được gắn nhãn [DIAGNOSTIC TEST FIXTURE ONLY - NOT CANONICAL NUMERICAL RESULTS]; kết quả đối chứng trên diagnostic cohort (n=718 views across 440 clusters) ghi nhận quan sát mô tả độc lập.</a:t>
            </a:r>
          </a:p>
          <a:p xmlns:a="http://schemas.openxmlformats.org/drawingml/2006/main">
            <a:r>
              <a:t>Bằng chứng dự án: scripts/verify_t20_canonical_artifacts.py; outputs/reproduction/tables/table_4_pairwise_representation_comparison.md; tests/test_t20_canonical_artifacts.py.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8):</a:t>
            </a:r>
          </a:p>
          <a:p xmlns:a="http://schemas.openxmlformats.org/drawingml/2006/main">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 Các chỉ số có điều kiện P(Correct | GT in Top-k) và P(Correct | GT NOT in Top-k) cho phép định lượng xem LLM có bị đánh lừa bởi distractor hay có thể gán đúng khi thiếu ngữ cảnh truy xuất (không giả định năng lực tự sửa sai nội tại). Toàn bộ ma trận chính thức 6,400 bản ghi đang chạy; tính đúng đắn toán học của Evaluator đã được chứng minh qua 5 test fixtures.</a:t>
            </a:r>
          </a:p>
          <a:p xmlns:a="http://schemas.openxmlformats.org/drawingml/2006/main">
            <a:r>
              <a:t>Bằng chứng dự án: reports/experiment_protocol_v1.md (D2e, D2f, D2h, D2i; SHA-256: d3bf3d31...); tests/test_experiment_evaluation.py (94 tests pass).</a:t>
            </a:r>
          </a:p>
          <a:p xmlns:a="http://schemas.openxmlformats.org/drawingml/2006/main">
            <a:r>
              <a:t>[DIAGNOSTIC TEST FIXTURE STATS] Khoảng tin cậy 95% Bootstrap (B=1000): no_rag=[0.3500, 0.6500], rag_k1=[0.3500, 0.6500], rag_k3=[0.3500, 0.6500], rag_k5=[0.3500, 0.6500], rag_k10=[0.3500, 0.6500]. Đo lường phân rã lỗi D2i độc lập: Wrong Class Rate=0.3333, Overlaps (Miss &amp; Wrong=0, Miss &amp; Prov=0, Miss &amp; Parse=0, Miss &amp; Inval=0).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9):</a:t>
            </a:r>
          </a:p>
          <a:p xmlns:a="http://schemas.openxmlformats.org/drawingml/2006/main">
            <a:r>
              <a:t>Trong phân tích RQ3, chúng tôi làm rõ các khái niệm chi phí và dữ liệu:</a:t>
            </a:r>
          </a:p>
          <a:p xmlns:a="http://schemas.openxmlformats.org/drawingml/2006/main">
            <a:r>
              <a:t>1. Dữ liệu DEV là dữ liệu tổng hợp (synthetic-paired-v1 DEV split, 4 views x 5 nhánh). Việc gửi request lên OpenAI không biến log tổng hợp thành dữ liệu thực địa in-the-wild.</a:t>
            </a:r>
          </a:p>
          <a:p xmlns:a="http://schemas.openxmlformats.org/drawingml/2006/main">
            <a:r>
              <a:t>2. Chi phí pilot 20 request ($0.024209 USD standard, $0.026320 USD conservative) là 'Chi phí hạch toán ước tính từ token quan sát được và biểu giá công bố', vì chúng tôi chưa có hóa đơn quyết toán chính thức từ OpenAI.</a:t>
            </a:r>
          </a:p>
          <a:p xmlns:a="http://schemas.openxmlformats.org/drawingml/2006/main">
            <a:r>
              <a:t>3. Con số ~$0.00165/query là ước tính ban đầu tại nhánh k=3 do độ dài reasoning output.</a:t>
            </a:r>
          </a:p>
          <a:p xmlns:a="http://schemas.openxmlformats.org/drawingml/2006/main">
            <a:r>
              <a:t>4. Phân biệt rõ khoản giữ chỗ thận trọng tạm thời ($0.05264010 USD prior_pilot_provisional_hold_usd), dự báo chuẩn tắc tập TEST (hạch toán điều kiện chuẩn $8.50 USD (dự báo 6,400 requests) [DIAGNOSTIC FIXTURE PROJECTION]), và trần ngân sách đóng băng cứng $19.99 USD (hard_budget_limit_usd).</a:t>
            </a:r>
          </a:p>
          <a:p xmlns:a="http://schemas.openxmlformats.org/drawingml/2006/main">
            <a:r>
              <a:t>Bằng chứng dự án: config/experiment_config.json (hard_budget_limit_usd: 19.99); reports/evidence/dev_cost_pilot_20261001/summary.json (SHA-256: f8dfe994...); tests/test_monetary_guard.py.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10):</a:t>
            </a:r>
          </a:p>
          <a:p xmlns:a="http://schemas.openxmlformats.org/drawingml/2006/main">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Để đảm bảo an toàn, mọi quy trình kiểm thử tái lập phải thực thi qua runner offline scripts/run_offline_tests.py nhằm đánh chặn các kết nối mạng ngẫu nhiên ở tầng socket Python.</a:t>
            </a:r>
          </a:p>
          <a:p xmlns:a="http://schemas.openxmlformats.org/drawingml/2006/main">
            <a:r>
              <a:t>Bằng chứng dự án: docs/reproducibility.md; scripts/run_offline_tests.py; tests/test_offline_guard.py (OFFLINE_GUARD egress=0).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11):</a:t>
            </a:r>
          </a:p>
          <a:p xmlns:a="http://schemas.openxmlformats.org/drawingml/2006/main">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xmlns:a="http://schemas.openxmlformats.org/drawingml/2006/main">
            <a:r>
              <a:t>Bằng chứng dự án: config/canonical_experiment_lock_v1.json (SHA-256: 961ba9b3...); scripts/reproduce_study.py; scripts/run_offline_tests.py; tests/test_smoke_cases.py.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12):</a:t>
            </a:r>
          </a:p>
          <a:p xmlns:a="http://schemas.openxmlformats.org/drawingml/2006/main">
            <a:r>
              <a:t>Tóm lại, RAG2ATT&amp;CK đo lường thực nghiệm đối chứng vai trò của RAG trong bài toán ánh xạ log Windows sang ATT&amp;CK techniques. Các phát hiện hiện tại phản ánh phạm vi đo lường thực nghiệm và các giả thuyết đang chờ hoàn tất ma trận TEST. Chúng tôi nhấn mạnh tính trung thực khoa học: phân rã lỗi D2i theo các trục đo lường độc lập không giả định độc lập xác suất ngẫu nhiên, và quy trình tái lập sử dụng runner can thiệp socket tầng ứng dụng.</a:t>
            </a:r>
          </a:p>
          <a:p xmlns:a="http://schemas.openxmlformats.org/drawingml/2006/main">
            <a:r>
              <a:t>Khai báo công cụ: Toàn bộ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PR #26 (https://github.com/habachcp6/RAG2ATTCK/pull/26); docs/sanitized_evidence_manifest.json; reports/evidence/reproducibility_package_manifest.md.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3273898edc245f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1162b28b9449c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596b8270d214dd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05e0fadedc84f5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0f196680b27439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9bc05a97b524872"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e8f06c54422d480b"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c1e3c8c637d34855"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e07202922d724332"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90dcce2fd7dd4356"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7fe7497da8d14d13"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44F11A1-D9D1-40B6-898B-E87A0B75CFDC}"/>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930DB4F5-6C16-4C90-9478-D11BE04AD3CF}"/>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2364297E-B181-4E7C-BDED-C296B0D1BAF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BF34AB5-9A20-4CA0-94B6-782FB47F22B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87126F1A-131C-41AF-BA89-AFF5A89008B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03F5ED4-660F-408A-91E0-BDF4E256A2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B285F96D-8E36-4D7E-A86F-FB6C84EEC949}"/>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63008C74-E11C-4D9E-884F-F7A8A6ABD92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C9CB7494-8C35-4104-8C7D-35000602C07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0046C53-9EB5-458C-B52B-73CEF742106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8533217-2BA5-454A-801E-72AED4AC6A05}"/>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46724E04-F1A3-471E-BADA-8EB3FCB4E579}"/>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4EE7551C-5DC5-44E4-83F8-B3A556CF17C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0918039C-14A0-4DA5-AA09-558494AD491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D912306-96C3-4E48-A525-AFCC36EAB5A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A0AE7F1-3363-4D74-9B78-EF2B1D7D6A2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84E3B196-8AF3-4E16-B832-D6A52E21AA27}"/>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0E2382F8-C4EE-40C4-83D1-1775F65ACE29}"/>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74D76EB9-61C9-4774-A4BE-CB31AF7A174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54969EF2-40FB-4F00-8CA4-3569D46160F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1894F93-5FFB-4396-A9C4-1EC45C52364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6BCBE43-05DB-4482-8F13-26FF27B33BF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1D684AD9-C775-446C-B73D-8E05C78741B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735C2CAD-5DDF-4A9A-A4BA-D09860F9034A}"/>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BF80CB5B-E209-43DE-BE45-F4FBA700C3E5}"/>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6FDAA89E-AEA2-402F-B648-8266F03E5107}"/>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302DC3D8-49DB-4502-91F7-AA6E9E8D12D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A742F8BD-180F-4201-A26E-A257E9476D6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D61B3F9C-E723-4FD3-A91F-5449D8CFEF4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FCE87A5-F629-42B7-9729-469675D5A1E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4F87B7AD-2A00-41DA-AB21-5CD3B535097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660839C9-CFFA-495B-8757-645548BD1B1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F668E14A-0FF8-4B31-AF04-8F7C79098C1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61EC86E2-AAA0-4F88-8B6A-9740190C55D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B0C9DD9B-0AB5-435E-A706-A6DB7098CBA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6866060F-F0C1-4D63-A14D-8183F490818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D919CDA-6C08-4E95-808A-DEEC4A307162}"/>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1B0D5641-AF8A-4AAF-8C21-32DE7092D9D1}"/>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176D81D1-B201-4482-80C4-9EE87321933D}"/>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BAE0EEEB-38D0-4E11-B22F-E3099CD21D5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FD5B68CB-5209-415A-8678-DD4068BB153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8A28C2F9-1D1C-448D-B368-D8A8B953065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589967E-AC04-4FD4-808F-F8041470BC08}"/>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CF47FF55-AF3D-4C14-8F96-10AC765B35C2}"/>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485F67F0-62BD-456B-8A1A-6DD70DC1F87C}"/>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B7C545DD-DB45-42A6-8A1D-66835E8CFEC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DC1C6E51-4990-432A-ADAD-CC963376F3F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FB99561C-04A8-4253-9C2C-A5CA353BA26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11D248A-AF11-4C73-A72A-C5BEDE79748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E4921C64-FCEE-4DB9-AE36-6031A0A3236C}"/>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7DB5FD5-9099-452B-BA67-ABC28FF9937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2DDF249D-995E-4AD9-B1B6-3620E2DD0BC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4D78CB9-DD79-4209-A95D-C2F80591BFC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5C960FBB-342A-475B-A3CB-478F84E93E53}"/>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5FC16BEA-C5D8-4375-803D-3AB575F7C380}"/>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FFF58B34-5AF2-4F6E-A67E-67DD445BBF5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F2B944A7-24B6-4CE7-95E8-126E95149D9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D07A60E4-F8A9-46EC-921D-0500DD3FE71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377c01fd9c046e1" /><Relationship Type="http://schemas.openxmlformats.org/officeDocument/2006/relationships/slideLayout" Target="/ppt/slideLayouts/slideLayout1.xml" Id="R305ba921cee74090" /><Relationship Type="http://schemas.openxmlformats.org/officeDocument/2006/relationships/slideLayout" Target="/ppt/slideLayouts/slideLayout2.xml" Id="Rfc0d71ecfc374c8f" /><Relationship Type="http://schemas.openxmlformats.org/officeDocument/2006/relationships/slideLayout" Target="/ppt/slideLayouts/slideLayout3.xml" Id="R3973b36fcc5b4a6e" /><Relationship Type="http://schemas.openxmlformats.org/officeDocument/2006/relationships/slideLayout" Target="/ppt/slideLayouts/slideLayout4.xml" Id="Rb4d38cf3db20423b" /><Relationship Type="http://schemas.openxmlformats.org/officeDocument/2006/relationships/slideLayout" Target="/ppt/slideLayouts/slideLayout5.xml" Id="R3138d8ac52cb4852" /><Relationship Type="http://schemas.openxmlformats.org/officeDocument/2006/relationships/slideLayout" Target="/ppt/slideLayouts/slideLayout6.xml" Id="R4f5ede1680794ec4" /><Relationship Type="http://schemas.openxmlformats.org/officeDocument/2006/relationships/slideLayout" Target="/ppt/slideLayouts/slideLayout7.xml" Id="R30318abbc7b5427c" /><Relationship Type="http://schemas.openxmlformats.org/officeDocument/2006/relationships/slideLayout" Target="/ppt/slideLayouts/slideLayout8.xml" Id="R50eb99f723e045f4" /><Relationship Type="http://schemas.openxmlformats.org/officeDocument/2006/relationships/slideLayout" Target="/ppt/slideLayouts/slideLayout9.xml" Id="R2c49a1e581854a4b" /><Relationship Type="http://schemas.openxmlformats.org/officeDocument/2006/relationships/slideLayout" Target="/ppt/slideLayouts/slideLayout10.xml" Id="Rcfe41b1fc0954558" /><Relationship Type="http://schemas.openxmlformats.org/officeDocument/2006/relationships/slideLayout" Target="/ppt/slideLayouts/slideLayout11.xml" Id="R87456863d555405d"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672C398B-1684-4DA8-B9DB-6A8E83D3BC09}"/>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ADAA1CB8-4845-4F76-BD43-D096B2B7D409}"/>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EE80137F-0763-4CD4-9F11-A3E9963DE969}"/>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68C53C3-50B5-42B1-B737-652797C01EBC}"/>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DE6FFC87-4FCB-483A-9746-603DD64903E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05ba921cee74090"/>
    <p:sldLayoutId xmlns:r="http://schemas.openxmlformats.org/officeDocument/2006/relationships" id="2147483650" r:id="Rfc0d71ecfc374c8f"/>
    <p:sldLayoutId xmlns:r="http://schemas.openxmlformats.org/officeDocument/2006/relationships" id="2147483651" r:id="R3973b36fcc5b4a6e"/>
    <p:sldLayoutId xmlns:r="http://schemas.openxmlformats.org/officeDocument/2006/relationships" id="2147483652" r:id="Rb4d38cf3db20423b"/>
    <p:sldLayoutId xmlns:r="http://schemas.openxmlformats.org/officeDocument/2006/relationships" id="2147483653" r:id="R3138d8ac52cb4852"/>
    <p:sldLayoutId xmlns:r="http://schemas.openxmlformats.org/officeDocument/2006/relationships" id="2147483654" r:id="R4f5ede1680794ec4"/>
    <p:sldLayoutId xmlns:r="http://schemas.openxmlformats.org/officeDocument/2006/relationships" id="2147483655" r:id="R30318abbc7b5427c"/>
    <p:sldLayoutId xmlns:r="http://schemas.openxmlformats.org/officeDocument/2006/relationships" id="2147483656" r:id="R50eb99f723e045f4"/>
    <p:sldLayoutId xmlns:r="http://schemas.openxmlformats.org/officeDocument/2006/relationships" id="2147483657" r:id="R2c49a1e581854a4b"/>
    <p:sldLayoutId xmlns:r="http://schemas.openxmlformats.org/officeDocument/2006/relationships" id="2147483658" r:id="Rcfe41b1fc0954558"/>
    <p:sldLayoutId xmlns:r="http://schemas.openxmlformats.org/officeDocument/2006/relationships" id="2147483659" r:id="R87456863d555405d"/>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576c57ead2be4dc9" /><Relationship Type="http://schemas.openxmlformats.org/officeDocument/2006/relationships/notesSlide" Target="/ppt/notesSlides/notesSlide1.xml" Id="R5122cf3eadaf4223"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cfc1d575102e4307" /><Relationship Type="http://schemas.openxmlformats.org/officeDocument/2006/relationships/notesSlide" Target="/ppt/notesSlides/notesSlide2.xml" Id="Rd7cc1d7911634066"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ca97a06818324bff" /><Relationship Type="http://schemas.openxmlformats.org/officeDocument/2006/relationships/notesSlide" Target="/ppt/notesSlides/notesSlide3.xml" Id="R61a33d895a3343e5"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6c7c456889e24832" /><Relationship Type="http://schemas.openxmlformats.org/officeDocument/2006/relationships/notesSlide" Target="/ppt/notesSlides/notesSlide4.xml" Id="Rb57906365e964d02"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62fd840d2cca4e64" /><Relationship Type="http://schemas.openxmlformats.org/officeDocument/2006/relationships/notesSlide" Target="/ppt/notesSlides/notesSlide5.xml" Id="Rc407bd85cdc64852"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b2e6b9fbda804745" /><Relationship Type="http://schemas.openxmlformats.org/officeDocument/2006/relationships/image" Target="/ppt/media/image.png" Id="R1fdd529506ff4862" /><Relationship Type="http://schemas.openxmlformats.org/officeDocument/2006/relationships/notesSlide" Target="/ppt/notesSlides/notesSlide6.xml" Id="R5825d0187dc34900"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0c058df65aef4617" /><Relationship Type="http://schemas.openxmlformats.org/officeDocument/2006/relationships/notesSlide" Target="/ppt/notesSlides/notesSlide7.xml" Id="R2f8869d2fe914052"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f5b3ef8a1d664d98" /><Relationship Type="http://schemas.openxmlformats.org/officeDocument/2006/relationships/notesSlide" Target="/ppt/notesSlides/notesSlide8.xml" Id="Rd9b340753a1a4085"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d28fc3a928d64935" /><Relationship Type="http://schemas.openxmlformats.org/officeDocument/2006/relationships/image" Target="/ppt/media/image2.png" Id="Rdd71940cb6394960" /><Relationship Type="http://schemas.openxmlformats.org/officeDocument/2006/relationships/notesSlide" Target="/ppt/notesSlides/notesSlide9.xml" Id="R5f4f96631017491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9426f228987044b5" /><Relationship Type="http://schemas.openxmlformats.org/officeDocument/2006/relationships/notesSlide" Target="/ppt/notesSlides/notesSlide10.xml" Id="R24eb95b7ae99433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91d80c76581b4109" /><Relationship Type="http://schemas.openxmlformats.org/officeDocument/2006/relationships/notesSlide" Target="/ppt/notesSlides/notesSlide11.xml" Id="R4cd1b543ba9a431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b8ba5dd83a214ea8" /><Relationship Type="http://schemas.openxmlformats.org/officeDocument/2006/relationships/notesSlide" Target="/ppt/notesSlides/notesSlide12.xml" Id="R2e145cf7f9f44a60"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C2926961-9E71-446B-8784-8698B1384EA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646BBFD1-CAD4-4D20-982D-E4463FA6D587}"/>
              </a:ext>
            </a:extLst>
          </p:cNvPr>
          <p:cNvSpPr>
            <a:spLocks xmlns:a="http://schemas.openxmlformats.org/drawingml/2006/main" noGrp="1"/>
          </p:cNvSpPr>
          <p:nvPr/>
        </p:nvSpPr>
        <p:spPr>
          <a:xfrm xmlns:a="http://schemas.openxmlformats.org/drawingml/2006/main">
            <a:off x="1097280" y="1463040"/>
            <a:ext cx="137160" cy="36576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3FFFFE19-BF61-42B4-840B-9E2421A4B129}"/>
              </a:ext>
            </a:extLst>
          </p:cNvPr>
          <p:cNvSpPr>
            <a:spLocks xmlns:a="http://schemas.openxmlformats.org/drawingml/2006/main" noGrp="1"/>
          </p:cNvSpPr>
          <p:nvPr/>
        </p:nvSpPr>
        <p:spPr>
          <a:xfrm xmlns:a="http://schemas.openxmlformats.org/drawingml/2006/main">
            <a:off x="1371600" y="1371600"/>
            <a:ext cx="9601200" cy="38404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BÁO CÁO NGHIÊN CỨU THỰC NGHIỆM ĐỐI CHỨNG</a:t>
            </a:r>
          </a:p>
          <a:p xmlns:a="http://schemas.openxmlformats.org/drawingml/2006/main">
            <a:pPr>
              <a:spcBef>
                <a:spcPts val="1000"/>
              </a:spcBef>
              <a:buNone/>
              <a:defRPr sz="2800" b="1">
                <a:solidFill>
                  <a:srgbClr val="FFFFFF"/>
                </a:solidFill>
                <a:latin typeface="Calibri"/>
                <a:ea typeface="Calibri"/>
                <a:cs typeface="Calibri"/>
              </a:defRPr>
            </a:pPr>
            <a:r>
              <a:t>Đánh Giá Tác Động Của MITRE ATT&amp;CK-Grounded RAG Đối Với Việc Ánh Xạ Windows Endpoint Logs</a:t>
            </a:r>
          </a:p>
          <a:p xmlns:a="http://schemas.openxmlformats.org/drawingml/2006/main">
            <a:pPr>
              <a:spcBef>
                <a:spcPts val="800"/>
              </a:spcBef>
              <a:buNone/>
              <a:defRPr sz="1500" i="1">
                <a:solidFill>
                  <a:srgbClr val="94A3B8"/>
                </a:solidFill>
                <a:latin typeface="Calibri"/>
                <a:ea typeface="Calibri"/>
                <a:cs typeface="Calibri"/>
              </a:defRPr>
            </a:pPr>
            <a:r>
              <a:t>Evaluating MITRE ATT&amp;CK-Grounded Retrieval-Augmented Generation for Technique Attribution from Windows Endpoint Logs (RAG2ATT&amp;CK)</a:t>
            </a:r>
          </a:p>
          <a:p xmlns:a="http://schemas.openxmlformats.org/drawingml/2006/main">
            <a:pPr>
              <a:spcBef>
                <a:spcPts val="2400"/>
              </a:spcBef>
              <a:buNone/>
              <a:defRPr sz="1300">
                <a:solidFill>
                  <a:srgbClr val="E2E8F0"/>
                </a:solidFill>
                <a:latin typeface="Calibri"/>
                <a:ea typeface="Calibri"/>
                <a:cs typeface="Calibri"/>
              </a:defRPr>
            </a:pPr>
            <a:r>
              <a:t>Giao thức khoa học: experiment-protocol-v1.1  |  Khóa chuẩn: canonical-lock-v1</a:t>
            </a:r>
          </a:p>
        </p:txBody>
      </p:sp>
    </p:spTree>
    <p:extLst>
      <p:ext uri="{BB962C8B-B14F-4D97-AF65-F5344CB8AC3E}">
        <p14:creationId xmlns:p14="http://schemas.microsoft.com/office/powerpoint/2010/main" val="183229190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9F22D32-B73F-4634-B92E-319E5359E35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EB526803-8015-4834-9590-6B5DFA3B48A3}"/>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CE147814-65AB-4D31-AFBF-C7EE5F8C3679}"/>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7172D39E-59A7-4A28-87A9-9A0B3198A93A}"/>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 Vấn Đề Nghiên Cứu &amp; Động Lực Thực Tiễn</a:t>
            </a:r>
          </a:p>
          <a:p xmlns:a="http://schemas.openxmlformats.org/drawingml/2006/main">
            <a:pPr>
              <a:buNone/>
              <a:defRPr sz="1300">
                <a:solidFill>
                  <a:srgbClr val="06B6D4"/>
                </a:solidFill>
                <a:latin typeface="Calibri"/>
                <a:ea typeface="Calibri"/>
                <a:cs typeface="Calibri"/>
              </a:defRPr>
            </a:pPr>
            <a:r>
              <a:t>Khoảng cách giữa nhật ký cấp thấp (Telemetry) và ma trận kỹ thuật ATT&amp;CK</a:t>
            </a:r>
          </a:p>
        </p:txBody>
      </p:sp>
      <p:sp>
        <p:nvSpPr>
          <p:cNvPr id="6" name="Rounded Rectangle 5">
            <a:extLst xmlns:a="http://schemas.openxmlformats.org/drawingml/2006/main">
              <a:ext uri="{FF2B5EF4-FFF2-40B4-BE49-F238E27FC236}">
                <a16:creationId xmlns:a16="http://schemas.microsoft.com/office/drawing/2014/main" id="{A65171A4-E7C5-465A-8B17-6CC08574BF54}"/>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FA598076-1CF4-4DFB-A06A-DDAB5D0CE294}"/>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Bối Cảnh Giám Sát SOC</a:t>
            </a:r>
          </a:p>
          <a:p xmlns:a="http://schemas.openxmlformats.org/drawingml/2006/main">
            <a:pPr>
              <a:spcBef>
                <a:spcPts val="350"/>
              </a:spcBef>
              <a:buNone/>
              <a:defRPr sz="1150">
                <a:solidFill>
                  <a:srgbClr val="0F172A"/>
                </a:solidFill>
                <a:latin typeface="Calibri"/>
                <a:ea typeface="Calibri"/>
                <a:cs typeface="Calibri"/>
              </a:defRPr>
            </a:pPr>
            <a:r>
              <a:t>•  Nhật ký Windows Endpoint (Security Events, Sysmon) là tuyến phòng thủ cốt lõi của Trung tâm Giám sát An ninh (SOC).</a:t>
            </a:r>
          </a:p>
          <a:p xmlns:a="http://schemas.openxmlformats.org/drawingml/2006/main">
            <a:pPr>
              <a:spcBef>
                <a:spcPts val="350"/>
              </a:spcBef>
              <a:buNone/>
              <a:defRPr sz="1150">
                <a:solidFill>
                  <a:srgbClr val="0F172A"/>
                </a:solidFill>
                <a:latin typeface="Calibri"/>
                <a:ea typeface="Calibri"/>
                <a:cs typeface="Calibri"/>
              </a:defRPr>
            </a:pPr>
            <a:r>
              <a:t>•  Việc ánh xạ nhật ký thô sang mã MITRE ATT&amp;CK Technique là tiêu chuẩn vàng để xác định ý đồ tấn công.</a:t>
            </a:r>
          </a:p>
          <a:p xmlns:a="http://schemas.openxmlformats.org/drawingml/2006/main">
            <a:pPr>
              <a:spcBef>
                <a:spcPts val="350"/>
              </a:spcBef>
              <a:buNone/>
              <a:defRPr sz="1150">
                <a:solidFill>
                  <a:srgbClr val="0F172A"/>
                </a:solidFill>
                <a:latin typeface="Calibri"/>
                <a:ea typeface="Calibri"/>
                <a:cs typeface="Calibri"/>
              </a:defRPr>
            </a:pPr>
            <a:r>
              <a:t>•  Quy trình thủ công đòi hỏi chuyên gia cấp cao, tốn thời gian và khó đáp ứng quy mô hàng triệu sự kiện mỗi ngày.</a:t>
            </a:r>
          </a:p>
        </p:txBody>
      </p:sp>
      <p:sp>
        <p:nvSpPr>
          <p:cNvPr id="8" name="Rounded Rectangle 7">
            <a:extLst xmlns:a="http://schemas.openxmlformats.org/drawingml/2006/main">
              <a:ext uri="{FF2B5EF4-FFF2-40B4-BE49-F238E27FC236}">
                <a16:creationId xmlns:a16="http://schemas.microsoft.com/office/drawing/2014/main" id="{42979C6E-14AF-4F58-A740-4B5C6E24817A}"/>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430AF0D4-3A7F-4A9B-B8EF-AAF65984D231}"/>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Thách Thức Của LLM Thuần Túy</a:t>
            </a:r>
          </a:p>
          <a:p xmlns:a="http://schemas.openxmlformats.org/drawingml/2006/main">
            <a:pPr>
              <a:spcBef>
                <a:spcPts val="350"/>
              </a:spcBef>
              <a:buNone/>
              <a:defRPr sz="1150">
                <a:solidFill>
                  <a:srgbClr val="0F172A"/>
                </a:solidFill>
                <a:latin typeface="Calibri"/>
                <a:ea typeface="Calibri"/>
                <a:cs typeface="Calibri"/>
              </a:defRPr>
            </a:pPr>
            <a:r>
              <a:t>•  Khoảng cách trừu tượng: Log mang tính kỹ thuật hệ thống (Process GUID, CommandLine), trong khi ATT&amp;CK mô tả hành vi khái niệm.</a:t>
            </a:r>
          </a:p>
          <a:p xmlns:a="http://schemas.openxmlformats.org/drawingml/2006/main">
            <a:pPr>
              <a:spcBef>
                <a:spcPts val="350"/>
              </a:spcBef>
              <a:buNone/>
              <a:defRPr sz="1150">
                <a:solidFill>
                  <a:srgbClr val="0F172A"/>
                </a:solidFill>
                <a:latin typeface="Calibri"/>
                <a:ea typeface="Calibri"/>
                <a:cs typeface="Calibri"/>
              </a:defRPr>
            </a:pPr>
            <a:r>
              <a:t>•  Hiện tượng ảo giác: LLM không có RAG dễ suy đoán mã kỹ thuật sai cú pháp hoặc không tồn tại trong danh mục.</a:t>
            </a:r>
          </a:p>
          <a:p xmlns:a="http://schemas.openxmlformats.org/drawingml/2006/main">
            <a:pPr>
              <a:spcBef>
                <a:spcPts val="350"/>
              </a:spcBef>
              <a:buNone/>
              <a:defRPr sz="1150">
                <a:solidFill>
                  <a:srgbClr val="0F172A"/>
                </a:solidFill>
                <a:latin typeface="Calibri"/>
                <a:ea typeface="Calibri"/>
                <a:cs typeface="Calibri"/>
              </a:defRPr>
            </a:pPr>
            <a:r>
              <a:t>•  Nhầm lẫn Sub-techniques: Khó phân biệt các kỹ thuật lân cận (ví dụ: T1059.001 PowerShell vs T1059.003 Command Shell).</a:t>
            </a:r>
          </a:p>
        </p:txBody>
      </p:sp>
      <p:sp>
        <p:nvSpPr>
          <p:cNvPr id="10" name="Rounded Rectangle 9">
            <a:extLst xmlns:a="http://schemas.openxmlformats.org/drawingml/2006/main">
              <a:ext uri="{FF2B5EF4-FFF2-40B4-BE49-F238E27FC236}">
                <a16:creationId xmlns:a16="http://schemas.microsoft.com/office/drawing/2014/main" id="{6480AA08-4EFD-4411-80EE-1CADA8AB89F5}"/>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DBF44D97-9D83-4A8E-AC03-6D904A848343}"/>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Động Lực Của RAG2ATT&amp;CK</a:t>
            </a:r>
          </a:p>
          <a:p xmlns:a="http://schemas.openxmlformats.org/drawingml/2006/main">
            <a:pPr>
              <a:spcBef>
                <a:spcPts val="250"/>
              </a:spcBef>
              <a:buNone/>
              <a:defRPr sz="1000">
                <a:solidFill>
                  <a:srgbClr val="0F172A"/>
                </a:solidFill>
                <a:latin typeface="Calibri"/>
                <a:ea typeface="Calibri"/>
                <a:cs typeface="Calibri"/>
              </a:defRPr>
            </a:pPr>
            <a:r>
              <a:t>•  Thiết kế nghiên cứu thực nghiệm đối chứng có kiểm soát (Controlled Empirical Study).</a:t>
            </a:r>
          </a:p>
          <a:p xmlns:a="http://schemas.openxmlformats.org/drawingml/2006/main">
            <a:pPr>
              <a:spcBef>
                <a:spcPts val="250"/>
              </a:spcBef>
              <a:buNone/>
              <a:defRPr sz="1000">
                <a:solidFill>
                  <a:srgbClr val="0F172A"/>
                </a:solidFill>
                <a:latin typeface="Calibri"/>
                <a:ea typeface="Calibri"/>
                <a:cs typeface="Calibri"/>
              </a:defRPr>
            </a:pPr>
            <a:r>
              <a:t>•  Đo lường khách quan delta hiệu năng do RAG mang lại trên cùng mô hình LLM.</a:t>
            </a:r>
          </a:p>
          <a:p xmlns:a="http://schemas.openxmlformats.org/drawingml/2006/main">
            <a:pPr>
              <a:spcBef>
                <a:spcPts val="250"/>
              </a:spcBef>
              <a:buNone/>
              <a:defRPr sz="1000">
                <a:solidFill>
                  <a:srgbClr val="0F172A"/>
                </a:solidFill>
                <a:latin typeface="Calibri"/>
                <a:ea typeface="Calibri"/>
                <a:cs typeface="Calibri"/>
              </a:defRPr>
            </a:pPr>
            <a:r>
              <a:t>•  Bóc tách độc lập lỗi tìm kiếm (Retrieval Failure) và lỗi phân loại (Classification Failure).</a:t>
            </a:r>
          </a:p>
          <a:p xmlns:a="http://schemas.openxmlformats.org/drawingml/2006/main">
            <a:pPr>
              <a:spcBef>
                <a:spcPts val="250"/>
              </a:spcBef>
              <a:buNone/>
              <a:defRPr sz="1000">
                <a:solidFill>
                  <a:srgbClr val="0F172A"/>
                </a:solidFill>
                <a:latin typeface="Calibri"/>
                <a:ea typeface="Calibri"/>
                <a:cs typeface="Calibri"/>
              </a:defRPr>
            </a:pPr>
            <a:r>
              <a:t>•  Phạm vi tính xác định (Determinism): Áp dụng cho tái tạo dataset, đánh giá ngoại tuyến và thứ tự tie-breaking.</a:t>
            </a:r>
          </a:p>
          <a:p xmlns:a="http://schemas.openxmlformats.org/drawingml/2006/main">
            <a:pPr>
              <a:spcBef>
                <a:spcPts val="250"/>
              </a:spcBef>
              <a:buNone/>
              <a:defRPr sz="1000">
                <a:solidFill>
                  <a:srgbClr val="0F172A"/>
                </a:solidFill>
                <a:latin typeface="Calibri"/>
                <a:ea typeface="Calibri"/>
                <a:cs typeface="Calibri"/>
              </a:defRPr>
            </a:pPr>
            <a:r>
              <a:t>•  Biến thiên backend LLM: Phản hồi LLM có thể biến thiên (không gửi seed qua mạng), được quản lý bởi chính sách siêu dữ liệu D3 (timestamp-bound).</a:t>
            </a:r>
          </a:p>
          <a:p xmlns:a="http://schemas.openxmlformats.org/drawingml/2006/main">
            <a:pPr>
              <a:spcBef>
                <a:spcPts val="250"/>
              </a:spcBef>
              <a:buNone/>
              <a:defRPr sz="1000">
                <a:solidFill>
                  <a:srgbClr val="0F172A"/>
                </a:solidFill>
                <a:latin typeface="Calibri"/>
                <a:ea typeface="Calibri"/>
                <a:cs typeface="Calibri"/>
              </a:defRPr>
            </a:pPr>
            <a:r>
              <a:t>•  Tái lập ngoại tuyến chi phí 0 đồng với bộ offline_guard can thiệp tầng socket.</a:t>
            </a:r>
          </a:p>
        </p:txBody>
      </p:sp>
    </p:spTree>
    <p:extLst>
      <p:ext uri="{BB962C8B-B14F-4D97-AF65-F5344CB8AC3E}">
        <p14:creationId xmlns:p14="http://schemas.microsoft.com/office/powerpoint/2010/main" val="38390506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214CD07B-1421-413D-BDF7-29A7024F6CE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11847149-C5CB-451E-A46F-B23938E03292}"/>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EE3EB1D3-6198-4708-B921-7393946D70C8}"/>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A9AD06E1-27BD-44E7-B906-36ABAABE0F72}"/>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2. Kiến Trúc Thực Nghiệm Đối Chứng</a:t>
            </a:r>
          </a:p>
          <a:p xmlns:a="http://schemas.openxmlformats.org/drawingml/2006/main">
            <a:pPr>
              <a:buNone/>
              <a:defRPr sz="1300">
                <a:solidFill>
                  <a:srgbClr val="06B6D4"/>
                </a:solidFill>
                <a:latin typeface="Calibri"/>
                <a:ea typeface="Calibri"/>
                <a:cs typeface="Calibri"/>
              </a:defRPr>
            </a:pPr>
            <a:r>
              <a:t>So sánh đối đầu giữa Baseline (No-RAG) và Experimental (RAG)</a:t>
            </a:r>
          </a:p>
        </p:txBody>
      </p:sp>
      <p:sp>
        <p:nvSpPr>
          <p:cNvPr id="6" name="Rounded Rectangle 5">
            <a:extLst xmlns:a="http://schemas.openxmlformats.org/drawingml/2006/main">
              <a:ext uri="{FF2B5EF4-FFF2-40B4-BE49-F238E27FC236}">
                <a16:creationId xmlns:a16="http://schemas.microsoft.com/office/drawing/2014/main" id="{85C0EFCB-E843-4644-A47D-B8D2352EF685}"/>
              </a:ext>
            </a:extLst>
          </p:cNvPr>
          <p:cNvSpPr>
            <a:spLocks xmlns:a="http://schemas.openxmlformats.org/drawingml/2006/main" noGrp="1"/>
          </p:cNvSpPr>
          <p:nvPr/>
        </p:nvSpPr>
        <p:spPr>
          <a:xfrm xmlns:a="http://schemas.openxmlformats.org/drawingml/2006/main">
            <a:off x="731520"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0F6575D0-FD7E-4C70-9DBB-8045CC3EB16E}"/>
              </a:ext>
            </a:extLst>
          </p:cNvPr>
          <p:cNvSpPr>
            <a:spLocks xmlns:a="http://schemas.openxmlformats.org/drawingml/2006/main" noGrp="1"/>
          </p:cNvSpPr>
          <p:nvPr/>
        </p:nvSpPr>
        <p:spPr>
          <a:xfrm xmlns:a="http://schemas.openxmlformats.org/drawingml/2006/main">
            <a:off x="914400"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Nhánh Cơ Sở: Baseline No-RAG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(endpoint_evidence).</a:t>
            </a:r>
          </a:p>
          <a:p xmlns:a="http://schemas.openxmlformats.org/drawingml/2006/main">
            <a:pPr>
              <a:spcBef>
                <a:spcPts val="300"/>
              </a:spcBef>
              <a:buNone/>
              <a:defRPr sz="1150">
                <a:solidFill>
                  <a:srgbClr val="0F172A"/>
                </a:solidFill>
                <a:latin typeface="Calibri"/>
                <a:ea typeface="Calibri"/>
                <a:cs typeface="Calibri"/>
              </a:defRPr>
            </a:pPr>
            <a:r>
              <a:t>•  Cơ chế: Đưa trực tiếp vào LLM cùng prompt hướng dẫn chuẩn hóa.</a:t>
            </a:r>
          </a:p>
          <a:p xmlns:a="http://schemas.openxmlformats.org/drawingml/2006/main">
            <a:pPr>
              <a:spcBef>
                <a:spcPts val="300"/>
              </a:spcBef>
              <a:buNone/>
              <a:defRPr sz="1150">
                <a:solidFill>
                  <a:srgbClr val="0F172A"/>
                </a:solidFill>
                <a:latin typeface="Calibri"/>
                <a:ea typeface="Calibri"/>
                <a:cs typeface="Calibri"/>
              </a:defRPr>
            </a:pPr>
            <a:r>
              <a:t>•  Đầu ra: Chuỗi JSON chứa duy nhất mã technique_id.</a:t>
            </a:r>
          </a:p>
          <a:p xmlns:a="http://schemas.openxmlformats.org/drawingml/2006/main">
            <a:pPr>
              <a:spcBef>
                <a:spcPts val="300"/>
              </a:spcBef>
              <a:buNone/>
              <a:defRPr sz="1150">
                <a:solidFill>
                  <a:srgbClr val="0F172A"/>
                </a:solidFill>
                <a:latin typeface="Calibri"/>
                <a:ea typeface="Calibri"/>
                <a:cs typeface="Calibri"/>
              </a:defRPr>
            </a:pPr>
            <a:r>
              <a:t>•  Mô hình: gpt-5.6-luna (reasoning_effort=xhigh, api_interface=responses).</a:t>
            </a:r>
          </a:p>
        </p:txBody>
      </p:sp>
      <p:sp>
        <p:nvSpPr>
          <p:cNvPr id="8" name="Rounded Rectangle 7">
            <a:extLst xmlns:a="http://schemas.openxmlformats.org/drawingml/2006/main">
              <a:ext uri="{FF2B5EF4-FFF2-40B4-BE49-F238E27FC236}">
                <a16:creationId xmlns:a16="http://schemas.microsoft.com/office/drawing/2014/main" id="{B168CC65-CD67-4684-9F11-CBF8CF7D7B16}"/>
              </a:ext>
            </a:extLst>
          </p:cNvPr>
          <p:cNvSpPr>
            <a:spLocks xmlns:a="http://schemas.openxmlformats.org/drawingml/2006/main" noGrp="1"/>
          </p:cNvSpPr>
          <p:nvPr/>
        </p:nvSpPr>
        <p:spPr>
          <a:xfrm xmlns:a="http://schemas.openxmlformats.org/drawingml/2006/main">
            <a:off x="6248095"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937EE3F7-AF08-4C2E-A262-39C90AF5E813}"/>
              </a:ext>
            </a:extLst>
          </p:cNvPr>
          <p:cNvSpPr>
            <a:spLocks xmlns:a="http://schemas.openxmlformats.org/drawingml/2006/main" noGrp="1"/>
          </p:cNvSpPr>
          <p:nvPr/>
        </p:nvSpPr>
        <p:spPr>
          <a:xfrm xmlns:a="http://schemas.openxmlformats.org/drawingml/2006/main">
            <a:off x="6430975"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Nhánh Thử Nghiệm: Experimental 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như nhánh cơ sở.</a:t>
            </a:r>
          </a:p>
          <a:p xmlns:a="http://schemas.openxmlformats.org/drawingml/2006/main">
            <a:pPr>
              <a:spcBef>
                <a:spcPts val="300"/>
              </a:spcBef>
              <a:buNone/>
              <a:defRPr sz="1150">
                <a:solidFill>
                  <a:srgbClr val="0F172A"/>
                </a:solidFill>
                <a:latin typeface="Calibri"/>
                <a:ea typeface="Calibri"/>
                <a:cs typeface="Calibri"/>
              </a:defRPr>
            </a:pPr>
            <a:r>
              <a:t>•  Bộ truy xuất: sentence-transformers/all-MiniLM-L6-v2 + FAISS FlatIP (384-dim).</a:t>
            </a:r>
          </a:p>
          <a:p xmlns:a="http://schemas.openxmlformats.org/drawingml/2006/main">
            <a:pPr>
              <a:spcBef>
                <a:spcPts val="300"/>
              </a:spcBef>
              <a:buNone/>
              <a:defRPr sz="1150">
                <a:solidFill>
                  <a:srgbClr val="0F172A"/>
                </a:solidFill>
                <a:latin typeface="Calibri"/>
                <a:ea typeface="Calibri"/>
                <a:cs typeface="Calibri"/>
              </a:defRPr>
            </a:pPr>
            <a:r>
              <a:t>•  Kho tri thức: 474 tài liệu ATT&amp;CK v19.2 Enterprise Windows.</a:t>
            </a:r>
          </a:p>
          <a:p xmlns:a="http://schemas.openxmlformats.org/drawingml/2006/main">
            <a:pPr>
              <a:spcBef>
                <a:spcPts val="300"/>
              </a:spcBef>
              <a:buNone/>
              <a:defRPr sz="1150">
                <a:solidFill>
                  <a:srgbClr val="0F172A"/>
                </a:solidFill>
                <a:latin typeface="Calibri"/>
                <a:ea typeface="Calibri"/>
                <a:cs typeface="Calibri"/>
              </a:defRPr>
            </a:pPr>
            <a:r>
              <a:t>•  Độ sâu k: Đánh giá có hệ thống k ∈ {1, 3, 5, 10}.</a:t>
            </a:r>
          </a:p>
          <a:p xmlns:a="http://schemas.openxmlformats.org/drawingml/2006/main">
            <a:pPr>
              <a:spcBef>
                <a:spcPts val="300"/>
              </a:spcBef>
              <a:buNone/>
              <a:defRPr sz="1150">
                <a:solidFill>
                  <a:srgbClr val="0F172A"/>
                </a:solidFill>
                <a:latin typeface="Calibri"/>
                <a:ea typeface="Calibri"/>
                <a:cs typeface="Calibri"/>
              </a:defRPr>
            </a:pPr>
            <a:r>
              <a:t>•  Đầu ra: Cùng cấu trúc JSON và cùng bộ kiểm tra cú pháp nghiêm ngặt.</a:t>
            </a:r>
          </a:p>
        </p:txBody>
      </p:sp>
      <p:sp>
        <p:nvSpPr>
          <p:cNvPr id="10" name="Rounded Rectangle 9">
            <a:extLst xmlns:a="http://schemas.openxmlformats.org/drawingml/2006/main">
              <a:ext uri="{FF2B5EF4-FFF2-40B4-BE49-F238E27FC236}">
                <a16:creationId xmlns:a16="http://schemas.microsoft.com/office/drawing/2014/main" id="{5E0A37B7-7EBF-49EE-83B0-FF676B75ADA4}"/>
              </a:ext>
            </a:extLst>
          </p:cNvPr>
          <p:cNvSpPr>
            <a:spLocks xmlns:a="http://schemas.openxmlformats.org/drawingml/2006/main" noGrp="1"/>
          </p:cNvSpPr>
          <p:nvPr/>
        </p:nvSpPr>
        <p:spPr>
          <a:xfrm xmlns:a="http://schemas.openxmlformats.org/drawingml/2006/main">
            <a:off x="731520" y="443484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EBBFE1A0-8400-401D-B1B1-6CDCB119618B}"/>
              </a:ext>
            </a:extLst>
          </p:cNvPr>
          <p:cNvSpPr>
            <a:spLocks xmlns:a="http://schemas.openxmlformats.org/drawingml/2006/main" noGrp="1"/>
          </p:cNvSpPr>
          <p:nvPr/>
        </p:nvSpPr>
        <p:spPr>
          <a:xfrm xmlns:a="http://schemas.openxmlformats.org/drawingml/2006/main">
            <a:off x="914400" y="454456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Biến Kiểm Soát Bất Biến (Controlled Invariants)</a:t>
            </a:r>
          </a:p>
          <a:p xmlns:a="http://schemas.openxmlformats.org/drawingml/2006/main">
            <a:pPr>
              <a:spcBef>
                <a:spcPts val="300"/>
              </a:spcBef>
              <a:buNone/>
              <a:defRPr sz="1150">
                <a:solidFill>
                  <a:srgbClr val="0F172A"/>
                </a:solidFill>
                <a:latin typeface="Calibri"/>
                <a:ea typeface="Calibri"/>
                <a:cs typeface="Calibri"/>
              </a:defRPr>
            </a:pPr>
            <a:r>
              <a:t>•  Cùng tập dữ liệu thử nghiệm (exact same telemetry instances); Cùng mô hình và tham số suy luận.</a:t>
            </a:r>
          </a:p>
          <a:p xmlns:a="http://schemas.openxmlformats.org/drawingml/2006/main">
            <a:pPr>
              <a:spcBef>
                <a:spcPts val="300"/>
              </a:spcBef>
              <a:buNone/>
              <a:defRPr sz="1150">
                <a:solidFill>
                  <a:srgbClr val="0F172A"/>
                </a:solidFill>
                <a:latin typeface="Calibri"/>
                <a:ea typeface="Calibri"/>
                <a:cs typeface="Calibri"/>
              </a:defRPr>
            </a:pPr>
            <a:r>
              <a:t>•  Cùng cấu trúc Prompt (prompts/baseline_v1.txt), chỉ khác biệt ở khối Context được chèn vào.</a:t>
            </a:r>
          </a:p>
          <a:p xmlns:a="http://schemas.openxmlformats.org/drawingml/2006/main">
            <a:pPr>
              <a:spcBef>
                <a:spcPts val="300"/>
              </a:spcBef>
              <a:buNone/>
              <a:defRPr sz="1150">
                <a:solidFill>
                  <a:srgbClr val="0F172A"/>
                </a:solidFill>
                <a:latin typeface="Calibri"/>
                <a:ea typeface="Calibri"/>
                <a:cs typeface="Calibri"/>
              </a:defRPr>
            </a:pPr>
            <a:r>
              <a:t>•  Biến duy nhất được thay đổi trong toàn bộ nghiên cứu: Retrieval ON vs. OFF.</a:t>
            </a:r>
          </a:p>
        </p:txBody>
      </p:sp>
    </p:spTree>
    <p:extLst>
      <p:ext uri="{BB962C8B-B14F-4D97-AF65-F5344CB8AC3E}">
        <p14:creationId xmlns:p14="http://schemas.microsoft.com/office/powerpoint/2010/main" val="178416515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8A1661B-FA65-464B-8332-569ACB20086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36E4D39B-05D0-41F8-927F-B092842928EB}"/>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A7E09364-A528-480A-9660-8DD69647DE3C}"/>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72CC3027-BF7D-4485-A40D-30FCF9F9A2AA}"/>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3. Thiết Kế Dữ Liệu &amp; Giao Thức Chống Rò Rỉ Nhãn</a:t>
            </a:r>
          </a:p>
          <a:p xmlns:a="http://schemas.openxmlformats.org/drawingml/2006/main">
            <a:pPr>
              <a:buNone/>
              <a:defRPr sz="1300">
                <a:solidFill>
                  <a:srgbClr val="06B6D4"/>
                </a:solidFill>
                <a:latin typeface="Calibri"/>
                <a:ea typeface="Calibri"/>
                <a:cs typeface="Calibri"/>
              </a:defRPr>
            </a:pPr>
            <a:r>
              <a:t>Bộ dữ liệu chuẩn đóng băng Stage B (670 cặp kịch bản, 1,340 views)</a:t>
            </a:r>
          </a:p>
        </p:txBody>
      </p:sp>
      <p:sp>
        <p:nvSpPr>
          <p:cNvPr id="6" name="Rounded Rectangle 5">
            <a:extLst xmlns:a="http://schemas.openxmlformats.org/drawingml/2006/main">
              <a:ext uri="{FF2B5EF4-FFF2-40B4-BE49-F238E27FC236}">
                <a16:creationId xmlns:a16="http://schemas.microsoft.com/office/drawing/2014/main" id="{C2330EE6-9DD4-422E-9887-253A37F7BBE5}"/>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8C940245-8B57-44F5-95C7-0230674D80E4}"/>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Bộ Dữ Liệu Chuẩn Đóng Băng Stage B</a:t>
            </a:r>
          </a:p>
          <a:p xmlns:a="http://schemas.openxmlformats.org/drawingml/2006/main">
            <a:pPr>
              <a:spcBef>
                <a:spcPts val="300"/>
              </a:spcBef>
              <a:buNone/>
              <a:defRPr sz="1150">
                <a:solidFill>
                  <a:srgbClr val="0F172A"/>
                </a:solidFill>
                <a:latin typeface="Calibri"/>
                <a:ea typeface="Calibri"/>
                <a:cs typeface="Calibri"/>
              </a:defRPr>
            </a:pPr>
            <a:r>
              <a:t>•  Tổng thể: 670 cặp kịch bản (Scenario Pairs) tương ứng 1,340 Views.</a:t>
            </a:r>
          </a:p>
          <a:p xmlns:a="http://schemas.openxmlformats.org/drawingml/2006/main">
            <a:pPr>
              <a:spcBef>
                <a:spcPts val="300"/>
              </a:spcBef>
              <a:buNone/>
              <a:defRPr sz="1150">
                <a:solidFill>
                  <a:srgbClr val="0F172A"/>
                </a:solidFill>
                <a:latin typeface="Calibri"/>
                <a:ea typeface="Calibri"/>
                <a:cs typeface="Calibri"/>
              </a:defRPr>
            </a:pPr>
            <a:r>
              <a:t>•  Phân chia tập: 1,280 TEST views (718 scorable views across 440 distinct clusters) và 60 DEV views.</a:t>
            </a:r>
          </a:p>
          <a:p xmlns:a="http://schemas.openxmlformats.org/drawingml/2006/main">
            <a:pPr>
              <a:spcBef>
                <a:spcPts val="300"/>
              </a:spcBef>
              <a:buNone/>
              <a:defRPr sz="1150">
                <a:solidFill>
                  <a:srgbClr val="0F172A"/>
                </a:solidFill>
                <a:latin typeface="Calibri"/>
                <a:ea typeface="Calibri"/>
                <a:cs typeface="Calibri"/>
              </a:defRPr>
            </a:pPr>
            <a:r>
              <a:t>•  Hình thức biểu diễn Telemetry:</a:t>
            </a:r>
          </a:p>
          <a:p xmlns:a="http://schemas.openxmlformats.org/drawingml/2006/main">
            <a:pPr>
              <a:spcBef>
                <a:spcPts val="300"/>
              </a:spcBef>
              <a:buNone/>
              <a:defRPr sz="1150">
                <a:solidFill>
                  <a:srgbClr val="0F172A"/>
                </a:solidFill>
                <a:latin typeface="Calibri"/>
                <a:ea typeface="Calibri"/>
                <a:cs typeface="Calibri"/>
              </a:defRPr>
            </a:pPr>
            <a:r>
              <a:t>  • Single-event view: Một sự kiện đơn lẻ kích hoạt kỹ thuật tấn công.</a:t>
            </a:r>
          </a:p>
          <a:p xmlns:a="http://schemas.openxmlformats.org/drawingml/2006/main">
            <a:pPr>
              <a:spcBef>
                <a:spcPts val="300"/>
              </a:spcBef>
              <a:buNone/>
              <a:defRPr sz="1150">
                <a:solidFill>
                  <a:srgbClr val="0F172A"/>
                </a:solidFill>
                <a:latin typeface="Calibri"/>
                <a:ea typeface="Calibri"/>
                <a:cs typeface="Calibri"/>
              </a:defRPr>
            </a:pPr>
            <a:r>
              <a:t>  • Contextual-event view: Sự kiện mục tiêu kèm nhật ký ngữ cảnh lân cận.</a:t>
            </a:r>
          </a:p>
          <a:p xmlns:a="http://schemas.openxmlformats.org/drawingml/2006/main">
            <a:pPr>
              <a:spcBef>
                <a:spcPts val="300"/>
              </a:spcBef>
              <a:buNone/>
              <a:defRPr sz="1150">
                <a:solidFill>
                  <a:srgbClr val="0F172A"/>
                </a:solidFill>
                <a:latin typeface="Calibri"/>
                <a:ea typeface="Calibri"/>
                <a:cs typeface="Calibri"/>
              </a:defRPr>
            </a:pPr>
            <a:r>
              <a:t>•  Độ bao phủ: 8 nhóm kỹ thuật mục tiêu đại diện cùng các mẫu âm tính / mơ hồ.</a:t>
            </a:r>
          </a:p>
          <a:p xmlns:a="http://schemas.openxmlformats.org/drawingml/2006/main">
            <a:pPr>
              <a:spcBef>
                <a:spcPts val="300"/>
              </a:spcBef>
              <a:buNone/>
              <a:defRPr sz="1150">
                <a:solidFill>
                  <a:srgbClr val="0F172A"/>
                </a:solidFill>
                <a:latin typeface="Calibri"/>
                <a:ea typeface="Calibri"/>
                <a:cs typeface="Calibri"/>
              </a:defRPr>
            </a:pPr>
            <a:r>
              <a:t>•  Toàn vẹn mật mã: Khóa SHA-256 trong lock v1 | Cohort pairs: 278 complete pairs, 162 contextual-only pairs, 200 neither-mapped pairs.</a:t>
            </a:r>
          </a:p>
        </p:txBody>
      </p:sp>
      <p:sp>
        <p:nvSpPr>
          <p:cNvPr id="8" name="Rounded Rectangle 7">
            <a:extLst xmlns:a="http://schemas.openxmlformats.org/drawingml/2006/main">
              <a:ext uri="{FF2B5EF4-FFF2-40B4-BE49-F238E27FC236}">
                <a16:creationId xmlns:a16="http://schemas.microsoft.com/office/drawing/2014/main" id="{29A85A97-AAB5-457C-9354-E4829083E48D}"/>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C385E764-1748-473A-A380-F6F4D77B3918}"/>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Giao Thức Chống Rò Rỉ Nhãn (Anti-Label-Leakage)</a:t>
            </a:r>
          </a:p>
          <a:p xmlns:a="http://schemas.openxmlformats.org/drawingml/2006/main">
            <a:pPr>
              <a:spcBef>
                <a:spcPts val="300"/>
              </a:spcBef>
              <a:buNone/>
              <a:defRPr sz="1150">
                <a:solidFill>
                  <a:srgbClr val="0F172A"/>
                </a:solidFill>
                <a:latin typeface="Calibri"/>
                <a:ea typeface="Calibri"/>
                <a:cs typeface="Calibri"/>
              </a:defRPr>
            </a:pPr>
            <a:r>
              <a:t>•  Nguyên tắc cốt lõi: Tuyệt đối không để lộ nhãn hoặc tri thức luật trong đầu vào suy luận.</a:t>
            </a:r>
          </a:p>
          <a:p xmlns:a="http://schemas.openxmlformats.org/drawingml/2006/main">
            <a:pPr>
              <a:spcBef>
                <a:spcPts val="300"/>
              </a:spcBef>
              <a:buNone/>
              <a:defRPr sz="1150">
                <a:solidFill>
                  <a:srgbClr val="0F172A"/>
                </a:solidFill>
                <a:latin typeface="Calibri"/>
                <a:ea typeface="Calibri"/>
                <a:cs typeface="Calibri"/>
              </a:defRPr>
            </a:pPr>
            <a:r>
              <a:t>•  Bộ lọc nghiêm ngặt (INFERENCE_ALLOWLIST):</a:t>
            </a:r>
          </a:p>
          <a:p xmlns:a="http://schemas.openxmlformats.org/drawingml/2006/main">
            <a:pPr>
              <a:spcBef>
                <a:spcPts val="300"/>
              </a:spcBef>
              <a:buNone/>
              <a:defRPr sz="1150">
                <a:solidFill>
                  <a:srgbClr val="0F172A"/>
                </a:solidFill>
                <a:latin typeface="Calibri"/>
                <a:ea typeface="Calibri"/>
                <a:cs typeface="Calibri"/>
              </a:defRPr>
            </a:pPr>
            <a:r>
              <a:t>  • Chỉ giữ lại các trường kỹ thuật thô (CommandLine, ParentImage, Hashes).</a:t>
            </a:r>
          </a:p>
          <a:p xmlns:a="http://schemas.openxmlformats.org/drawingml/2006/main">
            <a:pPr>
              <a:spcBef>
                <a:spcPts val="300"/>
              </a:spcBef>
              <a:buNone/>
              <a:defRPr sz="1150">
                <a:solidFill>
                  <a:srgbClr val="0F172A"/>
                </a:solidFill>
                <a:latin typeface="Calibri"/>
                <a:ea typeface="Calibri"/>
                <a:cs typeface="Calibri"/>
              </a:defRPr>
            </a:pPr>
            <a:r>
              <a:t>  • Loại bỏ hoàn toàn: technique_id, RuleName, Tactic, Description, Tags.</a:t>
            </a:r>
          </a:p>
          <a:p xmlns:a="http://schemas.openxmlformats.org/drawingml/2006/main">
            <a:pPr>
              <a:spcBef>
                <a:spcPts val="300"/>
              </a:spcBef>
              <a:buNone/>
              <a:defRPr sz="1150">
                <a:solidFill>
                  <a:srgbClr val="0F172A"/>
                </a:solidFill>
                <a:latin typeface="Calibri"/>
                <a:ea typeface="Calibri"/>
                <a:cs typeface="Calibri"/>
              </a:defRPr>
            </a:pPr>
            <a:r>
              <a:t>•  Đầu vào suy luận (inference.jsonl) chỉ chứa 2 trường duy nhất: sample_id và endpoint_evidence.</a:t>
            </a:r>
          </a:p>
          <a:p xmlns:a="http://schemas.openxmlformats.org/drawingml/2006/main">
            <a:pPr>
              <a:spcBef>
                <a:spcPts val="300"/>
              </a:spcBef>
              <a:buNone/>
              <a:defRPr sz="1150">
                <a:solidFill>
                  <a:srgbClr val="0F172A"/>
                </a:solidFill>
                <a:latin typeface="Calibri"/>
                <a:ea typeface="Calibri"/>
                <a:cs typeface="Calibri"/>
              </a:defRPr>
            </a:pPr>
            <a:r>
              <a:t>•  Phân định phạm vi: Stage B phục vụ kiểm định kỹ thuật &amp; chẩn đoán lỗi; dữ liệu thực địa (T15 real pilot) được quản lý độc lập.</a:t>
            </a:r>
          </a:p>
        </p:txBody>
      </p:sp>
    </p:spTree>
    <p:extLst>
      <p:ext uri="{BB962C8B-B14F-4D97-AF65-F5344CB8AC3E}">
        <p14:creationId xmlns:p14="http://schemas.microsoft.com/office/powerpoint/2010/main" val="169823313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3F57D29-E76D-40C5-9F4B-89919E974F9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CFAE431C-16E6-43F8-9CB8-CC1F2FA4E979}"/>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750509EF-D968-4C31-9D1A-12B15D10AD73}"/>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08988000-8C54-4016-8488-6949BE3409DB}"/>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4. Phương Pháp Luận, Mô Hình Đe Dọa &amp; Giao Thức v1.1</a:t>
            </a:r>
          </a:p>
          <a:p xmlns:a="http://schemas.openxmlformats.org/drawingml/2006/main">
            <a:pPr>
              <a:buNone/>
              <a:defRPr sz="1300">
                <a:solidFill>
                  <a:srgbClr val="06B6D4"/>
                </a:solidFill>
                <a:latin typeface="Calibri"/>
                <a:ea typeface="Calibri"/>
                <a:cs typeface="Calibri"/>
              </a:defRPr>
            </a:pPr>
            <a:r>
              <a:t>Tách bạch rõ ràng 7 quyết định giao thức khoa học D1-D7 đóng băng</a:t>
            </a:r>
          </a:p>
        </p:txBody>
      </p:sp>
      <p:sp>
        <p:nvSpPr>
          <p:cNvPr id="6" name="Rounded Rectangle 5">
            <a:extLst xmlns:a="http://schemas.openxmlformats.org/drawingml/2006/main">
              <a:ext uri="{FF2B5EF4-FFF2-40B4-BE49-F238E27FC236}">
                <a16:creationId xmlns:a16="http://schemas.microsoft.com/office/drawing/2014/main" id="{B87E967F-F1DB-4564-8806-25657B9BDF16}"/>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F6733F74-2107-4DA5-9A3F-8FCE95A79125}"/>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Đe Dọa &amp; Danh Mục ATT&amp;CK v19.2</a:t>
            </a:r>
          </a:p>
          <a:p xmlns:a="http://schemas.openxmlformats.org/drawingml/2006/main">
            <a:pPr>
              <a:spcBef>
                <a:spcPts val="250"/>
              </a:spcBef>
              <a:buNone/>
              <a:defRPr sz="1100">
                <a:solidFill>
                  <a:srgbClr val="0F172A"/>
                </a:solidFill>
                <a:latin typeface="Calibri"/>
                <a:ea typeface="Calibri"/>
                <a:cs typeface="Calibri"/>
              </a:defRPr>
            </a:pPr>
            <a:r>
              <a:t>•  Tiêu chuẩn danh mục: Pinned MITRE ATT&amp;CK v19.2 Enterprise Windows (474 techniques/sub-techniques).</a:t>
            </a:r>
          </a:p>
          <a:p xmlns:a="http://schemas.openxmlformats.org/drawingml/2006/main">
            <a:pPr>
              <a:spcBef>
                <a:spcPts val="250"/>
              </a:spcBef>
              <a:buNone/>
              <a:defRPr sz="1100">
                <a:solidFill>
                  <a:srgbClr val="0F172A"/>
                </a:solidFill>
                <a:latin typeface="Calibri"/>
                <a:ea typeface="Calibri"/>
                <a:cs typeface="Calibri"/>
              </a:defRPr>
            </a:pPr>
            <a:r>
              <a:t>•  Chính sách kỹ thuật lịch sử (D2g: ALLOW_HISTORICAL):</a:t>
            </a:r>
          </a:p>
          <a:p xmlns:a="http://schemas.openxmlformats.org/drawingml/2006/main">
            <a:pPr>
              <a:spcBef>
                <a:spcPts val="250"/>
              </a:spcBef>
              <a:buNone/>
              <a:defRPr sz="1100">
                <a:solidFill>
                  <a:srgbClr val="0F172A"/>
                </a:solidFill>
                <a:latin typeface="Calibri"/>
                <a:ea typeface="Calibri"/>
                <a:cs typeface="Calibri"/>
              </a:defRPr>
            </a:pPr>
            <a:r>
              <a:t>  • Chấp nhận các mã kỹ thuật lịch sử hoặc đã bị thu hồi (revoked/deprecated) có trong bộ kiểm chuẩn.</a:t>
            </a:r>
          </a:p>
          <a:p xmlns:a="http://schemas.openxmlformats.org/drawingml/2006/main">
            <a:pPr>
              <a:spcBef>
                <a:spcPts val="250"/>
              </a:spcBef>
              <a:buNone/>
              <a:defRPr sz="1100">
                <a:solidFill>
                  <a:srgbClr val="0F172A"/>
                </a:solidFill>
                <a:latin typeface="Calibri"/>
                <a:ea typeface="Calibri"/>
                <a:cs typeface="Calibri"/>
              </a:defRPr>
            </a:pPr>
            <a:r>
              <a:t>  • Báo cáo dưới dạng distinct observation count, không tự ý gán lại (no silent remapping).</a:t>
            </a:r>
          </a:p>
          <a:p xmlns:a="http://schemas.openxmlformats.org/drawingml/2006/main">
            <a:pPr>
              <a:spcBef>
                <a:spcPts val="250"/>
              </a:spcBef>
              <a:buNone/>
              <a:defRPr sz="1100">
                <a:solidFill>
                  <a:srgbClr val="0F172A"/>
                </a:solidFill>
                <a:latin typeface="Calibri"/>
                <a:ea typeface="Calibri"/>
                <a:cs typeface="Calibri"/>
              </a:defRPr>
            </a:pPr>
            <a:r>
              <a:t>•  Vũ trụ Macro-F1 cố định (D2d: FROZEN_BENCHMARK_UNIVERSE = 474):</a:t>
            </a:r>
          </a:p>
          <a:p xmlns:a="http://schemas.openxmlformats.org/drawingml/2006/main">
            <a:pPr>
              <a:spcBef>
                <a:spcPts val="250"/>
              </a:spcBef>
              <a:buNone/>
              <a:defRPr sz="1100">
                <a:solidFill>
                  <a:srgbClr val="0F172A"/>
                </a:solidFill>
                <a:latin typeface="Calibri"/>
                <a:ea typeface="Calibri"/>
                <a:cs typeface="Calibri"/>
              </a:defRPr>
            </a:pPr>
            <a:r>
              <a:t>  • Tính Macro-F1 trên đúng 474 lớp kỹ thuật chuẩn đóng băng, đảm bảo nhất quán giữa các lần chạy.</a:t>
            </a:r>
          </a:p>
          <a:p xmlns:a="http://schemas.openxmlformats.org/drawingml/2006/main">
            <a:pPr>
              <a:spcBef>
                <a:spcPts val="250"/>
              </a:spcBef>
              <a:buNone/>
              <a:defRPr sz="1100">
                <a:solidFill>
                  <a:srgbClr val="0F172A"/>
                </a:solidFill>
                <a:latin typeface="Calibri"/>
                <a:ea typeface="Calibri"/>
                <a:cs typeface="Calibri"/>
              </a:defRPr>
            </a:pPr>
            <a:r>
              <a:t>•  Loại trừ mẫu rỗng / mơ hồ (D2b-c: EXCLUDE):</a:t>
            </a:r>
          </a:p>
          <a:p xmlns:a="http://schemas.openxmlformats.org/drawingml/2006/main">
            <a:pPr>
              <a:spcBef>
                <a:spcPts val="250"/>
              </a:spcBef>
              <a:buNone/>
              <a:defRPr sz="1100">
                <a:solidFill>
                  <a:srgbClr val="0F172A"/>
                </a:solidFill>
                <a:latin typeface="Calibri"/>
                <a:ea typeface="Calibri"/>
                <a:cs typeface="Calibri"/>
              </a:defRPr>
            </a:pPr>
            <a:r>
              <a:t>  • Mẫu không gán được nhãn hoặc nhãn mơ hồ bị loại khỏi mẫu số Attribution Accuracy.</a:t>
            </a:r>
          </a:p>
          <a:p xmlns:a="http://schemas.openxmlformats.org/drawingml/2006/main">
            <a:pPr>
              <a:spcBef>
                <a:spcPts val="250"/>
              </a:spcBef>
              <a:buNone/>
              <a:defRPr sz="1100">
                <a:solidFill>
                  <a:srgbClr val="0F172A"/>
                </a:solidFill>
                <a:latin typeface="Calibri"/>
                <a:ea typeface="Calibri"/>
                <a:cs typeface="Calibri"/>
              </a:defRPr>
            </a:pPr>
            <a:r>
              <a:t>•  Lưu vết đầy đủ (D1: RECORD_ONLY): Lưu toàn văn phản hồi thô phục vụ kiểm toán độc lập.</a:t>
            </a:r>
          </a:p>
        </p:txBody>
      </p:sp>
      <p:sp>
        <p:nvSpPr>
          <p:cNvPr id="8" name="Rounded Rectangle 7">
            <a:extLst xmlns:a="http://schemas.openxmlformats.org/drawingml/2006/main">
              <a:ext uri="{FF2B5EF4-FFF2-40B4-BE49-F238E27FC236}">
                <a16:creationId xmlns:a16="http://schemas.microsoft.com/office/drawing/2014/main" id="{6CD334BA-CB48-4684-BFD5-834D7FFF24B1}"/>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7438878A-36C5-40D7-B529-03F99F50C9AB}"/>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Tiêu Chí Giao Thức Đánh Giá Cốt Lõi</a:t>
            </a:r>
          </a:p>
          <a:p xmlns:a="http://schemas.openxmlformats.org/drawingml/2006/main">
            <a:pPr>
              <a:spcBef>
                <a:spcPts val="250"/>
              </a:spcBef>
              <a:buNone/>
              <a:defRPr sz="1100">
                <a:solidFill>
                  <a:srgbClr val="0F172A"/>
                </a:solidFill>
                <a:latin typeface="Calibri"/>
                <a:ea typeface="Calibri"/>
                <a:cs typeface="Calibri"/>
              </a:defRPr>
            </a:pPr>
            <a:r>
              <a:t>•  D2h: Multi-GT Retrieval Success (ANY_GT_RETRIEVED):</a:t>
            </a:r>
          </a:p>
          <a:p xmlns:a="http://schemas.openxmlformats.org/drawingml/2006/main">
            <a:pPr>
              <a:spcBef>
                <a:spcPts val="250"/>
              </a:spcBef>
              <a:buNone/>
              <a:defRPr sz="1100">
                <a:solidFill>
                  <a:srgbClr val="0F172A"/>
                </a:solidFill>
                <a:latin typeface="Calibri"/>
                <a:ea typeface="Calibri"/>
                <a:cs typeface="Calibri"/>
              </a:defRPr>
            </a:pPr>
            <a:r>
              <a:t>  • Retrieval được tính là thành công nếu BẤT KỲ ground-truth technique ID nào có trong Top-k candidates.</a:t>
            </a:r>
          </a:p>
          <a:p xmlns:a="http://schemas.openxmlformats.org/drawingml/2006/main">
            <a:pPr>
              <a:spcBef>
                <a:spcPts val="250"/>
              </a:spcBef>
              <a:buNone/>
              <a:defRPr sz="1100">
                <a:solidFill>
                  <a:srgbClr val="0F172A"/>
                </a:solidFill>
                <a:latin typeface="Calibri"/>
                <a:ea typeface="Calibri"/>
                <a:cs typeface="Calibri"/>
              </a:defRPr>
            </a:pPr>
            <a:r>
              <a:t>•  D2i: Failure Decomposition (INDEPENDENT_AXES):</a:t>
            </a:r>
          </a:p>
          <a:p xmlns:a="http://schemas.openxmlformats.org/drawingml/2006/main">
            <a:pPr>
              <a:spcBef>
                <a:spcPts val="250"/>
              </a:spcBef>
              <a:buNone/>
              <a:defRPr sz="1100">
                <a:solidFill>
                  <a:srgbClr val="0F172A"/>
                </a:solidFill>
                <a:latin typeface="Calibri"/>
                <a:ea typeface="Calibri"/>
                <a:cs typeface="Calibri"/>
              </a:defRPr>
            </a:pPr>
            <a:r>
              <a:t>  • Bóc tách lỗi thành các trục đo lường độc lập; ghi nhận đầy đủ phần giao thoa khác 0 (non-zero overlap).</a:t>
            </a:r>
          </a:p>
          <a:p xmlns:a="http://schemas.openxmlformats.org/drawingml/2006/main">
            <a:pPr>
              <a:spcBef>
                <a:spcPts val="250"/>
              </a:spcBef>
              <a:buNone/>
              <a:defRPr sz="1100">
                <a:solidFill>
                  <a:srgbClr val="0F172A"/>
                </a:solidFill>
                <a:latin typeface="Calibri"/>
                <a:ea typeface="Calibri"/>
                <a:cs typeface="Calibri"/>
              </a:defRPr>
            </a:pPr>
            <a:r>
              <a:t>•  D2e: Invalid ID Denominator (invalid_id_as_failure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Mã kỹ thuật ảo giác, sai cú pháp đều bị tính là thất bại trong mẫu số end-to-end (Fail-Closed).</a:t>
            </a:r>
          </a:p>
          <a:p xmlns:a="http://schemas.openxmlformats.org/drawingml/2006/main">
            <a:pPr>
              <a:spcBef>
                <a:spcPts val="250"/>
              </a:spcBef>
              <a:buNone/>
              <a:defRPr sz="1100">
                <a:solidFill>
                  <a:srgbClr val="0F172A"/>
                </a:solidFill>
                <a:latin typeface="Calibri"/>
                <a:ea typeface="Calibri"/>
                <a:cs typeface="Calibri"/>
              </a:defRPr>
            </a:pPr>
            <a:r>
              <a:t>•  D2f: Provider Failure Denominator (api_failure_as_failure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Lỗi API, timeout, refusal đều tính vào mẫu số thất bại end-to-end, không được loại trừ.</a:t>
            </a:r>
          </a:p>
          <a:p xmlns:a="http://schemas.openxmlformats.org/drawingml/2006/main">
            <a:pPr>
              <a:spcBef>
                <a:spcPts val="250"/>
              </a:spcBef>
              <a:buNone/>
              <a:defRPr sz="1100">
                <a:solidFill>
                  <a:srgbClr val="0F172A"/>
                </a:solidFill>
                <a:latin typeface="Calibri"/>
                <a:ea typeface="Calibri"/>
                <a:cs typeface="Calibri"/>
              </a:defRPr>
            </a:pPr>
            <a:r>
              <a:t>•  D3: Khóa mô hình: ALLOW_LATEST_WITH_TIMESTAMP_BINDING (tem UTC thực tế).</a:t>
            </a:r>
          </a:p>
          <a:p xmlns:a="http://schemas.openxmlformats.org/drawingml/2006/main">
            <a:pPr>
              <a:spcBef>
                <a:spcPts val="250"/>
              </a:spcBef>
              <a:buNone/>
              <a:defRPr sz="1100">
                <a:solidFill>
                  <a:srgbClr val="0F172A"/>
                </a:solidFill>
                <a:latin typeface="Calibri"/>
                <a:ea typeface="Calibri"/>
                <a:cs typeface="Calibri"/>
              </a:defRPr>
            </a:pPr>
            <a:r>
              <a:t>•  D4-D5: Thực thi tuần tự (SEQUENTIAL_ONLY), chặn cứng ngân sách (HARD_CAP).</a:t>
            </a:r>
          </a:p>
        </p:txBody>
      </p:sp>
    </p:spTree>
    <p:extLst>
      <p:ext uri="{BB962C8B-B14F-4D97-AF65-F5344CB8AC3E}">
        <p14:creationId xmlns:p14="http://schemas.microsoft.com/office/powerpoint/2010/main" val="73035988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BD886271-9E50-48E9-8074-5992A607422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E548262D-EE3A-46F5-B428-95F9EF3BB378}"/>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A018D37F-572A-4C43-BE37-AE490C003635}"/>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6664577D-EEC3-4583-B64F-17C18EFCD88B}"/>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5. Kết Quả RQ2: Chẩn Đoán Khâu Truy Xuất (Retrieval Quality)</a:t>
            </a:r>
          </a:p>
          <a:p xmlns:a="http://schemas.openxmlformats.org/drawingml/2006/main">
            <a:pPr>
              <a:buNone/>
              <a:defRPr sz="1300">
                <a:solidFill>
                  <a:srgbClr val="06B6D4"/>
                </a:solidFill>
                <a:latin typeface="Calibri"/>
                <a:ea typeface="Calibri"/>
                <a:cs typeface="Calibri"/>
              </a:defRPr>
            </a:pPr>
            <a:r>
              <a:t>Đánh giá độc lập bộ tìm kiếm trên 756 positive views của benchmark</a:t>
            </a:r>
          </a:p>
        </p:txBody>
      </p:sp>
      <p:sp>
        <p:nvSpPr>
          <p:cNvPr id="6" name="Rounded Rectangle 5">
            <a:extLst xmlns:a="http://schemas.openxmlformats.org/drawingml/2006/main">
              <a:ext uri="{FF2B5EF4-FFF2-40B4-BE49-F238E27FC236}">
                <a16:creationId xmlns:a16="http://schemas.microsoft.com/office/drawing/2014/main" id="{6D1298E0-CD6D-4635-BBAC-98F012E57033}"/>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7CC56DAB-A78D-438A-B49B-75863023294E}"/>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Số Liệu Chẩn Đoán Cốt Lõi (T20 Overall)</a:t>
            </a:r>
          </a:p>
          <a:p xmlns:a="http://schemas.openxmlformats.org/drawingml/2006/main">
            <a:pPr>
              <a:spcBef>
                <a:spcPts val="300"/>
              </a:spcBef>
              <a:buNone/>
              <a:defRPr sz="1150">
                <a:solidFill>
                  <a:srgbClr val="0F172A"/>
                </a:solidFill>
                <a:latin typeface="Calibri"/>
                <a:ea typeface="Calibri"/>
                <a:cs typeface="Calibri"/>
              </a:defRPr>
            </a:pPr>
            <a:r>
              <a:t>•  Số mẫu dương tính đánh giá: 756 / 1,340 views.</a:t>
            </a:r>
          </a:p>
          <a:p xmlns:a="http://schemas.openxmlformats.org/drawingml/2006/main">
            <a:pPr>
              <a:spcBef>
                <a:spcPts val="300"/>
              </a:spcBef>
              <a:buNone/>
              <a:defRPr sz="1150">
                <a:solidFill>
                  <a:srgbClr val="0F172A"/>
                </a:solidFill>
                <a:latin typeface="Calibri"/>
                <a:ea typeface="Calibri"/>
                <a:cs typeface="Calibri"/>
              </a:defRPr>
            </a:pPr>
            <a:r>
              <a:t>•  Tỷ lệ tìm trúng theo độ sâu k (Hit@k):</a:t>
            </a:r>
          </a:p>
          <a:p xmlns:a="http://schemas.openxmlformats.org/drawingml/2006/main">
            <a:pPr>
              <a:spcBef>
                <a:spcPts val="300"/>
              </a:spcBef>
              <a:buNone/>
              <a:defRPr sz="1150">
                <a:solidFill>
                  <a:srgbClr val="0F172A"/>
                </a:solidFill>
                <a:latin typeface="Calibri"/>
                <a:ea typeface="Calibri"/>
                <a:cs typeface="Calibri"/>
              </a:defRPr>
            </a:pPr>
            <a:r>
              <a:t>  • Hit@1:   4.23% (32 / 756)</a:t>
            </a:r>
          </a:p>
          <a:p xmlns:a="http://schemas.openxmlformats.org/drawingml/2006/main">
            <a:pPr>
              <a:spcBef>
                <a:spcPts val="300"/>
              </a:spcBef>
              <a:buNone/>
              <a:defRPr sz="1150">
                <a:solidFill>
                  <a:srgbClr val="0F172A"/>
                </a:solidFill>
                <a:latin typeface="Calibri"/>
                <a:ea typeface="Calibri"/>
                <a:cs typeface="Calibri"/>
              </a:defRPr>
            </a:pPr>
            <a:r>
              <a:t>  • Hit@3:  16.80% (127 / 756)</a:t>
            </a:r>
          </a:p>
          <a:p xmlns:a="http://schemas.openxmlformats.org/drawingml/2006/main">
            <a:pPr>
              <a:spcBef>
                <a:spcPts val="300"/>
              </a:spcBef>
              <a:buNone/>
              <a:defRPr sz="1150">
                <a:solidFill>
                  <a:srgbClr val="0F172A"/>
                </a:solidFill>
                <a:latin typeface="Calibri"/>
                <a:ea typeface="Calibri"/>
                <a:cs typeface="Calibri"/>
              </a:defRPr>
            </a:pPr>
            <a:r>
              <a:t>  • Hit@5:  24.21% (183 / 756)</a:t>
            </a:r>
          </a:p>
          <a:p xmlns:a="http://schemas.openxmlformats.org/drawingml/2006/main">
            <a:pPr>
              <a:spcBef>
                <a:spcPts val="300"/>
              </a:spcBef>
              <a:buNone/>
              <a:defRPr sz="1150">
                <a:solidFill>
                  <a:srgbClr val="0F172A"/>
                </a:solidFill>
                <a:latin typeface="Calibri"/>
                <a:ea typeface="Calibri"/>
                <a:cs typeface="Calibri"/>
              </a:defRPr>
            </a:pPr>
            <a:r>
              <a:t>  • Hit@10: 45.11% (341 / 756) -&gt; [Diagnostic Fixture: Hit@10 = 0.8333]</a:t>
            </a:r>
          </a:p>
          <a:p xmlns:a="http://schemas.openxmlformats.org/drawingml/2006/main">
            <a:pPr>
              <a:spcBef>
                <a:spcPts val="300"/>
              </a:spcBef>
              <a:buNone/>
              <a:defRPr sz="1150">
                <a:solidFill>
                  <a:srgbClr val="0F172A"/>
                </a:solidFill>
                <a:latin typeface="Calibri"/>
                <a:ea typeface="Calibri"/>
                <a:cs typeface="Calibri"/>
              </a:defRPr>
            </a:pPr>
            <a:r>
              <a:t>•  Tỷ lệ vắng mặt trong Top-10 (Retrieval Failure): 54.89% (415 / 756) -&gt; [Fixture Miss Rate: 0.1667]</a:t>
            </a:r>
          </a:p>
          <a:p xmlns:a="http://schemas.openxmlformats.org/drawingml/2006/main">
            <a:pPr>
              <a:spcBef>
                <a:spcPts val="300"/>
              </a:spcBef>
              <a:buNone/>
              <a:defRPr sz="1150">
                <a:solidFill>
                  <a:srgbClr val="0F172A"/>
                </a:solidFill>
                <a:latin typeface="Calibri"/>
                <a:ea typeface="Calibri"/>
                <a:cs typeface="Calibri"/>
              </a:defRPr>
            </a:pPr>
            <a:r>
              <a:t>•  Macro Recall@10: 43.14% [Fixture Macro Recall@10: 0.8333]  |  Mean Rank khi trúng: 5.21.</a:t>
            </a:r>
          </a:p>
          <a:p xmlns:a="http://schemas.openxmlformats.org/drawingml/2006/main">
            <a:pPr>
              <a:spcBef>
                <a:spcPts val="300"/>
              </a:spcBef>
              <a:buNone/>
              <a:defRPr sz="1150">
                <a:solidFill>
                  <a:srgbClr val="0F172A"/>
                </a:solidFill>
                <a:latin typeface="Calibri"/>
                <a:ea typeface="Calibri"/>
                <a:cs typeface="Calibri"/>
              </a:defRPr>
            </a:pPr>
            <a:r>
              <a:t>•  Phát hiện: Trong hơn 54% trường hợp, kỹ thuật đúng hoàn toàn vắng bóng trong Top-10 gửi cho LLM!</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1fdd529506ff4862"/>
          <a:stretch xmlns:a="http://schemas.openxmlformats.org/drawingml/2006/main">
            <a:fillRect l="0" t="0" r="0" b="0"/>
          </a:stretch>
        </p:blipFill>
        <p:spPr>
          <a:xfrm xmlns:a="http://schemas.openxmlformats.org/drawingml/2006/main">
            <a:off x="6248095" y="1234440"/>
            <a:ext cx="5212080" cy="3257550"/>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0E0F0CE4-8BBF-437D-80B9-EC8FB4C2CA80}"/>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E08878C1-E243-4199-97F4-E4D94C606D6C}"/>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Giả Thuyết Context Scaling &amp; Dilution (k=1,3,5,10)</a:t>
            </a:r>
          </a:p>
          <a:p xmlns:a="http://schemas.openxmlformats.org/drawingml/2006/main">
            <a:pPr>
              <a:spcBef>
                <a:spcPts val="250"/>
              </a:spcBef>
              <a:buNone/>
              <a:defRPr sz="1100">
                <a:solidFill>
                  <a:srgbClr val="0F172A"/>
                </a:solidFill>
                <a:latin typeface="Calibri"/>
                <a:ea typeface="Calibri"/>
                <a:cs typeface="Calibri"/>
              </a:defRPr>
            </a:pPr>
            <a:r>
              <a:t>•  Khoảng cách ngữ nghĩa tại T1136.001 (Local Account): 0/99 lượt trúng Top-10 do log Event ID 4720 lệch từ vựng so với STIX persistence.</a:t>
            </a:r>
          </a:p>
          <a:p xmlns:a="http://schemas.openxmlformats.org/drawingml/2006/main">
            <a:pPr>
              <a:spcBef>
                <a:spcPts val="250"/>
              </a:spcBef>
              <a:buNone/>
              <a:defRPr sz="1100">
                <a:solidFill>
                  <a:srgbClr val="0F172A"/>
                </a:solidFill>
                <a:latin typeface="Calibri"/>
                <a:ea typeface="Calibri"/>
                <a:cs typeface="Calibri"/>
              </a:defRPr>
            </a:pPr>
            <a:r>
              <a:t>•  Giả thuyết Context Scaling &amp; Dilution: Tăng k tăng độ phủ (Hit@k) nhưng tăng nguy cơ nhiễu distractor; </a:t>
            </a:r>
            <a:r>
              <a:t>đang được kiểm chứng đối chứng trên ma trận TEST [DIAGNOSTIC TEST FIXTURE ONLY - NOT CANONICAL NUMERICAL RESULTS].</a:t>
            </a:r>
          </a:p>
        </p:txBody>
      </p:sp>
    </p:spTree>
    <p:extLst>
      <p:ext uri="{BB962C8B-B14F-4D97-AF65-F5344CB8AC3E}">
        <p14:creationId xmlns:p14="http://schemas.microsoft.com/office/powerpoint/2010/main" val="34685330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6D5B608-F6C8-4C95-B30C-4AD003CF5CB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7A77D484-72B8-4F17-A959-01EDF718DF98}"/>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F9620F5B-FAF8-4F7D-9C98-09922DA7CE9A}"/>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47A05D45-7C59-4890-91C8-3225885DDB5E}"/>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6. Tác Động Của Hình Thức Biểu Diễn Telemetry</a:t>
            </a:r>
          </a:p>
          <a:p xmlns:a="http://schemas.openxmlformats.org/drawingml/2006/main">
            <a:pPr>
              <a:buNone/>
              <a:defRPr sz="1300">
                <a:solidFill>
                  <a:srgbClr val="06B6D4"/>
                </a:solidFill>
                <a:latin typeface="Calibri"/>
                <a:ea typeface="Calibri"/>
                <a:cs typeface="Calibri"/>
              </a:defRPr>
            </a:pPr>
            <a:r>
              <a:t>So sánh thực nghiệm Single vs Contextual trên 670 cặp kịch bản đối ứng</a:t>
            </a:r>
          </a:p>
        </p:txBody>
      </p:sp>
      <p:sp>
        <p:nvSpPr>
          <p:cNvPr id="6" name="Rounded Rectangle 5">
            <a:extLst xmlns:a="http://schemas.openxmlformats.org/drawingml/2006/main">
              <a:ext uri="{FF2B5EF4-FFF2-40B4-BE49-F238E27FC236}">
                <a16:creationId xmlns:a16="http://schemas.microsoft.com/office/drawing/2014/main" id="{E497226D-0AC7-4BE5-B544-C2A97D13F34A}"/>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92ED84E8-573E-455B-9C6E-1C7E0ED707FC}"/>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Phân Tích Cặp Anchor Chuẩn (296 Cặp - Primary)</a:t>
            </a:r>
          </a:p>
          <a:p xmlns:a="http://schemas.openxmlformats.org/drawingml/2006/main">
            <a:pPr>
              <a:spcBef>
                <a:spcPts val="300"/>
              </a:spcBef>
              <a:buNone/>
              <a:defRPr sz="1150">
                <a:solidFill>
                  <a:srgbClr val="0F172A"/>
                </a:solidFill>
                <a:latin typeface="Calibri"/>
                <a:ea typeface="Calibri"/>
                <a:cs typeface="Calibri"/>
              </a:defRPr>
            </a:pPr>
            <a:r>
              <a:t>•  Quy mô: 670 cặp kịch bản đối ứng; 374 cặp bị loại trừ do đa nhãn/mismatch.</a:t>
            </a:r>
          </a:p>
          <a:p xmlns:a="http://schemas.openxmlformats.org/drawingml/2006/main">
            <a:pPr>
              <a:spcBef>
                <a:spcPts val="300"/>
              </a:spcBef>
              <a:buNone/>
              <a:defRPr sz="1150">
                <a:solidFill>
                  <a:srgbClr val="0F172A"/>
                </a:solidFill>
                <a:latin typeface="Calibri"/>
                <a:ea typeface="Calibri"/>
                <a:cs typeface="Calibri"/>
              </a:defRPr>
            </a:pPr>
            <a:r>
              <a:t>•  Tiêu chí Anchor chuẩn (scripts/verify_t20_canonical_artifacts.py):</a:t>
            </a:r>
          </a:p>
          <a:p xmlns:a="http://schemas.openxmlformats.org/drawingml/2006/main">
            <a:pPr>
              <a:spcBef>
                <a:spcPts val="300"/>
              </a:spcBef>
              <a:buNone/>
              <a:defRPr sz="1150">
                <a:solidFill>
                  <a:srgbClr val="0F172A"/>
                </a:solidFill>
                <a:latin typeface="Calibri"/>
                <a:ea typeface="Calibri"/>
                <a:cs typeface="Calibri"/>
              </a:defRPr>
            </a:pPr>
            <a:r>
              <a:t>  • Single view có duy nhất 1 kỹ thuật và kỹ thuật này có mặt trong Contextual view.</a:t>
            </a:r>
          </a:p>
          <a:p xmlns:a="http://schemas.openxmlformats.org/drawingml/2006/main">
            <a:pPr>
              <a:spcBef>
                <a:spcPts val="300"/>
              </a:spcBef>
              <a:buNone/>
              <a:defRPr sz="1150">
                <a:solidFill>
                  <a:srgbClr val="0F172A"/>
                </a:solidFill>
                <a:latin typeface="Calibri"/>
                <a:ea typeface="Calibri"/>
                <a:cs typeface="Calibri"/>
              </a:defRPr>
            </a:pPr>
            <a:r>
              <a:t>•  Phân bố thứ hạng thực nghiệm quan sát được:</a:t>
            </a:r>
          </a:p>
          <a:p xmlns:a="http://schemas.openxmlformats.org/drawingml/2006/main">
            <a:pPr>
              <a:spcBef>
                <a:spcPts val="300"/>
              </a:spcBef>
              <a:buNone/>
              <a:defRPr sz="1150">
                <a:solidFill>
                  <a:srgbClr val="0F172A"/>
                </a:solidFill>
                <a:latin typeface="Calibri"/>
                <a:ea typeface="Calibri"/>
                <a:cs typeface="Calibri"/>
              </a:defRPr>
            </a:pPr>
            <a:r>
              <a:t>  • Single-event đạt thứ hạng tốt hơn: 65 cặp (22.0%)</a:t>
            </a:r>
          </a:p>
          <a:p xmlns:a="http://schemas.openxmlformats.org/drawingml/2006/main">
            <a:pPr>
              <a:spcBef>
                <a:spcPts val="300"/>
              </a:spcBef>
              <a:buNone/>
              <a:defRPr sz="1150">
                <a:solidFill>
                  <a:srgbClr val="0F172A"/>
                </a:solidFill>
                <a:latin typeface="Calibri"/>
                <a:ea typeface="Calibri"/>
                <a:cs typeface="Calibri"/>
              </a:defRPr>
            </a:pPr>
            <a:r>
              <a:t>  • Contextual-event đạt thứ hạng tốt hơn: 23 cặp (7.8%)</a:t>
            </a:r>
          </a:p>
          <a:p xmlns:a="http://schemas.openxmlformats.org/drawingml/2006/main">
            <a:pPr>
              <a:spcBef>
                <a:spcPts val="300"/>
              </a:spcBef>
              <a:buNone/>
              <a:defRPr sz="1150">
                <a:solidFill>
                  <a:srgbClr val="0F172A"/>
                </a:solidFill>
                <a:latin typeface="Calibri"/>
                <a:ea typeface="Calibri"/>
                <a:cs typeface="Calibri"/>
              </a:defRPr>
            </a:pPr>
            <a:r>
              <a:t>  • Hiệu năng thứ hạng tương đương: 208 cặp (70.3%)</a:t>
            </a:r>
          </a:p>
          <a:p xmlns:a="http://schemas.openxmlformats.org/drawingml/2006/main">
            <a:pPr>
              <a:spcBef>
                <a:spcPts val="300"/>
              </a:spcBef>
              <a:buNone/>
              <a:defRPr sz="1150">
                <a:solidFill>
                  <a:srgbClr val="0F172A"/>
                </a:solidFill>
                <a:latin typeface="Calibri"/>
                <a:ea typeface="Calibri"/>
                <a:cs typeface="Calibri"/>
              </a:defRPr>
            </a:pPr>
            <a:r>
              <a:t>    - Cả hai biểu diễn cùng trượt Top-10: 147 cặp</a:t>
            </a:r>
          </a:p>
          <a:p xmlns:a="http://schemas.openxmlformats.org/drawingml/2006/main">
            <a:pPr>
              <a:spcBef>
                <a:spcPts val="300"/>
              </a:spcBef>
              <a:buNone/>
              <a:defRPr sz="1150">
                <a:solidFill>
                  <a:srgbClr val="0F172A"/>
                </a:solidFill>
                <a:latin typeface="Calibri"/>
                <a:ea typeface="Calibri"/>
                <a:cs typeface="Calibri"/>
              </a:defRPr>
            </a:pPr>
            <a:r>
              <a:t>    - Đồng hạng chính xác trong Top-10: 61 cặp</a:t>
            </a:r>
          </a:p>
          <a:p xmlns:a="http://schemas.openxmlformats.org/drawingml/2006/main">
            <a:pPr>
              <a:spcBef>
                <a:spcPts val="300"/>
              </a:spcBef>
              <a:buNone/>
              <a:defRPr sz="1150">
                <a:solidFill>
                  <a:srgbClr val="0F172A"/>
                </a:solidFill>
                <a:latin typeface="Calibri"/>
                <a:ea typeface="Calibri"/>
                <a:cs typeface="Calibri"/>
              </a:defRPr>
            </a:pPr>
            <a:r>
              <a:t>•  Nhóm lọc đơn kỹ thuật nghiêm ngặt (252 cặp - Secondary): Single tốt hơn 59 cặp (23.4%) vs. Contextual 23 cặp (9.1%), ngang nhau 170 cặp.</a:t>
            </a:r>
          </a:p>
        </p:txBody>
      </p:sp>
      <p:sp>
        <p:nvSpPr>
          <p:cNvPr id="8" name="Rounded Rectangle 7">
            <a:extLst xmlns:a="http://schemas.openxmlformats.org/drawingml/2006/main">
              <a:ext uri="{FF2B5EF4-FFF2-40B4-BE49-F238E27FC236}">
                <a16:creationId xmlns:a16="http://schemas.microsoft.com/office/drawing/2014/main" id="{339BDEBF-AF1B-4815-AEFA-4A6E0717FF7F}"/>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85D9B94A-4338-4A52-97CC-710D2EE71D29}"/>
              </a:ext>
            </a:extLst>
          </p:cNvPr>
          <p:cNvSpPr>
            <a:spLocks xmlns:a="http://schemas.openxmlformats.org/drawingml/2006/main" noGrp="1"/>
          </p:cNvSpPr>
          <p:nvPr/>
        </p:nvSpPr>
        <p:spPr>
          <a:xfrm xmlns:a="http://schemas.openxmlformats.org/drawingml/2006/main">
            <a:off x="6430975" y="1344168"/>
            <a:ext cx="4846320" cy="5410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Hiện Tượng Quan Sát &amp; Schema So Sánh </a:t>
            </a:r>
            <a:r>
              <a:t>[DIAGNOSTIC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t>•  Hiện tượng Benign Drift khi mở rộng ngữ cảnh:</a:t>
            </a:r>
          </a:p>
          <a:p xmlns:a="http://schemas.openxmlformats.org/drawingml/2006/main">
            <a:pPr>
              <a:spcBef>
                <a:spcPts val="300"/>
              </a:spcBef>
              <a:buNone/>
              <a:defRPr sz="1150">
                <a:solidFill>
                  <a:srgbClr val="0F172A"/>
                </a:solidFill>
                <a:latin typeface="Calibri"/>
                <a:ea typeface="Calibri"/>
                <a:cs typeface="Calibri"/>
              </a:defRPr>
            </a:pPr>
            <a:r>
              <a:t>  • Gộp các sự kiện lân cận bổ sung nhiều token thông thường (Explorer, DNS, svchost).</a:t>
            </a:r>
          </a:p>
          <a:p xmlns:a="http://schemas.openxmlformats.org/drawingml/2006/main">
            <a:pPr>
              <a:spcBef>
                <a:spcPts val="300"/>
              </a:spcBef>
              <a:buNone/>
              <a:defRPr sz="1150">
                <a:solidFill>
                  <a:srgbClr val="0F172A"/>
                </a:solidFill>
                <a:latin typeface="Calibri"/>
                <a:ea typeface="Calibri"/>
                <a:cs typeface="Calibri"/>
              </a:defRPr>
            </a:pPr>
            <a:r>
              <a:t>  • Vector dense embedding bị kéo lệch về hành vi bình thường, làm tụt thứ hạng kỹ thuật tấn công.</a:t>
            </a:r>
          </a:p>
          <a:p xmlns:a="http://schemas.openxmlformats.org/drawingml/2006/main">
            <a:pPr>
              <a:spcBef>
                <a:spcPts val="300"/>
              </a:spcBef>
              <a:buNone/>
              <a:defRPr sz="1150">
                <a:solidFill>
                  <a:srgbClr val="0F172A"/>
                </a:solidFill>
                <a:latin typeface="Calibri"/>
                <a:ea typeface="Calibri"/>
                <a:cs typeface="Calibri"/>
              </a:defRPr>
            </a:pPr>
            <a:r>
              <a:t>•  Schema So Sánh Đối Chứng Scaffold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Diagnostic Cohort Pairwise Comparison (n=718 views across 440 clusters):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Marginal Views: Single-event Acc = 0.5000 vs Contextual-event Acc = 0.5000 (Delta = +0.0000)</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Paired Cohort (278 complete pairs): Single Acc = 0.5000 vs Context Acc = 0.5000 (Delta = +0.00 pp)</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 Concordance: Both Correct = 139, Single-only Correct = 0, Context-only Correct = 0, Both Incorrect = 139</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McNemar Exploratory Test: p_asympt = 1.0000, p_exact = 1.0000</a:t>
            </a:r>
          </a:p>
          <a:p xmlns:a="http://schemas.openxmlformats.org/drawingml/2006/main">
            <a:pPr>
              <a:spcBef>
                <a:spcPts val="300"/>
              </a:spcBef>
              <a:buNone/>
              <a:defRPr sz="1150">
                <a:solidFill>
                  <a:srgbClr val="0F172A"/>
                </a:solidFill>
                <a:latin typeface="Calibri"/>
                <a:ea typeface="Calibri"/>
                <a:cs typeface="Calibri"/>
              </a:defRPr>
            </a:pPr>
            <a:r>
              <a:t>  • Đối chứng: Zero-Shot No-RAG vs Zero-Shot RAG (k=1..10) vs Prompt Scaffolds.</a:t>
            </a:r>
          </a:p>
          <a:p xmlns:a="http://schemas.openxmlformats.org/drawingml/2006/main">
            <a:pPr>
              <a:spcBef>
                <a:spcPts val="300"/>
              </a:spcBef>
              <a:buNone/>
              <a:defRPr sz="1150">
                <a:solidFill>
                  <a:srgbClr val="0F172A"/>
                </a:solidFill>
                <a:latin typeface="Calibri"/>
                <a:ea typeface="Calibri"/>
                <a:cs typeface="Calibri"/>
              </a:defRPr>
            </a:pPr>
            <a:r>
              <a:t>  • Giả thuyết: Khối tri thức RAG bổ trợ cần đi kèm tiền lọc sự kiện nghi vấn thay vì nhúng thô.</a:t>
            </a:r>
          </a:p>
          <a:p xmlns:a="http://schemas.openxmlformats.org/drawingml/2006/main">
            <a:pPr>
              <a:spcBef>
                <a:spcPts val="300"/>
              </a:spcBef>
              <a:buNone/>
              <a:defRPr sz="1150">
                <a:solidFill>
                  <a:srgbClr val="0F172A"/>
                </a:solidFill>
                <a:latin typeface="Calibri"/>
                <a:ea typeface="Calibri"/>
                <a:cs typeface="Calibri"/>
              </a:defRPr>
            </a:pPr>
            <a:r>
              <a:t>  • Trạng thái: Toàn bộ ma trận TEST đang thực thi; kết luận chính thức sẽ công bố khi hoàn tất.</a:t>
            </a:r>
          </a:p>
          <a:p xmlns:a="http://schemas.openxmlformats.org/drawingml/2006/main">
            <a:pPr>
              <a:spcBef>
                <a:spcPts val="300"/>
              </a:spcBef>
              <a:buNone/>
              <a:defRPr sz="1150">
                <a:solidFill>
                  <a:srgbClr val="0F172A"/>
                </a:solidFill>
                <a:latin typeface="Calibri"/>
                <a:ea typeface="Calibri"/>
                <a:cs typeface="Calibri"/>
              </a:defRPr>
            </a:pPr>
            <a:r>
              <a:t>•  Phạm vi khảo sát: Ghi nhận trên synthetic-paired-v1; cần tiếp tục kiểm chứng trên telemetry thực tế.</a:t>
            </a:r>
          </a:p>
        </p:txBody>
      </p:sp>
    </p:spTree>
    <p:extLst>
      <p:ext uri="{BB962C8B-B14F-4D97-AF65-F5344CB8AC3E}">
        <p14:creationId xmlns:p14="http://schemas.microsoft.com/office/powerpoint/2010/main" val="27931836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42BF1C6-9628-4829-8511-7E4740CBDA5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74915344-EF7E-467F-9957-CC87313528D3}"/>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53659B57-9C8C-40A9-AF60-16A18D874DE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7A44891F-0971-485E-A233-4CF123A5739A}"/>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7. Khung Đánh Giá End-to-End (RQ1) &amp; Phân Rã Lỗi Độc Lập D2i (RQ2)</a:t>
            </a:r>
          </a:p>
          <a:p xmlns:a="http://schemas.openxmlformats.org/drawingml/2006/main">
            <a:pPr>
              <a:buNone/>
              <a:defRPr sz="1300">
                <a:solidFill>
                  <a:srgbClr val="06B6D4"/>
                </a:solidFill>
                <a:latin typeface="Calibri"/>
                <a:ea typeface="Calibri"/>
                <a:cs typeface="Calibri"/>
              </a:defRPr>
            </a:pPr>
            <a:r>
              <a:t>Bóc tách độc lập giữa năng lực truy xuất và phân loại theo định đề D2i (Independent Axes)</a:t>
            </a:r>
          </a:p>
        </p:txBody>
      </p:sp>
      <p:sp>
        <p:nvSpPr>
          <p:cNvPr id="6" name="Rounded Rectangle 5">
            <a:extLst xmlns:a="http://schemas.openxmlformats.org/drawingml/2006/main">
              <a:ext uri="{FF2B5EF4-FFF2-40B4-BE49-F238E27FC236}">
                <a16:creationId xmlns:a16="http://schemas.microsoft.com/office/drawing/2014/main" id="{5B34D758-34A1-476A-9CEE-D11B4E9841B7}"/>
              </a:ext>
            </a:extLst>
          </p:cNvPr>
          <p:cNvSpPr>
            <a:spLocks xmlns:a="http://schemas.openxmlformats.org/drawingml/2006/main" noGrp="1"/>
          </p:cNvSpPr>
          <p:nvPr/>
        </p:nvSpPr>
        <p:spPr>
          <a:xfrm xmlns:a="http://schemas.openxmlformats.org/drawingml/2006/main">
            <a:off x="731520" y="118872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8CFDBAB0-EA46-43FE-8C61-8AE8D6D9D96A}"/>
              </a:ext>
            </a:extLst>
          </p:cNvPr>
          <p:cNvSpPr>
            <a:spLocks xmlns:a="http://schemas.openxmlformats.org/drawingml/2006/main" noGrp="1"/>
          </p:cNvSpPr>
          <p:nvPr/>
        </p:nvSpPr>
        <p:spPr>
          <a:xfrm xmlns:a="http://schemas.openxmlformats.org/drawingml/2006/main">
            <a:off x="914400" y="129844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Phân Rã Lỗi Độc Lập Theo Định Đề D2i (RQ2 Error Decomposition)</a:t>
            </a:r>
          </a:p>
          <a:p xmlns:a="http://schemas.openxmlformats.org/drawingml/2006/main">
            <a:pPr>
              <a:spcBef>
                <a:spcPts val="250"/>
              </a:spcBef>
              <a:buNone/>
              <a:defRPr sz="1100">
                <a:solidFill>
                  <a:srgbClr val="0F172A"/>
                </a:solidFill>
                <a:latin typeface="Calibri"/>
                <a:ea typeface="Calibri"/>
                <a:cs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xmlns:a="http://schemas.openxmlformats.org/drawingml/2006/main">
            <a:pPr>
              <a:spcBef>
                <a:spcPts val="250"/>
              </a:spcBef>
              <a:buNone/>
              <a:defRPr sz="1100">
                <a:solidFill>
                  <a:srgbClr val="0F172A"/>
                </a:solidFill>
                <a:latin typeface="Calibri"/>
                <a:ea typeface="Calibri"/>
                <a:cs typeface="Calibri"/>
              </a:defRPr>
            </a:pPr>
            <a:r>
              <a:t>•  Trục 1 - Retrieval Miss Rate: 1 - Hit@k (kỹ thuật ground-truth vắng mặt trong Top-k theo tiêu chí D2h ANY_MATCH).</a:t>
            </a:r>
          </a:p>
          <a:p xmlns:a="http://schemas.openxmlformats.org/drawingml/2006/main">
            <a:pPr>
              <a:spcBef>
                <a:spcPts val="250"/>
              </a:spcBef>
              <a:buNone/>
              <a:defRPr sz="1100">
                <a:solidFill>
                  <a:srgbClr val="0F172A"/>
                </a:solidFill>
                <a:latin typeface="Calibri"/>
                <a:ea typeface="Calibri"/>
                <a:cs typeface="Calibri"/>
              </a:defRPr>
            </a:pPr>
            <a:r>
              <a:t>•  Trục 2 - Downstream Generation Failure: mô hình phát sinh invalid ATT&amp;CK ID (D2e), gặp lỗi provider (D2f), hoặc chọn sai kỹ thuật dù đã được cung cấp.</a:t>
            </a:r>
          </a:p>
          <a:p xmlns:a="http://schemas.openxmlformats.org/drawingml/2006/main">
            <a:pPr>
              <a:spcBef>
                <a:spcPts val="250"/>
              </a:spcBef>
              <a:buNone/>
              <a:defRPr sz="1100">
                <a:solidFill>
                  <a:srgbClr val="0F172A"/>
                </a:solidFill>
                <a:latin typeface="Calibri"/>
                <a:ea typeface="Calibri"/>
                <a:cs typeface="Calibri"/>
              </a:defRPr>
            </a:pPr>
            <a:r>
              <a:t>•  Trục 3 - Joint Overlap: ghi nhận rõ các bản ghi retrieval trượt ĐỒNG THỜI mô hình hallucinate/phân loại sai, không áp đặt thứ tự loại trừ nhân tạo.</a:t>
            </a:r>
          </a:p>
        </p:txBody>
      </p:sp>
      <p:sp>
        <p:nvSpPr>
          <p:cNvPr id="8" name="Rounded Rectangle 7">
            <a:extLst xmlns:a="http://schemas.openxmlformats.org/drawingml/2006/main">
              <a:ext uri="{FF2B5EF4-FFF2-40B4-BE49-F238E27FC236}">
                <a16:creationId xmlns:a16="http://schemas.microsoft.com/office/drawing/2014/main" id="{5EDE8D18-9CBE-45C2-9DF7-6C7AEBA3F09F}"/>
              </a:ext>
            </a:extLst>
          </p:cNvPr>
          <p:cNvSpPr>
            <a:spLocks xmlns:a="http://schemas.openxmlformats.org/drawingml/2006/main" noGrp="1"/>
          </p:cNvSpPr>
          <p:nvPr/>
        </p:nvSpPr>
        <p:spPr>
          <a:xfrm xmlns:a="http://schemas.openxmlformats.org/drawingml/2006/main">
            <a:off x="731520"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BE7C79A6-26CD-42FD-A1A3-8DB96E120250}"/>
              </a:ext>
            </a:extLst>
          </p:cNvPr>
          <p:cNvSpPr>
            <a:spLocks xmlns:a="http://schemas.openxmlformats.org/drawingml/2006/main" noGrp="1"/>
          </p:cNvSpPr>
          <p:nvPr/>
        </p:nvSpPr>
        <p:spPr>
          <a:xfrm xmlns:a="http://schemas.openxmlformats.org/drawingml/2006/main">
            <a:off x="914400"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Các Thước Đo Có Điều Kiện (Conditional Metrics)</a:t>
            </a:r>
          </a:p>
          <a:p xmlns:a="http://schemas.openxmlformats.org/drawingml/2006/main">
            <a:pPr>
              <a:spcBef>
                <a:spcPts val="350"/>
              </a:spcBef>
              <a:buNone/>
              <a:defRPr sz="1150">
                <a:solidFill>
                  <a:srgbClr val="0F172A"/>
                </a:solidFill>
                <a:latin typeface="Calibri"/>
                <a:ea typeface="Calibri"/>
                <a:cs typeface="Calibri"/>
              </a:defRPr>
            </a:pPr>
            <a:r>
              <a:t>•  P(Correct | GT Retrieved) = 0.6000: Xác suất gán đúng quan sát được khi kỹ thuật mục tiêu hiện diện trong Top-k.</a:t>
            </a:r>
          </a:p>
          <a:p xmlns:a="http://schemas.openxmlformats.org/drawingml/2006/main">
            <a:pPr>
              <a:spcBef>
                <a:spcPts val="350"/>
              </a:spcBef>
              <a:buNone/>
              <a:defRPr sz="1150">
                <a:solidFill>
                  <a:srgbClr val="0F172A"/>
                </a:solidFill>
                <a:latin typeface="Calibri"/>
                <a:ea typeface="Calibri"/>
                <a:cs typeface="Calibri"/>
              </a:defRPr>
            </a:pPr>
            <a:r>
              <a:t>•  P(Correct | GT Absent) = 0.0000: Xác suất gán đúng quan sát được khi kỹ thuật mục tiêu vắng mặt trong Top-k (không giả định tự sửa sai nội tại).</a:t>
            </a:r>
          </a:p>
          <a:p xmlns:a="http://schemas.openxmlformats.org/drawingml/2006/main">
            <a:pPr>
              <a:spcBef>
                <a:spcPts val="350"/>
              </a:spcBef>
              <a:buNone/>
              <a:defRPr sz="1150">
                <a:solidFill>
                  <a:srgbClr val="0F172A"/>
                </a:solidFill>
                <a:latin typeface="Calibri"/>
                <a:ea typeface="Calibri"/>
                <a:cs typeface="Calibri"/>
              </a:defRPr>
            </a:pPr>
            <a:r>
              <a:t>•  Macro-F1 &amp; Exact Match: Tính trên không gian kỹ thuật chuẩn Frozen Benchmark Universe (D2d = 474).</a:t>
            </a:r>
          </a:p>
          <a:p xmlns:a="http://schemas.openxmlformats.org/drawingml/2006/main">
            <a:pPr>
              <a:spcBef>
                <a:spcPts val="350"/>
              </a:spcBef>
              <a:buNone/>
              <a:defRPr sz="1150">
                <a:solidFill>
                  <a:srgbClr val="0F172A"/>
                </a:solidFill>
                <a:latin typeface="Calibri"/>
                <a:ea typeface="Calibri"/>
                <a:cs typeface="Calibri"/>
              </a:defRPr>
            </a:pPr>
            <a:r>
              <a:t>•  Fail-Closed Invariant: Provider Fail = 0.0000, Parse Fail = 0.0000, Invalid ID = 0.1667 (tính vào mẫu số).</a:t>
            </a:r>
          </a:p>
        </p:txBody>
      </p:sp>
      <p:sp>
        <p:nvSpPr>
          <p:cNvPr id="10" name="Rounded Rectangle 9">
            <a:extLst xmlns:a="http://schemas.openxmlformats.org/drawingml/2006/main">
              <a:ext uri="{FF2B5EF4-FFF2-40B4-BE49-F238E27FC236}">
                <a16:creationId xmlns:a16="http://schemas.microsoft.com/office/drawing/2014/main" id="{B2EF3340-C821-4436-ABB8-7082C3884112}"/>
              </a:ext>
            </a:extLst>
          </p:cNvPr>
          <p:cNvSpPr>
            <a:spLocks xmlns:a="http://schemas.openxmlformats.org/drawingml/2006/main" noGrp="1"/>
          </p:cNvSpPr>
          <p:nvPr/>
        </p:nvSpPr>
        <p:spPr>
          <a:xfrm xmlns:a="http://schemas.openxmlformats.org/drawingml/2006/main">
            <a:off x="6248095"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101EEEF0-0931-4C97-9129-4E43EB51409F}"/>
              </a:ext>
            </a:extLst>
          </p:cNvPr>
          <p:cNvSpPr>
            <a:spLocks xmlns:a="http://schemas.openxmlformats.org/drawingml/2006/main" noGrp="1"/>
          </p:cNvSpPr>
          <p:nvPr/>
        </p:nvSpPr>
        <p:spPr>
          <a:xfrm xmlns:a="http://schemas.openxmlformats.org/drawingml/2006/main">
            <a:off x="6430975"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rPr sz="713" b="1">
                <a:solidFill>
                  <a:srgbClr val="DC2626"/>
                </a:solidFill>
                <a:latin typeface="Calibri"/>
                <a:ea typeface="Calibri"/>
                <a:cs typeface="Calibri"/>
              </a:rPr>
              <a:t>[DIAGNOSTIC TEST FIXTURE ONLY - NOT CANONICAL NUMERICAL RESULTS]</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Bảng Đối Chứng Hiệu Năng RQ1 (Diagnostic Fixture):</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Condition      Accuracy    Macro-F1    Delta vs No-RAG</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no_rag         0.5000      0.0929      baseline</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rag_k1         0.5000      0.0929      +0.0000 (+0.0000 F1)</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rag_k3         0.5000      0.0929      +0.0000 (+0.0000 F1)</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rag_k5         0.5000      0.0929      +0.0000 (+0.0000 F1)</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rag_k10        0.5000      0.0929      +0.0000 (+0.0000 F1)</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 Best Condition: rag_k10 (Delta Acc = +0.0000, Delta F1 = +0.0000)</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 95% CI: no_rag/k1/k3/k5/k10 = [0.3500, 0.6500] (chi tiết trong Speaker Notes)</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 RQ2 Phân rã lỗi (k=10): Wrong Class = 0.3333 | Overlaps: Miss&amp;Wrong=0, Prov=0, Parse=0, Inval=0</a:t>
            </a:r>
          </a:p>
        </p:txBody>
      </p:sp>
    </p:spTree>
    <p:extLst>
      <p:ext uri="{BB962C8B-B14F-4D97-AF65-F5344CB8AC3E}">
        <p14:creationId xmlns:p14="http://schemas.microsoft.com/office/powerpoint/2010/main" val="44524882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516140A-E4C3-4521-B9A7-417CFA224CE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DD47A10E-8AC0-4EE0-A425-12D76AD055C4}"/>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23075E0F-4902-4FF0-8AA0-364388A617B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00B4D52D-E953-485B-B6A4-5D19AF334F73}"/>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8. Tiêu Thụ Tài Nguyên &amp; Chi Phí Thực Nghiệm (RQ3)</a:t>
            </a:r>
          </a:p>
          <a:p xmlns:a="http://schemas.openxmlformats.org/drawingml/2006/main">
            <a:pPr>
              <a:buNone/>
              <a:defRPr sz="1300">
                <a:solidFill>
                  <a:srgbClr val="06B6D4"/>
                </a:solidFill>
                <a:latin typeface="Calibri"/>
                <a:ea typeface="Calibri"/>
                <a:cs typeface="Calibri"/>
              </a:defRPr>
            </a:pPr>
            <a:r>
              <a:t>Dữ liệu DEV pilot (synthetic split) đối chiếu Dự phóng Hạch toán Fixture [DIAGNOSTIC TEST FIXTURE ONLY]</a:t>
            </a:r>
          </a:p>
        </p:txBody>
      </p:sp>
      <p:sp>
        <p:nvSpPr>
          <p:cNvPr id="6" name="Rounded Rectangle 5">
            <a:extLst xmlns:a="http://schemas.openxmlformats.org/drawingml/2006/main">
              <a:ext uri="{FF2B5EF4-FFF2-40B4-BE49-F238E27FC236}">
                <a16:creationId xmlns:a16="http://schemas.microsoft.com/office/drawing/2014/main" id="{5511BAE8-677F-437F-8449-FD16F0EDB3E2}"/>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9E23258A-4CDA-4FCC-88E0-CEAD1DD06641}"/>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DEV Pilot Telemetry &amp; Hạch Toán Dự Phóng [DIAGNOSTIC TEST FIXTURE ONLY - NOT CANONICAL NUMERICAL RESULTS]</a:t>
            </a:r>
          </a:p>
          <a:p xmlns:a="http://schemas.openxmlformats.org/drawingml/2006/main">
            <a:pPr>
              <a:buNone/>
              <a:defRPr sz="1600" b="1">
                <a:solidFill>
                  <a:srgbClr val="1E40AF"/>
                </a:solidFill>
                <a:latin typeface="Calibri"/>
                <a:ea typeface="Calibri"/>
                <a:cs typeface="Calibri"/>
              </a:defRPr>
            </a:pP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[HISTORICAL DEV PILOT BASELINE (20 Requests)]</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Bản chất: DEV split tổng hợp (4 views x 5 điều kiện). Gửi request thực tế không biến log tổng hợp thành in-the-wild telemetry.</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Quy mô: 20 requests thực tế Responses API (100% VALID, 0 retry, trễ TB 8,127.6 ms).</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Tiêu thụ tài nguyên &amp; chi phí quan sát được (Observed Telemetry):</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 no_rag (k=0): 643.0 mean prompt tokens, med lat 7.89s (~0.000390 USD / logical req)</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 rag_k10 (k=10): 4536.5 mean prompt tokens, med lat 9.90s (~0.001870 USD / logical req)</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 Giữ chỗ thận trọng tạm thời: 0.05264010 USD (prior_pilot_provisional_hold_usd).</a:t>
            </a:r>
          </a:p>
          <a:p xmlns:a="http://schemas.openxmlformats.org/drawingml/2006/main">
            <a:pPr>
              <a:buNone/>
              <a:defRPr sz="1600" b="1">
                <a:solidFill>
                  <a:srgbClr val="1E40AF"/>
                </a:solidFill>
                <a:latin typeface="Calibri"/>
                <a:ea typeface="Calibri"/>
                <a:cs typeface="Calibri"/>
              </a:defRPr>
            </a:pP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[DIAGNOSTIC FIXTURE PROJECTION (N=718 SCORABLE VIEWS)]</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Hạch toán toàn thể nghiên cứu theo fixture (Whole Study Accounting Fixture):</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 Hạch toán điều kiện chuẩn (Canonical Total): 8.50 USD cho 6,400 requests.</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 Ngân sách chưa cam kết còn lại (Net Remaining): 11.44 USD.</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 Trần ngân sách đóng băng cứng: 19.99 USD (hard_budget_limit_usd).</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dd71940cb6394960"/>
          <a:stretch xmlns:a="http://schemas.openxmlformats.org/drawingml/2006/main">
            <a:fillRect l="0" t="0" r="0" b="0"/>
          </a:stretch>
        </p:blipFill>
        <p:spPr>
          <a:xfrm xmlns:a="http://schemas.openxmlformats.org/drawingml/2006/main">
            <a:off x="6248095" y="1234440"/>
            <a:ext cx="5212080" cy="2132215"/>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67BE1C8E-4C45-46FC-A696-1296461D49A2}"/>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B399EFDE-785B-4E0D-AE93-9F08E771C7C8}"/>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Quy Luật Đánh Đổi Hiệu Năng &amp; Chi Phí (RQ3 Trade-off)</a:t>
            </a:r>
          </a:p>
          <a:p xmlns:a="http://schemas.openxmlformats.org/drawingml/2006/main">
            <a:pPr>
              <a:spcBef>
                <a:spcPts val="250"/>
              </a:spcBef>
              <a:buNone/>
              <a:defRPr sz="1100">
                <a:solidFill>
                  <a:srgbClr val="0F172A"/>
                </a:solidFill>
                <a:latin typeface="Calibri"/>
                <a:ea typeface="Calibri"/>
                <a:cs typeface="Calibri"/>
              </a:defRPr>
            </a:pPr>
            <a:r>
              <a:t>•  Tăng k từ 1 lên 10 giúp tăng Hit rate từ 4.2% lên 45.1%, nhưng lượng token đầu vào tăng ~4x.</a:t>
            </a:r>
          </a:p>
          <a:p xmlns:a="http://schemas.openxmlformats.org/drawingml/2006/main">
            <a:pPr>
              <a:spcBef>
                <a:spcPts val="250"/>
              </a:spcBef>
              <a:buNone/>
              <a:defRPr sz="1100">
                <a:solidFill>
                  <a:srgbClr val="0F172A"/>
                </a:solidFill>
                <a:latin typeface="Calibri"/>
                <a:ea typeface="Calibri"/>
                <a:cs typeface="Calibri"/>
              </a:defRPr>
            </a:pPr>
            <a:r>
              <a:t>•  Dự báo chuẩn tắc tập TEST: 8.50 USD nằm an toàn dưới trần ngân sách đóng băng 19.99 USD [DIAGNOSTIC FIXTURE].</a:t>
            </a:r>
          </a:p>
        </p:txBody>
      </p:sp>
    </p:spTree>
    <p:extLst>
      <p:ext uri="{BB962C8B-B14F-4D97-AF65-F5344CB8AC3E}">
        <p14:creationId xmlns:p14="http://schemas.microsoft.com/office/powerpoint/2010/main" val="206336764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23E28773-3B09-42FD-B6B7-5B0BADB1550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80977C56-055D-4259-8B06-AE471EF94ECF}"/>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37465A4D-A7F5-4BB7-A2FB-844C5C3B8E6F}"/>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C6AFE00F-AA27-4AED-A6B3-42F9CF8AA262}"/>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9. Giới Hạn Nghiên Cứu &amp; Mối Đe Dọa Giá Trị</a:t>
            </a:r>
          </a:p>
          <a:p xmlns:a="http://schemas.openxmlformats.org/drawingml/2006/main">
            <a:pPr>
              <a:buNone/>
              <a:defRPr sz="1300">
                <a:solidFill>
                  <a:srgbClr val="06B6D4"/>
                </a:solidFill>
                <a:latin typeface="Calibri"/>
                <a:ea typeface="Calibri"/>
                <a:cs typeface="Calibri"/>
              </a:defRPr>
            </a:pPr>
            <a:r>
              <a:t>Đánh giá khách quan các hạn chế kỹ thuật và phạm vi khoa học</a:t>
            </a:r>
          </a:p>
        </p:txBody>
      </p:sp>
      <p:sp>
        <p:nvSpPr>
          <p:cNvPr id="6" name="Rounded Rectangle 5">
            <a:extLst xmlns:a="http://schemas.openxmlformats.org/drawingml/2006/main">
              <a:ext uri="{FF2B5EF4-FFF2-40B4-BE49-F238E27FC236}">
                <a16:creationId xmlns:a16="http://schemas.microsoft.com/office/drawing/2014/main" id="{0D7F3B7C-83B2-4F32-BD6A-738E32FC9E7E}"/>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51119C80-7E69-4F5B-B615-C54F338CA93C}"/>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Phạm Vi Dữ Liệu (Scope)</a:t>
            </a:r>
          </a:p>
          <a:p xmlns:a="http://schemas.openxmlformats.org/drawingml/2006/main">
            <a:pPr>
              <a:spcBef>
                <a:spcPts val="350"/>
              </a:spcBef>
              <a:buNone/>
              <a:defRPr sz="1150">
                <a:solidFill>
                  <a:srgbClr val="0F172A"/>
                </a:solidFill>
                <a:latin typeface="Calibri"/>
                <a:ea typeface="Calibri"/>
                <a:cs typeface="Calibri"/>
              </a:defRPr>
            </a:pPr>
            <a:r>
              <a:t>•  Dữ liệu thử nghiệm Stage B là kịch bản giả lập có cấu trúc (synthetic-paired-v1).</a:t>
            </a:r>
          </a:p>
          <a:p xmlns:a="http://schemas.openxmlformats.org/drawingml/2006/main">
            <a:pPr>
              <a:spcBef>
                <a:spcPts val="350"/>
              </a:spcBef>
              <a:buNone/>
              <a:defRPr sz="1150">
                <a:solidFill>
                  <a:srgbClr val="0F172A"/>
                </a:solidFill>
                <a:latin typeface="Calibri"/>
                <a:ea typeface="Calibri"/>
                <a:cs typeface="Calibri"/>
              </a:defRPr>
            </a:pPr>
            <a:r>
              <a:t>•  Mặc dù tuân thủ nghiêm ngặt định dạng sự kiện Windows, nó chưa phản ánh toàn diện độ nhiễu của các cuộc tấn công APT thực tế.</a:t>
            </a:r>
          </a:p>
          <a:p xmlns:a="http://schemas.openxmlformats.org/drawingml/2006/main">
            <a:pPr>
              <a:spcBef>
                <a:spcPts val="350"/>
              </a:spcBef>
              <a:buNone/>
              <a:defRPr sz="1150">
                <a:solidFill>
                  <a:srgbClr val="0F172A"/>
                </a:solidFill>
                <a:latin typeface="Calibri"/>
                <a:ea typeface="Calibri"/>
                <a:cs typeface="Calibri"/>
              </a:defRPr>
            </a:pPr>
            <a:r>
              <a:t>•  Nghiên cứu không khẳng định kết quả áp dụng nguyên vẹn cho môi trường thực tế cho đến khi hoàn tất T15 real pilot.</a:t>
            </a:r>
          </a:p>
        </p:txBody>
      </p:sp>
      <p:sp>
        <p:nvSpPr>
          <p:cNvPr id="8" name="Rounded Rectangle 7">
            <a:extLst xmlns:a="http://schemas.openxmlformats.org/drawingml/2006/main">
              <a:ext uri="{FF2B5EF4-FFF2-40B4-BE49-F238E27FC236}">
                <a16:creationId xmlns:a16="http://schemas.microsoft.com/office/drawing/2014/main" id="{27B6C9D0-72F7-4084-9592-4F6F40224D8D}"/>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F7EAA397-46D0-4748-8ECB-3F017BA485F5}"/>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Mô Hình Nhúng Đơn Tầng</a:t>
            </a:r>
          </a:p>
          <a:p xmlns:a="http://schemas.openxmlformats.org/drawingml/2006/main">
            <a:pPr>
              <a:spcBef>
                <a:spcPts val="350"/>
              </a:spcBef>
              <a:buNone/>
              <a:defRPr sz="1150">
                <a:solidFill>
                  <a:srgbClr val="0F172A"/>
                </a:solidFill>
                <a:latin typeface="Calibri"/>
                <a:ea typeface="Calibri"/>
                <a:cs typeface="Calibri"/>
              </a:defRPr>
            </a:pPr>
            <a:r>
              <a:t>•  Việc sử dụng all-MiniLM-L6-v2 thuần túy (dense bi-encoder) bộc lộ hạn chế lớn với các từ khóa kỹ thuật số (như Event ID 4720).</a:t>
            </a:r>
          </a:p>
          <a:p xmlns:a="http://schemas.openxmlformats.org/drawingml/2006/main">
            <a:pPr>
              <a:spcBef>
                <a:spcPts val="350"/>
              </a:spcBef>
              <a:buNone/>
              <a:defRPr sz="1150">
                <a:solidFill>
                  <a:srgbClr val="0F172A"/>
                </a:solidFill>
                <a:latin typeface="Calibri"/>
                <a:ea typeface="Calibri"/>
                <a:cs typeface="Calibri"/>
              </a:defRPr>
            </a:pPr>
            <a:r>
              <a:t>•  Khoảng cách giữa ngôn ngữ nhật ký và ngôn ngữ mô tả của ATT&amp;CK đòi hỏi phải có kiến trúc tìm kiếm lai (Hybrid Search: Dense + BM25 Lexical).</a:t>
            </a:r>
          </a:p>
        </p:txBody>
      </p:sp>
      <p:sp>
        <p:nvSpPr>
          <p:cNvPr id="10" name="Rounded Rectangle 9">
            <a:extLst xmlns:a="http://schemas.openxmlformats.org/drawingml/2006/main">
              <a:ext uri="{FF2B5EF4-FFF2-40B4-BE49-F238E27FC236}">
                <a16:creationId xmlns:a16="http://schemas.microsoft.com/office/drawing/2014/main" id="{B7CE8416-5EDD-4A53-B71A-C38CADD5C693}"/>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7AD7C3D5-014D-4583-8653-FBB1DA016CD1}"/>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Phạm Vi Mô Hình &amp; Quy Trình Tái Lập</a:t>
            </a:r>
          </a:p>
          <a:p xmlns:a="http://schemas.openxmlformats.org/drawingml/2006/main">
            <a:pPr>
              <a:spcBef>
                <a:spcPts val="350"/>
              </a:spcBef>
              <a:buNone/>
              <a:defRPr sz="1150">
                <a:solidFill>
                  <a:srgbClr val="0F172A"/>
                </a:solidFill>
                <a:latin typeface="Calibri"/>
                <a:ea typeface="Calibri"/>
                <a:cs typeface="Calibri"/>
              </a:defRPr>
            </a:pPr>
            <a:r>
              <a:t>•  Nghiên cứu tập trung đánh giá trên mô hình đại diện gpt-5.6-luna nhằm kiểm soát chặt chẽ biến số.</a:t>
            </a:r>
          </a:p>
          <a:p xmlns:a="http://schemas.openxmlformats.org/drawingml/2006/main">
            <a:pPr>
              <a:spcBef>
                <a:spcPts val="350"/>
              </a:spcBef>
              <a:buNone/>
              <a:defRPr sz="1150">
                <a:solidFill>
                  <a:srgbClr val="0F172A"/>
                </a:solidFill>
                <a:latin typeface="Calibri"/>
                <a:ea typeface="Calibri"/>
                <a:cs typeface="Calibri"/>
              </a:defRPr>
            </a:pPr>
            <a:r>
              <a:t>•  Cần mở rộng kiểm nghiệm trên các mô hình mã nguồn mở (Llama-3, Qwen) để xác minh tính phổ quát của quy luật phân rã lỗi.</a:t>
            </a:r>
          </a:p>
          <a:p xmlns:a="http://schemas.openxmlformats.org/drawingml/2006/main">
            <a:pPr>
              <a:spcBef>
                <a:spcPts val="350"/>
              </a:spcBef>
              <a:buNone/>
              <a:defRPr sz="1150">
                <a:solidFill>
                  <a:srgbClr val="0F172A"/>
                </a:solidFill>
                <a:latin typeface="Calibri"/>
                <a:ea typeface="Calibri"/>
                <a:cs typeface="Calibri"/>
              </a:defRPr>
            </a:pPr>
            <a:r>
              <a:t>•  Quy trình tái lập an toàn: Mọi kịch bản kiểm thử bắt buộc chạy qua runner offline scripts/run_offline_tests.py, can thiệp socket Python để chặn kết nối ngoài ý muốn.</a:t>
            </a:r>
          </a:p>
        </p:txBody>
      </p:sp>
    </p:spTree>
    <p:extLst>
      <p:ext uri="{BB962C8B-B14F-4D97-AF65-F5344CB8AC3E}">
        <p14:creationId xmlns:p14="http://schemas.microsoft.com/office/powerpoint/2010/main" val="202234987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EC27EF0-0D61-4718-B482-5E65807EC87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1D2CAAA8-437B-49CE-9732-F4DFA0560F80}"/>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8AE0DC4A-5C03-42CF-B7E4-8F340FB4B65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124F35FF-448C-4146-B27E-C1B3CFA21673}"/>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10. Khả Năng Tái Lập Độc Lập &amp; Đóng Góp Khoa Học</a:t>
            </a:r>
          </a:p>
          <a:p xmlns:a="http://schemas.openxmlformats.org/drawingml/2006/main">
            <a:pPr>
              <a:buNone/>
              <a:defRPr sz="1300">
                <a:solidFill>
                  <a:srgbClr val="06B6D4"/>
                </a:solidFill>
                <a:latin typeface="Calibri"/>
                <a:ea typeface="Calibri"/>
                <a:cs typeface="Calibri"/>
              </a:defRPr>
            </a:pPr>
            <a:r>
              <a:t>Toàn bộ nghiên cứu có thể kiểm chứng ngoại tuyến với chi phí 0 đồng</a:t>
            </a:r>
          </a:p>
        </p:txBody>
      </p:sp>
      <p:sp>
        <p:nvSpPr>
          <p:cNvPr id="6" name="Rounded Rectangle 5">
            <a:extLst xmlns:a="http://schemas.openxmlformats.org/drawingml/2006/main">
              <a:ext uri="{FF2B5EF4-FFF2-40B4-BE49-F238E27FC236}">
                <a16:creationId xmlns:a16="http://schemas.microsoft.com/office/drawing/2014/main" id="{16E3FB87-2211-48E0-966C-6C6AAC561DA9}"/>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B0E95A4A-25B3-4414-80E9-8F755198204C}"/>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Tái Lập Ngoại Tuyến &amp; Phạm Vi Offline Guard</a:t>
            </a:r>
          </a:p>
          <a:p xmlns:a="http://schemas.openxmlformats.org/drawingml/2006/main">
            <a:pPr>
              <a:spcBef>
                <a:spcPts val="250"/>
              </a:spcBef>
              <a:buNone/>
              <a:defRPr sz="1100">
                <a:solidFill>
                  <a:srgbClr val="0F172A"/>
                </a:solidFill>
                <a:latin typeface="Calibri"/>
                <a:ea typeface="Calibri"/>
                <a:cs typeface="Calibri"/>
              </a:defRPr>
            </a:pPr>
            <a:r>
              <a:t>•  Lệnh chuẩn tắc có bảo vệ ngoại tuyến:</a:t>
            </a:r>
          </a:p>
          <a:p xmlns:a="http://schemas.openxmlformats.org/drawingml/2006/main">
            <a:pPr>
              <a:spcBef>
                <a:spcPts val="250"/>
              </a:spcBef>
              <a:buNone/>
              <a:defRPr sz="1100">
                <a:solidFill>
                  <a:srgbClr val="0F172A"/>
                </a:solidFill>
                <a:latin typeface="Calibri"/>
                <a:ea typeface="Calibri"/>
                <a:cs typeface="Calibri"/>
              </a:defRPr>
            </a:pPr>
            <a:r>
              <a:t>  python scripts/run_offline_tests.py -m pytest ... (hoặc cờ -c)</a:t>
            </a:r>
          </a:p>
          <a:p xmlns:a="http://schemas.openxmlformats.org/drawingml/2006/main">
            <a:pPr>
              <a:spcBef>
                <a:spcPts val="250"/>
              </a:spcBef>
              <a:buNone/>
              <a:defRPr sz="1100">
                <a:solidFill>
                  <a:srgbClr val="0F172A"/>
                </a:solidFill>
                <a:latin typeface="Calibri"/>
                <a:ea typeface="Calibri"/>
                <a:cs typeface="Calibri"/>
              </a:defRPr>
            </a:pPr>
            <a:r>
              <a:t>•  Lệnh tái lập tự động toàn diện: python scripts/reproduce_study.py --all</a:t>
            </a:r>
          </a:p>
          <a:p xmlns:a="http://schemas.openxmlformats.org/drawingml/2006/main">
            <a:pPr>
              <a:spcBef>
                <a:spcPts val="250"/>
              </a:spcBef>
              <a:buNone/>
              <a:defRPr sz="1100">
                <a:solidFill>
                  <a:srgbClr val="0F172A"/>
                </a:solidFill>
                <a:latin typeface="Calibri"/>
                <a:ea typeface="Calibri"/>
                <a:cs typeface="Calibri"/>
              </a:defRPr>
            </a:pPr>
            <a:r>
              <a:t>•  Phạm vi kỹ thuật của offline_guard:</a:t>
            </a:r>
          </a:p>
          <a:p xmlns:a="http://schemas.openxmlformats.org/drawingml/2006/main">
            <a:pPr>
              <a:spcBef>
                <a:spcPts val="250"/>
              </a:spcBef>
              <a:buNone/>
              <a:defRPr sz="1100">
                <a:solidFill>
                  <a:srgbClr val="0F172A"/>
                </a:solidFill>
                <a:latin typeface="Calibri"/>
                <a:ea typeface="Calibri"/>
                <a:cs typeface="Calibri"/>
              </a:defRPr>
            </a:pPr>
            <a:r>
              <a:t>  • Can thiệp tầng socket Python (chặn kết nối mạng ngoài ý muốn) và lọc biến môi trường credentials.</a:t>
            </a:r>
          </a:p>
          <a:p xmlns:a="http://schemas.openxmlformats.org/drawingml/2006/main">
            <a:pPr>
              <a:spcBef>
                <a:spcPts val="250"/>
              </a:spcBef>
              <a:buNone/>
              <a:defRPr sz="1100">
                <a:solidFill>
                  <a:srgbClr val="0F172A"/>
                </a:solidFill>
                <a:latin typeface="Calibri"/>
                <a:ea typeface="Calibri"/>
                <a:cs typeface="Calibri"/>
              </a:defRPr>
            </a:pPr>
            <a:r>
              <a:t>  • Không phải là sandbox cấp OS (không cô lập mã máy binary tùy ý ngoài Python runtime).</a:t>
            </a:r>
          </a:p>
          <a:p xmlns:a="http://schemas.openxmlformats.org/drawingml/2006/main">
            <a:pPr>
              <a:spcBef>
                <a:spcPts val="250"/>
              </a:spcBef>
              <a:buNone/>
              <a:defRPr sz="1100">
                <a:solidFill>
                  <a:srgbClr val="0F172A"/>
                </a:solidFill>
                <a:latin typeface="Calibri"/>
                <a:ea typeface="Calibri"/>
                <a:cs typeface="Calibri"/>
              </a:defRPr>
            </a:pPr>
            <a:r>
              <a:t>  • Dependencies và artifact tiên quyết đã nạp sẵn cục bộ; lệnh uv run trần không có guard bảo vệ không tự động đảm bảo cách ly mạng nếu thiếu cờ offline.</a:t>
            </a:r>
          </a:p>
          <a:p xmlns:a="http://schemas.openxmlformats.org/drawingml/2006/main">
            <a:pPr>
              <a:spcBef>
                <a:spcPts val="250"/>
              </a:spcBef>
              <a:buNone/>
              <a:defRPr sz="1100">
                <a:solidFill>
                  <a:srgbClr val="0F172A"/>
                </a:solidFill>
                <a:latin typeface="Calibri"/>
                <a:ea typeface="Calibri"/>
                <a:cs typeface="Calibri"/>
              </a:defRPr>
            </a:pPr>
            <a:r>
              <a:t>•  Điều kiện tái lập: Ngoại tuyến dùng 15 artifact đóng băng; luồng live provider cần credentials thực dưới budget guard trần $19.99 USD.</a:t>
            </a:r>
          </a:p>
        </p:txBody>
      </p:sp>
      <p:sp>
        <p:nvSpPr>
          <p:cNvPr id="8" name="Rounded Rectangle 7">
            <a:extLst xmlns:a="http://schemas.openxmlformats.org/drawingml/2006/main">
              <a:ext uri="{FF2B5EF4-FFF2-40B4-BE49-F238E27FC236}">
                <a16:creationId xmlns:a16="http://schemas.microsoft.com/office/drawing/2014/main" id="{F39DC297-4888-400C-A7F6-928863A22F4E}"/>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4ABE4D4D-AB52-43D1-B8BA-B5C800C468DF}"/>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Đóng Góp Khoa Học Cốt Lõi</a:t>
            </a:r>
          </a:p>
          <a:p xmlns:a="http://schemas.openxmlformats.org/drawingml/2006/main">
            <a:pPr>
              <a:spcBef>
                <a:spcPts val="300"/>
              </a:spcBef>
              <a:buNone/>
              <a:defRPr sz="1150">
                <a:solidFill>
                  <a:srgbClr val="0F172A"/>
                </a:solidFill>
                <a:latin typeface="Calibri"/>
                <a:ea typeface="Calibri"/>
                <a:cs typeface="Calibri"/>
              </a:defRPr>
            </a:pPr>
            <a:r>
              <a:t>•  1. Quy trình thực nghiệm chuẩn hóa: Thiết lập giao thức thực nghiệm đối chứng khép kín, chống rò rỉ nhãn đầu tiên cho bài toán Windows log attribution.</a:t>
            </a:r>
          </a:p>
          <a:p xmlns:a="http://schemas.openxmlformats.org/drawingml/2006/main">
            <a:pPr>
              <a:spcBef>
                <a:spcPts val="300"/>
              </a:spcBef>
              <a:buNone/>
              <a:defRPr sz="1150">
                <a:solidFill>
                  <a:srgbClr val="0F172A"/>
                </a:solidFill>
                <a:latin typeface="Calibri"/>
                <a:ea typeface="Calibri"/>
                <a:cs typeface="Calibri"/>
              </a:defRPr>
            </a:pPr>
            <a:r>
              <a:t>•  2. Bóc tách độc lập các trục lỗi (RQ2 Failure Decomposition per D2i): Phân tích riêng biệt retrieval miss, downstream generation failure và joint overlap.</a:t>
            </a:r>
          </a:p>
          <a:p xmlns:a="http://schemas.openxmlformats.org/drawingml/2006/main">
            <a:pPr>
              <a:spcBef>
                <a:spcPts val="300"/>
              </a:spcBef>
              <a:buNone/>
              <a:defRPr sz="1150">
                <a:solidFill>
                  <a:srgbClr val="0F172A"/>
                </a:solidFill>
                <a:latin typeface="Calibri"/>
                <a:ea typeface="Calibri"/>
                <a:cs typeface="Calibri"/>
              </a:defRPr>
            </a:pPr>
            <a:r>
              <a:t>•  3. Bằng chứng định lượng về khoảng cách từ vựng và giả thuyết pha loãng ngữ cảnh (Context Dilution Hypothesis).</a:t>
            </a:r>
          </a:p>
          <a:p xmlns:a="http://schemas.openxmlformats.org/drawingml/2006/main">
            <a:pPr>
              <a:spcBef>
                <a:spcPts val="300"/>
              </a:spcBef>
              <a:buNone/>
              <a:defRPr sz="1150">
                <a:solidFill>
                  <a:srgbClr val="0F172A"/>
                </a:solidFill>
                <a:latin typeface="Calibri"/>
                <a:ea typeface="Calibri"/>
                <a:cs typeface="Calibri"/>
              </a:defRPr>
            </a:pPr>
            <a:r>
              <a:t>•  4. Bộ công cụ nghiên cứu mở: Cung cấp toàn bộ mã nguồn, benchmark, kịch bản tạo slide và dữ liệu chứng cứ nguyên vẹn.</a:t>
            </a:r>
          </a:p>
        </p:txBody>
      </p:sp>
    </p:spTree>
    <p:extLst>
      <p:ext uri="{BB962C8B-B14F-4D97-AF65-F5344CB8AC3E}">
        <p14:creationId xmlns:p14="http://schemas.microsoft.com/office/powerpoint/2010/main" val="93090007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4874379-D44B-4111-80DF-72EF44B70CA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C6594F7F-DEBE-41AB-B433-E302FFCB3385}"/>
              </a:ext>
            </a:extLst>
          </p:cNvPr>
          <p:cNvSpPr>
            <a:spLocks xmlns:a="http://schemas.openxmlformats.org/drawingml/2006/main" noGrp="1"/>
          </p:cNvSpPr>
          <p:nvPr/>
        </p:nvSpPr>
        <p:spPr>
          <a:xfrm xmlns:a="http://schemas.openxmlformats.org/drawingml/2006/main">
            <a:off x="1097280" y="1371600"/>
            <a:ext cx="137160" cy="41148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AA803275-FB65-4154-8806-92BAEE0E9CC7}"/>
              </a:ext>
            </a:extLst>
          </p:cNvPr>
          <p:cNvSpPr>
            <a:spLocks xmlns:a="http://schemas.openxmlformats.org/drawingml/2006/main" noGrp="1"/>
          </p:cNvSpPr>
          <p:nvPr/>
        </p:nvSpPr>
        <p:spPr>
          <a:xfrm xmlns:a="http://schemas.openxmlformats.org/drawingml/2006/main">
            <a:off x="1371600" y="1280160"/>
            <a:ext cx="9601200" cy="438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TỔNG KẾT &amp; PHẦN HỎI ĐÁP (Q&amp;A)</a:t>
            </a:r>
          </a:p>
          <a:p xmlns:a="http://schemas.openxmlformats.org/drawingml/2006/main">
            <a:pPr>
              <a:spcBef>
                <a:spcPts val="800"/>
              </a:spcBef>
              <a:buNone/>
              <a:defRPr sz="2600" b="1">
                <a:solidFill>
                  <a:srgbClr val="FFFFFF"/>
                </a:solidFill>
                <a:latin typeface="Calibri"/>
                <a:ea typeface="Calibri"/>
                <a:cs typeface="Calibri"/>
              </a:defRPr>
            </a:pPr>
            <a:r>
              <a:t>RAG2ATT&amp;CK: Đưa Tri Thức Thực Sự Vào Giám Sát An Ninh Mạng</a:t>
            </a:r>
          </a:p>
          <a:p xmlns:a="http://schemas.openxmlformats.org/drawingml/2006/main">
            <a:pPr>
              <a:spcBef>
                <a:spcPts val="600"/>
              </a:spcBef>
              <a:buNone/>
              <a:defRPr sz="1250">
                <a:solidFill>
                  <a:srgbClr val="E2E8F0"/>
                </a:solidFill>
                <a:latin typeface="Calibri"/>
                <a:ea typeface="Calibri"/>
                <a:cs typeface="Calibri"/>
              </a:defRPr>
            </a:pPr>
            <a:r>
              <a:t>•  RAG cung cấp tri thức nền tảng quan trọng; giả thuyết RQ2 về mức độ ảnh hưởng nhân quả của retrieval đang được kiểm chứng đối chứng trên ma trận TEST.</a:t>
            </a:r>
          </a:p>
          <a:p xmlns:a="http://schemas.openxmlformats.org/drawingml/2006/main">
            <a:pPr>
              <a:spcBef>
                <a:spcPts val="600"/>
              </a:spcBef>
              <a:buNone/>
              <a:defRPr sz="1250">
                <a:solidFill>
                  <a:srgbClr val="E2E8F0"/>
                </a:solidFill>
                <a:latin typeface="Calibri"/>
                <a:ea typeface="Calibri"/>
                <a:cs typeface="Calibri"/>
              </a:defRPr>
            </a:pPr>
            <a:r>
              <a:t>•  Phân rã lỗi D2i theo 3 trục đo lường độc lập (retrieval miss, downstream generation failure, joint overlap), ghi nhận phần giao thoa khác 0, không giả định độc lập xác suất ngẫu nhiên.</a:t>
            </a:r>
          </a:p>
          <a:p xmlns:a="http://schemas.openxmlformats.org/drawingml/2006/main">
            <a:pPr>
              <a:spcBef>
                <a:spcPts val="600"/>
              </a:spcBef>
              <a:buNone/>
              <a:defRPr sz="1250">
                <a:solidFill>
                  <a:srgbClr val="E2E8F0"/>
                </a:solidFill>
                <a:latin typeface="Calibri"/>
                <a:ea typeface="Calibri"/>
                <a:cs typeface="Calibri"/>
              </a:defRPr>
            </a:pPr>
            <a:r>
              <a:t>•  Quy trình tái lập ngoại tuyến: Sử dụng runner scripts/run_offline_tests.py can thiệp tầng socket và lọc biến môi trường nhằm giảm thiểu rủi ro rò rỉ credential và kết nối ngoài ý muốn.</a:t>
            </a:r>
          </a:p>
          <a:p xmlns:a="http://schemas.openxmlformats.org/drawingml/2006/main">
            <a:pPr>
              <a:spcBef>
                <a:spcPts val="600"/>
              </a:spcBef>
              <a:buNone/>
              <a:defRPr sz="1250">
                <a:solidFill>
                  <a:srgbClr val="E2E8F0"/>
                </a:solidFill>
                <a:latin typeface="Calibri"/>
                <a:ea typeface="Calibri"/>
                <a:cs typeface="Calibri"/>
              </a:defRPr>
            </a:pPr>
            <a:r>
              <a:t>•  Định hướng tiếp theo: Triển khai Hybrid Retrieval (Dense + BM25) và kiểm nghiệm mở rộng trên telemetry thực tế.</a:t>
            </a:r>
          </a:p>
          <a:p xmlns:a="http://schemas.openxmlformats.org/drawingml/2006/main">
            <a:pPr>
              <a:spcBef>
                <a:spcPts val="600"/>
              </a:spcBef>
              <a:buNone/>
              <a:defRPr sz="1250">
                <a:solidFill>
                  <a:srgbClr val="E2E8F0"/>
                </a:solidFill>
                <a:latin typeface="Calibri"/>
                <a:ea typeface="Calibri"/>
                <a:cs typeface="Calibri"/>
              </a:defRPr>
            </a:pPr>
            <a:r>
              <a:t>•  Mã nguồn, dữ liệu và báo cáo tái lập sẵn sàng tại: https://github.com/habachcp6/RAG2ATTCK</a:t>
            </a:r>
          </a:p>
          <a:p xmlns:a="http://schemas.openxmlformats.org/drawingml/2006/main">
            <a:pPr>
              <a:spcBef>
                <a:spcPts val="1600"/>
              </a:spcBef>
              <a:buNone/>
              <a:defRPr sz="1500" b="1">
                <a:solidFill>
                  <a:srgbClr val="06B6D4"/>
                </a:solidFill>
                <a:latin typeface="Calibri"/>
                <a:ea typeface="Calibri"/>
                <a:cs typeface="Calibri"/>
              </a:defRPr>
            </a:pPr>
            <a:r>
              <a:t>Xin trân trọng cảm ơn Quý Thầy Cô và Hội Đồng! Kính mời đặt câu hỏi thảo luận.</a:t>
            </a:r>
          </a:p>
        </p:txBody>
      </p:sp>
    </p:spTree>
    <p:extLst>
      <p:ext uri="{BB962C8B-B14F-4D97-AF65-F5344CB8AC3E}">
        <p14:creationId xmlns:p14="http://schemas.microsoft.com/office/powerpoint/2010/main" val="52605584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2026-10-02T02:30:15.3460000Z</dcterms:created>
  <dcterms:modified xsi:type="dcterms:W3CDTF">2026-10-02T02:30:15.3460000Z</dcterms:modified>
</coreProperties>
</file>