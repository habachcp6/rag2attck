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fd8ee929c140cc" /><Relationship Type="http://schemas.openxmlformats.org/officeDocument/2006/relationships/extended-properties" Target="/docProps/app.xml" Id="R339471f8b27e43ed" /><Relationship Type="http://schemas.openxmlformats.org/officeDocument/2006/relationships/officeDocument" Target="/ppt/presentation.xml" Id="R605de5d59fd045d7" /></Relationships>
</file>

<file path=ppt/presentation.xml><?xml version="1.0" encoding="utf-8"?>
<p:presentation xmlns:p="http://schemas.openxmlformats.org/presentationml/2006/main">
  <p:sldMasterIdLst>
    <p:sldMasterId xmlns:r="http://schemas.openxmlformats.org/officeDocument/2006/relationships" id="2147483648" r:id="R6f04625a812b42cc"/>
  </p:sldMasterIdLst>
  <p:notesMasterIdLst>
    <p:notesMasterId xmlns:r="http://schemas.openxmlformats.org/officeDocument/2006/relationships" r:id="R9b9147c88d7c4927"/>
  </p:notesMasterIdLst>
  <p:sldIdLst>
    <p:sldId xmlns:r="http://schemas.openxmlformats.org/officeDocument/2006/relationships" id="256" r:id="R9278dc12cbd945f6"/>
    <p:sldId xmlns:r="http://schemas.openxmlformats.org/officeDocument/2006/relationships" id="257" r:id="R0db90ed9fdba486e"/>
    <p:sldId xmlns:r="http://schemas.openxmlformats.org/officeDocument/2006/relationships" id="258" r:id="Rb40769a3602c40aa"/>
    <p:sldId xmlns:r="http://schemas.openxmlformats.org/officeDocument/2006/relationships" id="259" r:id="R6147942bcfef42f2"/>
    <p:sldId xmlns:r="http://schemas.openxmlformats.org/officeDocument/2006/relationships" id="260" r:id="R0450c55f09764bcf"/>
    <p:sldId xmlns:r="http://schemas.openxmlformats.org/officeDocument/2006/relationships" id="261" r:id="R91016e2cb2f34896"/>
    <p:sldId xmlns:r="http://schemas.openxmlformats.org/officeDocument/2006/relationships" id="262" r:id="R54d1adb51fce4f1f"/>
    <p:sldId xmlns:r="http://schemas.openxmlformats.org/officeDocument/2006/relationships" id="263" r:id="R6c73344a386d4e37"/>
    <p:sldId xmlns:r="http://schemas.openxmlformats.org/officeDocument/2006/relationships" id="264" r:id="R64002a4c14124412"/>
    <p:sldId xmlns:r="http://schemas.openxmlformats.org/officeDocument/2006/relationships" id="265" r:id="Rd8f27e3493614a81"/>
    <p:sldId xmlns:r="http://schemas.openxmlformats.org/officeDocument/2006/relationships" id="266" r:id="R92813597d8a8442b"/>
    <p:sldId xmlns:r="http://schemas.openxmlformats.org/officeDocument/2006/relationships" id="267" r:id="R9a3df0d670dd4a08"/>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bc69932a4e04bab" /><Relationship Type="http://schemas.openxmlformats.org/officeDocument/2006/relationships/slideMaster" Target="/ppt/slideMasters/slideMaster1.xml" Id="R6f04625a812b42cc" /><Relationship Type="http://schemas.openxmlformats.org/officeDocument/2006/relationships/notesMaster" Target="/ppt/notesMasters/notesMaster1.xml" Id="R9b9147c88d7c4927" /><Relationship Type="http://schemas.openxmlformats.org/officeDocument/2006/relationships/presProps" Target="/ppt/presProps.xml" Id="Rb692159625f545fe" /><Relationship Type="http://schemas.openxmlformats.org/officeDocument/2006/relationships/viewProps" Target="/ppt/viewProps.xml" Id="R5cc80c59d2d14692" /><Relationship Type="http://schemas.openxmlformats.org/officeDocument/2006/relationships/tableStyles" Target="/ppt/tableStyles.xml" Id="Rbf0a71a4356f4ae8" /><Relationship Type="http://schemas.openxmlformats.org/officeDocument/2006/relationships/slide" Target="/ppt/slides/slide1.xml" Id="R9278dc12cbd945f6" /><Relationship Type="http://schemas.openxmlformats.org/officeDocument/2006/relationships/slide" Target="/ppt/slides/slide2.xml" Id="R0db90ed9fdba486e" /><Relationship Type="http://schemas.openxmlformats.org/officeDocument/2006/relationships/slide" Target="/ppt/slides/slide3.xml" Id="Rb40769a3602c40aa" /><Relationship Type="http://schemas.openxmlformats.org/officeDocument/2006/relationships/slide" Target="/ppt/slides/slide4.xml" Id="R6147942bcfef42f2" /><Relationship Type="http://schemas.openxmlformats.org/officeDocument/2006/relationships/slide" Target="/ppt/slides/slide5.xml" Id="R0450c55f09764bcf" /><Relationship Type="http://schemas.openxmlformats.org/officeDocument/2006/relationships/slide" Target="/ppt/slides/slide6.xml" Id="R91016e2cb2f34896" /><Relationship Type="http://schemas.openxmlformats.org/officeDocument/2006/relationships/slide" Target="/ppt/slides/slide7.xml" Id="R54d1adb51fce4f1f" /><Relationship Type="http://schemas.openxmlformats.org/officeDocument/2006/relationships/slide" Target="/ppt/slides/slide8.xml" Id="R6c73344a386d4e37" /><Relationship Type="http://schemas.openxmlformats.org/officeDocument/2006/relationships/slide" Target="/ppt/slides/slide9.xml" Id="R64002a4c14124412" /><Relationship Type="http://schemas.openxmlformats.org/officeDocument/2006/relationships/slide" Target="/ppt/slides/slide10.xml" Id="Rd8f27e3493614a81" /><Relationship Type="http://schemas.openxmlformats.org/officeDocument/2006/relationships/slide" Target="/ppt/slides/slide11.xml" Id="R92813597d8a8442b" /><Relationship Type="http://schemas.openxmlformats.org/officeDocument/2006/relationships/slide" Target="/ppt/slides/slide12.xml" Id="R9a3df0d670dd4a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e5330c9be349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7670de11a640b5" /><Relationship Type="http://schemas.openxmlformats.org/officeDocument/2006/relationships/notesMaster" Target="/ppt/notesMasters/notesMaster1.xml" Id="R3cd362f3df074d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c0ce3ca08734ee4" /><Relationship Type="http://schemas.openxmlformats.org/officeDocument/2006/relationships/notesMaster" Target="/ppt/notesMasters/notesMaster1.xml" Id="R41c26db6d7444d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93b6a2b1a44e97" /><Relationship Type="http://schemas.openxmlformats.org/officeDocument/2006/relationships/notesMaster" Target="/ppt/notesMasters/notesMaster1.xml" Id="R8456d1d5881843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fbfd45fca4490a" /><Relationship Type="http://schemas.openxmlformats.org/officeDocument/2006/relationships/notesMaster" Target="/ppt/notesMasters/notesMaster1.xml" Id="R166ee2875dfc48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abfd990d574427" /><Relationship Type="http://schemas.openxmlformats.org/officeDocument/2006/relationships/notesMaster" Target="/ppt/notesMasters/notesMaster1.xml" Id="R89f6665ba4c544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2a7b03517e4798" /><Relationship Type="http://schemas.openxmlformats.org/officeDocument/2006/relationships/notesMaster" Target="/ppt/notesMasters/notesMaster1.xml" Id="Rac5b8eafaf414f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7f9a1f64684a42" /><Relationship Type="http://schemas.openxmlformats.org/officeDocument/2006/relationships/notesMaster" Target="/ppt/notesMasters/notesMaster1.xml" Id="R87d80e386ad945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0e60e1623943fc" /><Relationship Type="http://schemas.openxmlformats.org/officeDocument/2006/relationships/notesMaster" Target="/ppt/notesMasters/notesMaster1.xml" Id="R7aac904ea1eb4a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97e08b420c64843" /><Relationship Type="http://schemas.openxmlformats.org/officeDocument/2006/relationships/notesMaster" Target="/ppt/notesMasters/notesMaster1.xml" Id="R2648412d359c44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542d9ea1aa47be" /><Relationship Type="http://schemas.openxmlformats.org/officeDocument/2006/relationships/notesMaster" Target="/ppt/notesMasters/notesMaster1.xml" Id="R3f3dc54d6edf46f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4dd39c6df64364" /><Relationship Type="http://schemas.openxmlformats.org/officeDocument/2006/relationships/notesMaster" Target="/ppt/notesMasters/notesMaster1.xml" Id="Rb925d765b6194c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e6f5c21dfd4ea2" /><Relationship Type="http://schemas.openxmlformats.org/officeDocument/2006/relationships/notesMaster" Target="/ppt/notesMasters/notesMaster1.xml" Id="R671b3ecd50cd47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d0ce198ad4853f4c41ef2bfbafbe10a395e4927a6c6561b3e72c055c4b887e9f); reports/experiment_protocol_v1.md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d0ce198a...); reports/experiment_protocol_v1.md (D3 policy; File SHA-256: 639fd68ae16deec86e9f6baab0980c1abb265c6cd7bb9b4662f562b87e54e819; Canonical Decisions Digest: d3bf3d31ad307100ac437a7daecc470bf12de9ada49f19de3d77592d5a21974c);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b751fde1ee33b03ec0bdc07cbba10267002d2086cf22b91a74bdfd123856f206); attack/corpus/enterprise-windows-v19.2.jsonl (SHA-256: b219341154ddf2f12e97d622158a04ab7d57641df6a865559258d365852c3c75); config/experiment_config.json (SHA-256: 961ba9b3e9e1b459a6694a5c8c76424d36c89d65bd4d88b14d0b0de7e4c017ac);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90d5f59e64f669f95d5ddccd86f1f047e10ee3dc46e4b67a8cd13d1ddf2cd4b8); data/ground_truth/synthetic/pairs.jsonl (SHA-256: 079e57a441b18d127739f610e7f62c263d943eefa19ca4ea5c6eab8b8a07665d);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(File SHA-256: 639fd68ae16deec86e9f6baab0980c1abb265c6cd7bb9b4662f562b87e54e819; Canonical Decisions Digest: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đi kèm sự khác biệt từ vựng giữa raw event log (Event ID 4720 'SamAccountName') và mô tả STIX ATT&amp;CK ('persistence'). Đây là giả thuyết từ vựng (lexical divergence hypothesis), không khẳng định quan hệ nhân quả. Chúng tôi ghi nhận giả thuyết Context Scaling &amp; Dilution (k=1,3,5,10): tăng k cải thiện độ phủ nhưng tăng nguy cơ nhiễu distractor; đang được kiểm chứng đối chứng trên ma trận TEST.</a:t>
            </a:r>
          </a:p>
          <a:p xmlns:a="http://schemas.openxmlformats.org/drawingml/2006/main">
            <a:r>
              <a:t>Bằng chứng dự án: docs/presentation/figures/canonical_rq2_retrieval_hit_rate.png (SHA-256: f8287936d2b5fc24e89584349028f393b801b6bebe668f8bea449c6b67f2128f); docs/presentation/figures/fig4_retrieval_hit_rate.png;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Phân tích lỗi khâu truy xuất và chẩn đoán có điều kiện (RQ2) trên tập scorable N=718 cho thấy: khi kỹ thuật đúng có mặt trong Top-10 (N=321), tỷ lệ gán đúng đạt 91.28% (293/321); khi kỹ thuật đúng vắng mặt (N=397), tỷ lệ gán đúng là 70.03% (278/397). Độ chênh lệch quan sát được là +21.25 pp. Chúng tôi nhấn mạnh: đây thuần túy là tương quan quan sát trong thực nghiệm (observational association), không áp đặt suy diễn quan hệ nhân quả hay khẳng định năng lực nội tại của LLM.</a:t>
            </a:r>
          </a:p>
          <a:p xmlns:a="http://schemas.openxmlformats.org/drawingml/2006/main">
            <a:r>
              <a:t>Theo định đề phân rã lỗi D2i, trong số 147 trường hợp phân loại sai tại k=10, có tới 119 trường hợp (80.95%) đồng thời rơi vào khâu retrieval miss. Chỉ có 28 trường hợp (19.05%) bị phân loại sai khi kỹ thuật đã được truy xuất thành công.</a:t>
            </a:r>
          </a:p>
          <a:p xmlns:a="http://schemas.openxmlformats.org/drawingml/2006/main">
            <a:r>
              <a:t>Bằng chứng dự án: artifacts/results/canonical_metric_bundle_v2.json (SHA-256: 442b5933858caafc9da3c06ee9398637213ed30d7a7db80195c0babb1195ef34); reports/experiment_protocol_v1.md (D2i; File SHA-256: 639fd68ae16deec86e9f6baab0980c1abb265c6cd7bb9b4662f562b87e54e819; Canonical Decisions Digest: d3bf3d31ad307100ac437a7daecc470bf12de9ada49f19de3d77592d5a21974c);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xmlns:a="http://schemas.openxmlformats.org/drawingml/2006/main">
            <a:r>
              <a:t>Bảng đối chứng 5 điều kiện RQ1 trên tập scorable N=718 (474 lớp vũ trụ D2d):</a:t>
            </a:r>
          </a:p>
          <a:p xmlns:a="http://schemas.openxmlformats.org/drawingml/2006/main">
            <a:r>
              <a:t>1. No-RAG:    77.99% (560/718), Macro-F1 = 0.0126 (Baseline đối chứng).</a:t>
            </a:r>
          </a:p>
          <a:p xmlns:a="http://schemas.openxmlformats.org/drawingml/2006/main">
            <a:r>
              <a:t>2. RAG (k=1):  77.02% (553/718), Macro-F1 = 0.0127, Delta = -0.975 pp (CI [-3.186, +1.124] pp), McNemar p = 0.435.</a:t>
            </a:r>
          </a:p>
          <a:p xmlns:a="http://schemas.openxmlformats.org/drawingml/2006/main">
            <a:r>
              <a:t>3. RAG (k=3):  78.55% (564/718), Macro-F1 = 0.0136, Delta = +0.557 pp (CI [-2.786, +3.934] pp), McNemar p = 0.777.</a:t>
            </a:r>
          </a:p>
          <a:p xmlns:a="http://schemas.openxmlformats.org/drawingml/2006/main">
            <a:r>
              <a:t>4. RAG (k=5):  78.83% (566/718), Macro-F1 = 0.0139, Delta = +0.836 pp (CI [-2.934, +4.603] pp), McNemar p = 0.677.</a:t>
            </a:r>
          </a:p>
          <a:p xmlns:a="http://schemas.openxmlformats.org/drawingml/2006/main">
            <a:r>
              <a:t>5. RAG (k=10): 79.53% (571/718), Macro-F1 = 0.0140, Delta = +1.532 pp (+1.96% relative; 95% CI [-2.355, +5.300] pp chứa 0), McNemar p = 0.4219 / 0.422 &gt; 0.05.</a:t>
            </a:r>
          </a:p>
          <a:p xmlns:a="http://schemas.openxmlformats.org/drawingml/2006/main">
            <a:r>
              <a:t>Nghiên cứu khẳng định RAG k=10 là độ chính xác quan sát được cao nhất trong thử nghiệm kèm độ bất định, tuyệt đối không tuyên bố chiến thắng có ý nghĩa thống kê hay lợi ích vượt trội trong production.</a:t>
            </a:r>
          </a:p>
          <a:p xmlns:a="http://schemas.openxmlformats.org/drawingml/2006/main">
            <a:r>
              <a:t>Về Macro-F1: Được đánh giá nhất quán trên toàn bộ vũ trụ 474 lớp kỹ thuật MITRE ATT&amp;CK v19.2 Enterprise Windows theo định đề D2d (FROZEN_BENCHMARK_UNIVERSE = 474), gồm 8 lớp có mẫu hỗ trợ và 466 lớp zero-support: No-RAG đạt 0.0126 vs RAG k=10 đạt 0.0140 (Delta +0.0014).</a:t>
            </a:r>
          </a:p>
          <a:p xmlns:a="http://schemas.openxmlformats.org/drawingml/2006/main">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xmlns:a="http://schemas.openxmlformats.org/drawingml/2006/main">
            <a:r>
              <a:t>Về các thước đo có điều kiện tại k=10: P(Correct | GT in Top-k) = 91.28% (293/321), trong khi P(Correct | GT NOT in Top-k) = 70.03% (278/397); tỷ lệ này không cho phép suy diễn mô hình tự sửa sai nội tại.</a:t>
            </a:r>
          </a:p>
          <a:p xmlns:a="http://schemas.openxmlformats.org/drawingml/2006/main">
            <a:r>
              <a:t>Bằng chứng dự án: reports/experiment_protocol_v1.md (D2d, D2e, D2f, D2h, D2i;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dữ liệu và kiểm soát ngân sách:</a:t>
            </a:r>
          </a:p>
          <a:p xmlns:a="http://schemas.openxmlformats.org/drawingml/2006/main">
            <a:r>
              <a:t>1. Dữ liệu thử nghiệm Stage B là dữ liệu tổng hợp (synthetic split). Việc gửi request lên OpenAI không biến log tổng hợp thành dữ liệu thực địa in-the-wild.</a:t>
            </a:r>
          </a:p>
          <a:p xmlns:a="http://schemas.openxmlformats.org/drawingml/2006/main">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xmlns:a="http://schemas.openxmlformats.org/drawingml/2006/main">
            <a:r>
              <a:t>3. Phân định giới hạn token: 13 requests INCOMPLETE dừng do chạm trần configured max_output_tokens (8,192 tokens, tức ngân sách suy luận đầu ra được cấu hình), không phải do vượt cửa sổ ngữ cảnh context ceiling (~1,050,000 tokens của gpt-5.6-luna). Toàn bộ 13 requests này đều thuộc các view loại trừ/unmapped.</a:t>
            </a:r>
          </a:p>
          <a:p xmlns:a="http://schemas.openxmlformats.org/drawingml/2006/main">
            <a:r>
              <a:t>4. Hạch toán tài chính chính xác: trần ngân sách đóng băng cứng $19.99 USD (hard_budget_limit_usd = $19.99000000). Chi phí quyết toán thực tế 5 điều kiện chính thức là $6.58 settled spend ($6.57575890 USD).</a:t>
            </a:r>
          </a:p>
          <a:p xmlns:a="http://schemas.openxmlformats.org/drawingml/2006/main">
            <a:r>
              <a:t>5.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xmlns:a="http://schemas.openxmlformats.org/drawingml/2006/main">
            <a:r>
              <a:t>6. Đánh đổi token: Tỷ lệ tăng token prompt từ k=1 lên k=10 là ~4.103x (1246.5 lên 5114.3 tokens); tỷ lệ từ No-RAG lên k=10 là ~7.58x.</a:t>
            </a:r>
          </a:p>
          <a:p xmlns:a="http://schemas.openxmlformats.org/drawingml/2006/main">
            <a:r>
              <a:t>Bằng chứng dự án: docs/presentation/figures/canonical_rq3_resource_consumption.png (SHA-256: ca296165b38b499432f851618e3d6a512964c461e59dc3b646e647ddcb70bfb1); docs/presentation/figures/fig7_cost_and_tokens_vs_k.png; config/experiment_config.json (hard_budget_limit_usd: 19.99);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d0ce198ad4853f4c41ef2bfbafbe10a395e4927a6c6561b3e72c055c4b887e9f);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fe6e017d2744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04bd36220e4c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1cdaf458f0c414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a2aa3018bdb40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cd69ae3cc544e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a000b3a7bb1483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943f14d78854d4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f9b86501ab543b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1db0be99f944d4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9310410abf9490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f65f2a7a29d4c46"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5744BE0-C119-44C8-83CD-767D4A22D21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D4CC9CFC-6D6F-4495-9951-023DD1625DD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42E57BC1-0229-45E3-BC2B-4F7B0E39ED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A3C3B20-83DD-4E09-98CA-62D86BF9052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3A9F2A1-7638-4E9B-BB25-7F984DD8A4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8A6C47B-0A4D-4090-BD95-45C4DF4222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193BCA2-48D0-4081-91A0-5AFB1BA01F4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3A28B88-0C76-4008-82C9-298416F50B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2A0D0232-3711-4EDB-A775-DE16628C1FF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829D05F-A8DA-49F0-AE34-41350AD6D99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72EF8A8-CD40-48CD-A069-2DD6743BA2D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EDDECBD-F5D9-433A-A04A-43755818CB2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0EDDC842-D459-4AE4-BE75-9EA584A795D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B0D256C-3F70-4C63-994F-8E04BD0509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30D24D9-3BEB-4065-A8F1-0C5367F4304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72634BA-C426-4948-8EFD-F3BDD456A74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5276ECC-6B45-4A0E-818A-32477863FD7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9423EAD8-443E-4186-88ED-8E038BB7639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38588B49-1651-4A17-BAEA-7C0CACE224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727B172-0D95-40CA-9165-A3186C20D3B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E40E64EA-EE32-4651-8962-EF7DE098C7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B21E005-A366-45C6-8C8C-4B76168B3A8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9B862E3-D9E3-46E5-A789-B711790C99F2}"/>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FCBF07C-53C1-49D0-8125-C088B2439AC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075C592A-7C42-4E38-9594-F81E5D93AABA}"/>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0E29A3B-179B-4961-96AD-28D1FA583015}"/>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F52E7E0C-3338-4AB5-9938-FA855B13CE6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5FB1FC82-5CC6-43B6-84AF-32CE1809950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780870F7-42AA-4582-951B-0AB4E51D820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FDEE713-70D2-4FBC-889E-E83BD3F8F64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13D431E-1C6A-4080-91A5-AE1C9237C35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D1B04C06-54B4-4C7E-A101-A2DFA97DE0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28E078F5-A9B7-4331-9084-6C04E6DA11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C35BA36-7162-4202-8B3A-A81312ADC90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3B130739-B2A7-4238-A15A-E5361CB21B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BB3A04EE-3F2F-40F4-BE9A-DFCBD5B1F3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C0034F-D800-4E60-BEE0-B13ABCDAC07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D5BB8F7-A38A-4E25-A5CA-0FCAB474FAB4}"/>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4CA3BDA1-7902-4DF9-8DCA-4FF070268769}"/>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231929E6-CEC5-4D46-9D6E-45991F7C988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6490851-0908-4E83-BFA4-0458F5A77B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5955DEC-2069-4132-A320-EC48A0D90B0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D172CF8-7EEC-44D7-B75C-BEBC4C6A7BAF}"/>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524F85FF-E70A-4020-8C41-07289A8AC4CD}"/>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12424DD-15E4-4250-850B-E8043F566FBE}"/>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B2BC769-8A98-46F6-BF98-44F33E97DD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7B5A835B-DDBA-404E-9BE9-0B6922BF188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D4C7EF7-4B4F-472A-A061-C731881D02E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745BFE-FC31-4D91-AAF1-2A7A15707E8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6D5960DE-A833-4359-9417-CAE4CC70CE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BF12D78-9E9D-45DF-9E30-96B314D87C0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316FC90-33E1-4012-8633-7FCE7131668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023A3FA-759B-4FB6-AC30-7349BBF880E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95CB1179-BFB8-48CD-988E-4D9FF85AAF08}"/>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3E8C48D7-5AB0-4DDE-892C-D70FC929FC5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5B89BBC-2E2C-4266-97DE-306F7A1A1D0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C747B1A-9D57-4AA2-8B48-8786167DC09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A40143-FEFE-4294-A8B2-D2C79A4A497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89289295f34bd8" /><Relationship Type="http://schemas.openxmlformats.org/officeDocument/2006/relationships/slideLayout" Target="/ppt/slideLayouts/slideLayout1.xml" Id="Rde5fb96a5dac4f60" /><Relationship Type="http://schemas.openxmlformats.org/officeDocument/2006/relationships/slideLayout" Target="/ppt/slideLayouts/slideLayout2.xml" Id="Rb5da0babc5104252" /><Relationship Type="http://schemas.openxmlformats.org/officeDocument/2006/relationships/slideLayout" Target="/ppt/slideLayouts/slideLayout3.xml" Id="R7c989dfba9fe4a83" /><Relationship Type="http://schemas.openxmlformats.org/officeDocument/2006/relationships/slideLayout" Target="/ppt/slideLayouts/slideLayout4.xml" Id="R60271e550fab47e9" /><Relationship Type="http://schemas.openxmlformats.org/officeDocument/2006/relationships/slideLayout" Target="/ppt/slideLayouts/slideLayout5.xml" Id="R36678e15c82e4bef" /><Relationship Type="http://schemas.openxmlformats.org/officeDocument/2006/relationships/slideLayout" Target="/ppt/slideLayouts/slideLayout6.xml" Id="Rc3888c275272460d" /><Relationship Type="http://schemas.openxmlformats.org/officeDocument/2006/relationships/slideLayout" Target="/ppt/slideLayouts/slideLayout7.xml" Id="Re191b7c3d3694b66" /><Relationship Type="http://schemas.openxmlformats.org/officeDocument/2006/relationships/slideLayout" Target="/ppt/slideLayouts/slideLayout8.xml" Id="R5ebc58fff3da4deb" /><Relationship Type="http://schemas.openxmlformats.org/officeDocument/2006/relationships/slideLayout" Target="/ppt/slideLayouts/slideLayout9.xml" Id="Rdc288f79e06a4dcd" /><Relationship Type="http://schemas.openxmlformats.org/officeDocument/2006/relationships/slideLayout" Target="/ppt/slideLayouts/slideLayout10.xml" Id="R1923219090744fac" /><Relationship Type="http://schemas.openxmlformats.org/officeDocument/2006/relationships/slideLayout" Target="/ppt/slideLayouts/slideLayout11.xml" Id="R9f159f3a3477430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077C5E2-73AD-442F-A5D5-8A5B4BDCF13F}"/>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9378052-CD73-4324-98FF-AB55C4CD0C8F}"/>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C40B442-815E-4EDF-A7F2-225F028474E4}"/>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2D6D5AC-1C88-491A-B6CD-BEA97D13F7EC}"/>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D408B88-B351-46FB-BC8B-5764ABF9823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5fb96a5dac4f60"/>
    <p:sldLayoutId xmlns:r="http://schemas.openxmlformats.org/officeDocument/2006/relationships" id="2147483650" r:id="Rb5da0babc5104252"/>
    <p:sldLayoutId xmlns:r="http://schemas.openxmlformats.org/officeDocument/2006/relationships" id="2147483651" r:id="R7c989dfba9fe4a83"/>
    <p:sldLayoutId xmlns:r="http://schemas.openxmlformats.org/officeDocument/2006/relationships" id="2147483652" r:id="R60271e550fab47e9"/>
    <p:sldLayoutId xmlns:r="http://schemas.openxmlformats.org/officeDocument/2006/relationships" id="2147483653" r:id="R36678e15c82e4bef"/>
    <p:sldLayoutId xmlns:r="http://schemas.openxmlformats.org/officeDocument/2006/relationships" id="2147483654" r:id="Rc3888c275272460d"/>
    <p:sldLayoutId xmlns:r="http://schemas.openxmlformats.org/officeDocument/2006/relationships" id="2147483655" r:id="Re191b7c3d3694b66"/>
    <p:sldLayoutId xmlns:r="http://schemas.openxmlformats.org/officeDocument/2006/relationships" id="2147483656" r:id="R5ebc58fff3da4deb"/>
    <p:sldLayoutId xmlns:r="http://schemas.openxmlformats.org/officeDocument/2006/relationships" id="2147483657" r:id="Rdc288f79e06a4dcd"/>
    <p:sldLayoutId xmlns:r="http://schemas.openxmlformats.org/officeDocument/2006/relationships" id="2147483658" r:id="R1923219090744fac"/>
    <p:sldLayoutId xmlns:r="http://schemas.openxmlformats.org/officeDocument/2006/relationships" id="2147483659" r:id="R9f159f3a3477430d"/>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6a5817de35b34db1" /><Relationship Type="http://schemas.openxmlformats.org/officeDocument/2006/relationships/notesSlide" Target="/ppt/notesSlides/notesSlide1.xml" Id="R8b75e30e769d41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3a2aaa75fa24bf1" /><Relationship Type="http://schemas.openxmlformats.org/officeDocument/2006/relationships/notesSlide" Target="/ppt/notesSlides/notesSlide2.xml" Id="R8f8a62aaba6a47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162480c85b214602" /><Relationship Type="http://schemas.openxmlformats.org/officeDocument/2006/relationships/notesSlide" Target="/ppt/notesSlides/notesSlide3.xml" Id="Rb13a675153f340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a9543c4a66764787" /><Relationship Type="http://schemas.openxmlformats.org/officeDocument/2006/relationships/notesSlide" Target="/ppt/notesSlides/notesSlide4.xml" Id="R57a57d2481b849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2c38962206744ba1" /><Relationship Type="http://schemas.openxmlformats.org/officeDocument/2006/relationships/notesSlide" Target="/ppt/notesSlides/notesSlide5.xml" Id="R70652299a843407f"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ff65fa1c3bd24920" /><Relationship Type="http://schemas.openxmlformats.org/officeDocument/2006/relationships/image" Target="/ppt/media/image.png" Id="R4c59f6c4b1f749f0" /><Relationship Type="http://schemas.openxmlformats.org/officeDocument/2006/relationships/notesSlide" Target="/ppt/notesSlides/notesSlide6.xml" Id="R5660ef4f76e84d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ee32deac6471442c" /><Relationship Type="http://schemas.openxmlformats.org/officeDocument/2006/relationships/notesSlide" Target="/ppt/notesSlides/notesSlide7.xml" Id="Rd2f865b221a44d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28fb4c2771074abd" /><Relationship Type="http://schemas.openxmlformats.org/officeDocument/2006/relationships/notesSlide" Target="/ppt/notesSlides/notesSlide8.xml" Id="R0a3f2880a7c14d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e38806a0ab16497f" /><Relationship Type="http://schemas.openxmlformats.org/officeDocument/2006/relationships/image" Target="/ppt/media/image2.png" Id="Rd9a2422bd949420a" /><Relationship Type="http://schemas.openxmlformats.org/officeDocument/2006/relationships/notesSlide" Target="/ppt/notesSlides/notesSlide9.xml" Id="R04e09b0648404c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bf4966986f1e4a3e" /><Relationship Type="http://schemas.openxmlformats.org/officeDocument/2006/relationships/notesSlide" Target="/ppt/notesSlides/notesSlide10.xml" Id="R983625a64b0d4d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ffda7e354219465b" /><Relationship Type="http://schemas.openxmlformats.org/officeDocument/2006/relationships/notesSlide" Target="/ppt/notesSlides/notesSlide11.xml" Id="Rd95fe0f64b3c437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f520cf418fb245c1" /><Relationship Type="http://schemas.openxmlformats.org/officeDocument/2006/relationships/notesSlide" Target="/ppt/notesSlides/notesSlide12.xml" Id="R8a0052a9fd5c46e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41B5673-96D9-4D75-9546-111EE4AD49B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E71F4CD-E89F-4ED9-A54B-982FF9649474}"/>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_title">
            <a:extLst xmlns:a="http://schemas.openxmlformats.org/drawingml/2006/main">
              <a:ext uri="{FF2B5EF4-FFF2-40B4-BE49-F238E27FC236}">
                <a16:creationId xmlns:a16="http://schemas.microsoft.com/office/drawing/2014/main" id="{31EA4AD0-9655-4BFD-BBE7-04767AEC19B1}"/>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121849414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C012B98-229C-4103-8E78-62A8D55E727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C4C26E2-FD4B-4D9E-B278-2758BEFBD68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A6219C9-BD14-43BE-A59B-A5F52F72B74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A08BE3C-8783-446B-8887-15F10AFCCA3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  |  [CANONICAL CANDIDATE — PENDING ROOT FINAL REVIEW]</a:t>
            </a:r>
          </a:p>
        </p:txBody>
      </p:sp>
      <p:sp>
        <p:nvSpPr>
          <p:cNvPr id="6" name="shape_slide_2_problem">
            <a:extLst xmlns:a="http://schemas.openxmlformats.org/drawingml/2006/main">
              <a:ext uri="{FF2B5EF4-FFF2-40B4-BE49-F238E27FC236}">
                <a16:creationId xmlns:a16="http://schemas.microsoft.com/office/drawing/2014/main" id="{5F022C2F-7216-4FC3-8415-205227B33796}"/>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2_problem_textbox">
            <a:extLst xmlns:a="http://schemas.openxmlformats.org/drawingml/2006/main">
              <a:ext uri="{FF2B5EF4-FFF2-40B4-BE49-F238E27FC236}">
                <a16:creationId xmlns:a16="http://schemas.microsoft.com/office/drawing/2014/main" id="{4BB42AF1-83EF-4CD6-8DFF-4A3E01F4A410}"/>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shape_slide_2_challenge">
            <a:extLst xmlns:a="http://schemas.openxmlformats.org/drawingml/2006/main">
              <a:ext uri="{FF2B5EF4-FFF2-40B4-BE49-F238E27FC236}">
                <a16:creationId xmlns:a16="http://schemas.microsoft.com/office/drawing/2014/main" id="{2A244573-738C-4C3A-9B19-C987CA2F7202}"/>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2_challenge_textbox">
            <a:extLst xmlns:a="http://schemas.openxmlformats.org/drawingml/2006/main">
              <a:ext uri="{FF2B5EF4-FFF2-40B4-BE49-F238E27FC236}">
                <a16:creationId xmlns:a16="http://schemas.microsoft.com/office/drawing/2014/main" id="{18387E80-9DC8-4056-B733-F301F73E1B94}"/>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shape_slide_2_motivation">
            <a:extLst xmlns:a="http://schemas.openxmlformats.org/drawingml/2006/main">
              <a:ext uri="{FF2B5EF4-FFF2-40B4-BE49-F238E27FC236}">
                <a16:creationId xmlns:a16="http://schemas.microsoft.com/office/drawing/2014/main" id="{F576A42F-22F0-4E9B-BF5B-91D2F41F75C8}"/>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2_motivation_textbox">
            <a:extLst xmlns:a="http://schemas.openxmlformats.org/drawingml/2006/main">
              <a:ext uri="{FF2B5EF4-FFF2-40B4-BE49-F238E27FC236}">
                <a16:creationId xmlns:a16="http://schemas.microsoft.com/office/drawing/2014/main" id="{420C1D12-B208-4E55-AB00-D5E6490035BF}"/>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70152525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B1D51A0-6BCA-47F6-8E8D-A06EBB34765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182F2B2-7396-46B4-921F-EC7AAAF9967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553858B-2E25-46EA-BCD2-9469ADCF395E}"/>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5418BF0-7D1D-40D0-93B9-C3C55340B42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  |  [CANONICAL CANDIDATE — PENDING ROOT FINAL REVIEW]</a:t>
            </a:r>
          </a:p>
        </p:txBody>
      </p:sp>
      <p:sp>
        <p:nvSpPr>
          <p:cNvPr id="6" name="shape_slide_3_baseline">
            <a:extLst xmlns:a="http://schemas.openxmlformats.org/drawingml/2006/main">
              <a:ext uri="{FF2B5EF4-FFF2-40B4-BE49-F238E27FC236}">
                <a16:creationId xmlns:a16="http://schemas.microsoft.com/office/drawing/2014/main" id="{F6BCA81E-5D9A-4674-8855-6084E6A6B8B0}"/>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3_baseline_textbox">
            <a:extLst xmlns:a="http://schemas.openxmlformats.org/drawingml/2006/main">
              <a:ext uri="{FF2B5EF4-FFF2-40B4-BE49-F238E27FC236}">
                <a16:creationId xmlns:a16="http://schemas.microsoft.com/office/drawing/2014/main" id="{9D3847D1-BD2B-4E15-AF27-B50EC26A6349}"/>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shape_slide_3_rag">
            <a:extLst xmlns:a="http://schemas.openxmlformats.org/drawingml/2006/main">
              <a:ext uri="{FF2B5EF4-FFF2-40B4-BE49-F238E27FC236}">
                <a16:creationId xmlns:a16="http://schemas.microsoft.com/office/drawing/2014/main" id="{D50A07BA-AC22-48A6-B8EE-BB2C33814B2A}"/>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3_rag_textbox">
            <a:extLst xmlns:a="http://schemas.openxmlformats.org/drawingml/2006/main">
              <a:ext uri="{FF2B5EF4-FFF2-40B4-BE49-F238E27FC236}">
                <a16:creationId xmlns:a16="http://schemas.microsoft.com/office/drawing/2014/main" id="{3F9F5751-1422-4AF7-B7CD-E9AA257C8A39}"/>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shape_slide_3_invariants">
            <a:extLst xmlns:a="http://schemas.openxmlformats.org/drawingml/2006/main">
              <a:ext uri="{FF2B5EF4-FFF2-40B4-BE49-F238E27FC236}">
                <a16:creationId xmlns:a16="http://schemas.microsoft.com/office/drawing/2014/main" id="{237A6BEC-9371-471B-A13A-DF137F4AB2E5}"/>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3_invariants_textbox">
            <a:extLst xmlns:a="http://schemas.openxmlformats.org/drawingml/2006/main">
              <a:ext uri="{FF2B5EF4-FFF2-40B4-BE49-F238E27FC236}">
                <a16:creationId xmlns:a16="http://schemas.microsoft.com/office/drawing/2014/main" id="{4C9DA478-C79A-4494-94F0-D3D5481FA225}"/>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79676801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124A0DB-879B-4C44-946E-A241A22C88D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1ECC9AF-068F-4719-B6DD-9E078242532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A82C4FA-BB38-475E-9817-DA2F3A2BF10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4D23D65-76A2-4415-8902-59713083047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  |  [CANONICAL CANDIDATE — PENDING ROOT FINAL REVIEW]</a:t>
            </a:r>
          </a:p>
        </p:txBody>
      </p:sp>
      <p:sp>
        <p:nvSpPr>
          <p:cNvPr id="6" name="shape_slide_4_dataset_topology">
            <a:extLst xmlns:a="http://schemas.openxmlformats.org/drawingml/2006/main">
              <a:ext uri="{FF2B5EF4-FFF2-40B4-BE49-F238E27FC236}">
                <a16:creationId xmlns:a16="http://schemas.microsoft.com/office/drawing/2014/main" id="{5B8399A5-24D3-449F-AD3E-7052245E67F0}"/>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4_dataset_topology_textbox">
            <a:extLst xmlns:a="http://schemas.openxmlformats.org/drawingml/2006/main">
              <a:ext uri="{FF2B5EF4-FFF2-40B4-BE49-F238E27FC236}">
                <a16:creationId xmlns:a16="http://schemas.microsoft.com/office/drawing/2014/main" id="{4F020FF6-F651-44FF-B18C-EDA74DD1272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shape_slide_4_representations">
            <a:extLst xmlns:a="http://schemas.openxmlformats.org/drawingml/2006/main">
              <a:ext uri="{FF2B5EF4-FFF2-40B4-BE49-F238E27FC236}">
                <a16:creationId xmlns:a16="http://schemas.microsoft.com/office/drawing/2014/main" id="{AF3CD8FD-F7E1-47C6-BE21-2F42017FAB6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4_representations_textbox">
            <a:extLst xmlns:a="http://schemas.openxmlformats.org/drawingml/2006/main">
              <a:ext uri="{FF2B5EF4-FFF2-40B4-BE49-F238E27FC236}">
                <a16:creationId xmlns:a16="http://schemas.microsoft.com/office/drawing/2014/main" id="{7DF99EB8-4FB1-4C2E-B2A7-8270E2893F97}"/>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52780062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76D9216-0770-4488-AE4B-723FE30720A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57A9CFC-7D8E-4A7C-887F-372ACC47BFE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DB58765-8DFE-4D0A-B6C6-59055CE0D78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6D98833D-F712-4693-AB4B-319B0D9F3F7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  |  [CANONICAL CANDIDATE — PENDING ROOT FINAL REVIEW]</a:t>
            </a:r>
          </a:p>
        </p:txBody>
      </p:sp>
      <p:sp>
        <p:nvSpPr>
          <p:cNvPr id="6" name="shape_slide_5_decisions">
            <a:extLst xmlns:a="http://schemas.openxmlformats.org/drawingml/2006/main">
              <a:ext uri="{FF2B5EF4-FFF2-40B4-BE49-F238E27FC236}">
                <a16:creationId xmlns:a16="http://schemas.microsoft.com/office/drawing/2014/main" id="{CEDA327F-6315-4BF2-950A-92271A40887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5_decisions_textbox">
            <a:extLst xmlns:a="http://schemas.openxmlformats.org/drawingml/2006/main">
              <a:ext uri="{FF2B5EF4-FFF2-40B4-BE49-F238E27FC236}">
                <a16:creationId xmlns:a16="http://schemas.microsoft.com/office/drawing/2014/main" id="{663C6AD6-DB3B-4297-AD9C-7A59B5625A4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shape_slide_5_criteria">
            <a:extLst xmlns:a="http://schemas.openxmlformats.org/drawingml/2006/main">
              <a:ext uri="{FF2B5EF4-FFF2-40B4-BE49-F238E27FC236}">
                <a16:creationId xmlns:a16="http://schemas.microsoft.com/office/drawing/2014/main" id="{E6FCB89C-E050-4492-B070-1A9667796BA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5_criteria_textbox">
            <a:extLst xmlns:a="http://schemas.openxmlformats.org/drawingml/2006/main">
              <a:ext uri="{FF2B5EF4-FFF2-40B4-BE49-F238E27FC236}">
                <a16:creationId xmlns:a16="http://schemas.microsoft.com/office/drawing/2014/main" id="{286BF638-88AC-4F80-BF8A-34D5EBFF403A}"/>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501737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3E486CD-3397-4FB5-859E-B3B30002F21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1298521-C471-45FA-A520-551E3D6C04D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023334A-6C0A-4270-A80F-67482FB3142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3192074-C681-4122-939C-B0DF3794274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718 positive scorable views của benchmark  |  [CANONICAL CANDIDATE — PENDING ROOT FINAL REVIEW]</a:t>
            </a:r>
          </a:p>
        </p:txBody>
      </p:sp>
      <p:sp>
        <p:nvSpPr>
          <p:cNvPr id="6" name="shape_slide_6_retrieval_diagnostics">
            <a:extLst xmlns:a="http://schemas.openxmlformats.org/drawingml/2006/main">
              <a:ext uri="{FF2B5EF4-FFF2-40B4-BE49-F238E27FC236}">
                <a16:creationId xmlns:a16="http://schemas.microsoft.com/office/drawing/2014/main" id="{A39246EB-6D62-4E5A-81B2-14B2D970A67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6_retrieval_diagnostics_textbox">
            <a:extLst xmlns:a="http://schemas.openxmlformats.org/drawingml/2006/main">
              <a:ext uri="{FF2B5EF4-FFF2-40B4-BE49-F238E27FC236}">
                <a16:creationId xmlns:a16="http://schemas.microsoft.com/office/drawing/2014/main" id="{0ADE7F6C-245B-4621-B320-3808E9245C7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4c59f6c4b1f749f0"/>
          <a:stretch xmlns:a="http://schemas.openxmlformats.org/drawingml/2006/main">
            <a:fillRect l="0" t="0" r="0" b="0"/>
          </a:stretch>
        </p:blipFill>
        <p:spPr>
          <a:xfrm xmlns:a="http://schemas.openxmlformats.org/drawingml/2006/main">
            <a:off x="6248095" y="1234440"/>
            <a:ext cx="5212080" cy="3127248"/>
          </a:xfrm>
          <a:prstGeom xmlns:a="http://schemas.openxmlformats.org/drawingml/2006/main" prst="rect">
            <a:avLst/>
          </a:prstGeom>
        </p:spPr>
      </p:pic>
      <p:sp>
        <p:nvSpPr>
          <p:cNvPr id="9" name="shape_slide_6_context_scaling">
            <a:extLst xmlns:a="http://schemas.openxmlformats.org/drawingml/2006/main">
              <a:ext uri="{FF2B5EF4-FFF2-40B4-BE49-F238E27FC236}">
                <a16:creationId xmlns:a16="http://schemas.microsoft.com/office/drawing/2014/main" id="{7DE23277-8635-425D-AF0F-8185DED692B6}"/>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6_context_scaling_textbox">
            <a:extLst xmlns:a="http://schemas.openxmlformats.org/drawingml/2006/main">
              <a:ext uri="{FF2B5EF4-FFF2-40B4-BE49-F238E27FC236}">
                <a16:creationId xmlns:a16="http://schemas.microsoft.com/office/drawing/2014/main" id="{77A17C56-7F18-42E7-9FAB-A8F2BBDDA7E6}"/>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050">
                <a:solidFill>
                  <a:srgbClr val="0F172A"/>
                </a:solidFill>
                <a:latin typeface="Calibri"/>
                <a:ea typeface="Calibri"/>
                <a:cs typeface="Calibri"/>
              </a:defRPr>
            </a:pPr>
            <a:r>
              <a:t>•  Khoảng cách ngữ nghĩa tại T1136.001 (Local Account): Quan sát thấy 0/95 lượt trúng Top-10 đi kèm sự khác biệt từ vựng giữa raw event log và nhãn STIX (giả thuyết từ vựng / lexical divergence hypothesis, không khẳng định quan hệ nhân quả).</a:t>
            </a:r>
          </a:p>
          <a:p xmlns:a="http://schemas.openxmlformats.org/drawingml/2006/main">
            <a:pPr>
              <a:spcBef>
                <a:spcPts val="250"/>
              </a:spcBef>
              <a:buNone/>
              <a:defRPr sz="105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204061932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C9BFA92-BD38-401B-977D-0FABA4C9F00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BAD967C-783E-4246-90DA-087A599318F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DDA67C7-38D1-49DF-B9C5-97D4CFF7F34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4D0EB39-F8B0-4A64-87C1-94EB5D5398C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Phân Tích Lỗi Khâu Truy Xuất &amp; Chẩn Đoán Có Điều Kiện (RQ2)</a:t>
            </a:r>
          </a:p>
          <a:p xmlns:a="http://schemas.openxmlformats.org/drawingml/2006/main">
            <a:pPr>
              <a:buNone/>
              <a:defRPr sz="1300">
                <a:solidFill>
                  <a:srgbClr val="06B6D4"/>
                </a:solidFill>
                <a:latin typeface="Calibri"/>
                <a:ea typeface="Calibri"/>
                <a:cs typeface="Calibri"/>
              </a:defRPr>
            </a:pPr>
            <a:r>
              <a:t>Đo lường tương quan quan sát giữa thành công truy xuất và độ chính xác phân loại trên 718 views TEST  |  [CANONICAL CANDIDATE — PENDING ROOT FINAL REVIEW]</a:t>
            </a:r>
          </a:p>
        </p:txBody>
      </p:sp>
      <p:sp>
        <p:nvSpPr>
          <p:cNvPr id="6" name="shape_slide_7_paired_analysis">
            <a:extLst xmlns:a="http://schemas.openxmlformats.org/drawingml/2006/main">
              <a:ext uri="{FF2B5EF4-FFF2-40B4-BE49-F238E27FC236}">
                <a16:creationId xmlns:a16="http://schemas.microsoft.com/office/drawing/2014/main" id="{42BBCAEB-260C-4115-A868-08199EFBE09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7_paired_analysis_textbox">
            <a:extLst xmlns:a="http://schemas.openxmlformats.org/drawingml/2006/main">
              <a:ext uri="{FF2B5EF4-FFF2-40B4-BE49-F238E27FC236}">
                <a16:creationId xmlns:a16="http://schemas.microsoft.com/office/drawing/2014/main" id="{4D1191AA-6D49-4A0E-BA5E-068B3303A5E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Chẩn Đoán Có Điều Kiện Theo Khâu Truy Xuất (TEST N=718)</a:t>
            </a:r>
          </a:p>
          <a:p xmlns:a="http://schemas.openxmlformats.org/drawingml/2006/main">
            <a:pPr>
              <a:spcBef>
                <a:spcPts val="300"/>
              </a:spcBef>
              <a:buNone/>
              <a:defRPr sz="1100">
                <a:solidFill>
                  <a:srgbClr val="0F172A"/>
                </a:solidFill>
                <a:latin typeface="Calibri"/>
                <a:ea typeface="Calibri"/>
                <a:cs typeface="Calibri"/>
              </a:defRPr>
            </a:pPr>
            <a:r>
              <a:t>•  Kỹ thuật GT có mặt trong Top-10 (Retrieval Success): N=321 (44.71%)</a:t>
            </a:r>
          </a:p>
          <a:p xmlns:a="http://schemas.openxmlformats.org/drawingml/2006/main">
            <a:pPr>
              <a:spcBef>
                <a:spcPts val="300"/>
              </a:spcBef>
              <a:buNone/>
              <a:defRPr sz="1100">
                <a:solidFill>
                  <a:srgbClr val="0F172A"/>
                </a:solidFill>
                <a:latin typeface="Calibri"/>
                <a:ea typeface="Calibri"/>
                <a:cs typeface="Calibri"/>
              </a:defRPr>
            </a:pPr>
            <a:r>
              <a:t>  • P(Đúng | Đã truy xuất): 91.28% (293/321 views được gán đúng).</a:t>
            </a:r>
          </a:p>
          <a:p xmlns:a="http://schemas.openxmlformats.org/drawingml/2006/main">
            <a:pPr>
              <a:spcBef>
                <a:spcPts val="300"/>
              </a:spcBef>
              <a:buNone/>
              <a:defRPr sz="1100">
                <a:solidFill>
                  <a:srgbClr val="0F172A"/>
                </a:solidFill>
                <a:latin typeface="Calibri"/>
                <a:ea typeface="Calibri"/>
                <a:cs typeface="Calibri"/>
              </a:defRPr>
            </a:pPr>
            <a:r>
              <a:t>•  Kỹ thuật GT vắng mặt trong Top-10 (Retrieval Miss): N=397 (55.29%)</a:t>
            </a:r>
          </a:p>
          <a:p xmlns:a="http://schemas.openxmlformats.org/drawingml/2006/main">
            <a:pPr>
              <a:spcBef>
                <a:spcPts val="300"/>
              </a:spcBef>
              <a:buNone/>
              <a:defRPr sz="1100">
                <a:solidFill>
                  <a:srgbClr val="0F172A"/>
                </a:solidFill>
                <a:latin typeface="Calibri"/>
                <a:ea typeface="Calibri"/>
                <a:cs typeface="Calibri"/>
              </a:defRPr>
            </a:pPr>
            <a:r>
              <a:t>  • P(Đúng | Vắng mặt): 70.03% (278/397 views gán đúng khi không có tài liệu ground-truth trong Top-10).</a:t>
            </a:r>
          </a:p>
          <a:p xmlns:a="http://schemas.openxmlformats.org/drawingml/2006/main">
            <a:pPr>
              <a:spcBef>
                <a:spcPts val="300"/>
              </a:spcBef>
              <a:buNone/>
              <a:defRPr sz="1100">
                <a:solidFill>
                  <a:srgbClr val="0F172A"/>
                </a:solidFill>
                <a:latin typeface="Calibri"/>
                <a:ea typeface="Calibri"/>
                <a:cs typeface="Calibri"/>
              </a:defRPr>
            </a:pPr>
            <a:r>
              <a:t>•  Khoảng chênh lệch quan sát: +21.25 pp (91.28% vs 70.03%) cho thấy sự hiện diện của ngữ cảnh gắn liền với tỷ lệ gán đúng cao hơn.</a:t>
            </a:r>
          </a:p>
          <a:p xmlns:a="http://schemas.openxmlformats.org/drawingml/2006/main">
            <a:pPr>
              <a:spcBef>
                <a:spcPts val="300"/>
              </a:spcBef>
              <a:buNone/>
              <a:defRPr sz="1100">
                <a:solidFill>
                  <a:srgbClr val="0F172A"/>
                </a:solidFill>
                <a:latin typeface="Calibri"/>
                <a:ea typeface="Calibri"/>
                <a:cs typeface="Calibri"/>
              </a:defRPr>
            </a:pPr>
            <a:r>
              <a:t>•  Nguyên tắc suy luận: Trình bày thuần túy dưới dạng tương quan quan sát (observational association), không suy diễn quan hệ nhân quả tuyệt đối.</a:t>
            </a:r>
          </a:p>
        </p:txBody>
      </p:sp>
      <p:sp>
        <p:nvSpPr>
          <p:cNvPr id="8" name="shape_slide_7_benign_drift">
            <a:extLst xmlns:a="http://schemas.openxmlformats.org/drawingml/2006/main">
              <a:ext uri="{FF2B5EF4-FFF2-40B4-BE49-F238E27FC236}">
                <a16:creationId xmlns:a16="http://schemas.microsoft.com/office/drawing/2014/main" id="{AA62A256-E7D5-4E28-887D-821CD29F717C}"/>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7_benign_drift_textbox">
            <a:extLst xmlns:a="http://schemas.openxmlformats.org/drawingml/2006/main">
              <a:ext uri="{FF2B5EF4-FFF2-40B4-BE49-F238E27FC236}">
                <a16:creationId xmlns:a16="http://schemas.microsoft.com/office/drawing/2014/main" id="{DEE1BE33-9595-4DA5-8240-200BC0E0A2E3}"/>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Bóc Tách Lỗi &amp; Phần Giao Thoa Độc Lập Theo Định Đề D2i</a:t>
            </a:r>
          </a:p>
          <a:p xmlns:a="http://schemas.openxmlformats.org/drawingml/2006/main">
            <a:pPr>
              <a:spcBef>
                <a:spcPts val="250"/>
              </a:spcBef>
              <a:buNone/>
              <a:defRPr sz="1050">
                <a:solidFill>
                  <a:srgbClr val="0F172A"/>
                </a:solidFill>
                <a:latin typeface="Calibri"/>
                <a:ea typeface="Calibri"/>
                <a:cs typeface="Calibri"/>
              </a:defRPr>
            </a:pPr>
            <a:r>
              <a:t>•  Tổng số lỗi phân loại tại k=10: 147 views (718 - 571 = 147).</a:t>
            </a:r>
          </a:p>
          <a:p xmlns:a="http://schemas.openxmlformats.org/drawingml/2006/main">
            <a:pPr>
              <a:spcBef>
                <a:spcPts val="250"/>
              </a:spcBef>
              <a:buNone/>
              <a:defRPr sz="1050">
                <a:solidFill>
                  <a:srgbClr val="0F172A"/>
                </a:solidFill>
                <a:latin typeface="Calibri"/>
                <a:ea typeface="Calibri"/>
                <a:cs typeface="Calibri"/>
              </a:defRPr>
            </a:pPr>
            <a:r>
              <a:t>•  Phần giao thoa lỗi (Joint Overlap per D2i): 119 / 147 (80.95% tổng lỗi phân loại) xảy ra khi retrieval trượt Top-10.</a:t>
            </a:r>
          </a:p>
          <a:p xmlns:a="http://schemas.openxmlformats.org/drawingml/2006/main">
            <a:pPr>
              <a:spcBef>
                <a:spcPts val="250"/>
              </a:spcBef>
              <a:buNone/>
              <a:defRPr sz="1050">
                <a:solidFill>
                  <a:srgbClr val="0F172A"/>
                </a:solidFill>
                <a:latin typeface="Calibri"/>
                <a:ea typeface="Calibri"/>
                <a:cs typeface="Calibri"/>
              </a:defRPr>
            </a:pPr>
            <a:r>
              <a:t>•  Lỗi khi retrieval thành công: 28 / 147 (19.05% tổng lỗi phân loại) mô hình chọn sai kỹ thuật dù kỹ thuật đúng có trong Top-10 (giả thuyết nhầm lẫn downstream / distractor effect đang được khảo sát).</a:t>
            </a:r>
          </a:p>
          <a:p xmlns:a="http://schemas.openxmlformats.org/drawingml/2006/main">
            <a:pPr>
              <a:spcBef>
                <a:spcPts val="250"/>
              </a:spcBef>
              <a:buNone/>
              <a:defRPr sz="1050">
                <a:solidFill>
                  <a:srgbClr val="0F172A"/>
                </a:solidFill>
                <a:latin typeface="Calibri"/>
                <a:ea typeface="Calibri"/>
                <a:cs typeface="Calibri"/>
              </a:defRPr>
            </a:pPr>
            <a:r>
              <a:t>•  Tuân thủ định đề D2i: Ghi nhận đầy đủ phần giao thoa khác 0 giữa các trục đo lường lỗi độc lập, không áp đặt giả định xung khắc hay độc lập xác suất ngẫu nhiên.</a:t>
            </a:r>
          </a:p>
          <a:p xmlns:a="http://schemas.openxmlformats.org/drawingml/2006/main">
            <a:pPr>
              <a:spcBef>
                <a:spcPts val="250"/>
              </a:spcBef>
              <a:buNone/>
              <a:defRPr sz="10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Diagnostic Cohort Pairwise Comparison (n=718 views across 440 clusters):</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McNemar Exploratory Test: p_asympt = 1.0000, p_exact = 1.0000</a:t>
            </a:r>
          </a:p>
          <a:p xmlns:a="http://schemas.openxmlformats.org/drawingml/2006/main">
            <a:pPr>
              <a:spcBef>
                <a:spcPts val="250"/>
              </a:spcBef>
              <a:buNone/>
              <a:defRPr sz="1050">
                <a:solidFill>
                  <a:srgbClr val="0F172A"/>
                </a:solidFill>
                <a:latin typeface="Calibri"/>
                <a:ea typeface="Calibri"/>
                <a:cs typeface="Calibri"/>
              </a:defRPr>
            </a:pPr>
            <a:r>
              <a:t>•  Ranh giới an toàn: Không xuất hiện lỗi API hay lỗi cú pháp mã kỹ thuật trên tập scorable (0 terminal provider failures, 0 invalid IDs).</a:t>
            </a:r>
          </a:p>
        </p:txBody>
      </p:sp>
    </p:spTree>
    <p:extLst>
      <p:ext uri="{BB962C8B-B14F-4D97-AF65-F5344CB8AC3E}">
        <p14:creationId xmlns:p14="http://schemas.microsoft.com/office/powerpoint/2010/main" val="138392123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409C979-A11C-4839-BE35-59BE247E722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4CB6138-3DAF-41A8-8F87-A3E1995E32D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9010636-1A5C-41E2-BA5E-F82F1178BD4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3BF3BD5-624B-432E-ABF5-5D58049A1D5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  |  [CANONICAL CANDIDATE — PENDING ROOT FINAL REVIEW]</a:t>
            </a:r>
          </a:p>
        </p:txBody>
      </p:sp>
      <p:sp>
        <p:nvSpPr>
          <p:cNvPr id="6" name="shape_slide_8_d2i_axes">
            <a:extLst xmlns:a="http://schemas.openxmlformats.org/drawingml/2006/main">
              <a:ext uri="{FF2B5EF4-FFF2-40B4-BE49-F238E27FC236}">
                <a16:creationId xmlns:a16="http://schemas.microsoft.com/office/drawing/2014/main" id="{03778E68-6C07-4627-B932-3510A5CFBBDB}"/>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8_d2i_axes_textbox">
            <a:extLst xmlns:a="http://schemas.openxmlformats.org/drawingml/2006/main">
              <a:ext uri="{FF2B5EF4-FFF2-40B4-BE49-F238E27FC236}">
                <a16:creationId xmlns:a16="http://schemas.microsoft.com/office/drawing/2014/main" id="{5D04E167-9625-49A6-A7F2-E528ACA2EB12}"/>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a:extLst xmlns:a="http://schemas.openxmlformats.org/drawingml/2006/main">
              <a:ext uri="{FF2B5EF4-FFF2-40B4-BE49-F238E27FC236}">
                <a16:creationId xmlns:a16="http://schemas.microsoft.com/office/drawing/2014/main" id="{2566F62D-5FA4-4439-A5AA-E799BD13CF1A}"/>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8_conditional_accuracy_textbox">
            <a:extLst xmlns:a="http://schemas.openxmlformats.org/drawingml/2006/main">
              <a:ext uri="{FF2B5EF4-FFF2-40B4-BE49-F238E27FC236}">
                <a16:creationId xmlns:a16="http://schemas.microsoft.com/office/drawing/2014/main" id="{DEEF1D4F-57E4-4C41-9E4A-3441048D7909}"/>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&amp; Hiệu Năng RQ1</a:t>
            </a:r>
          </a:p>
          <a:p xmlns:a="http://schemas.openxmlformats.org/drawingml/2006/main">
            <a:pPr>
              <a:spcBef>
                <a:spcPts val="150"/>
              </a:spcBef>
              <a:buNone/>
              <a:defRPr sz="1000">
                <a:solidFill>
                  <a:srgbClr val="0F172A"/>
                </a:solidFill>
                <a:latin typeface="Calibri"/>
                <a:ea typeface="Calibri"/>
                <a:cs typeface="Calibri"/>
              </a:defRPr>
            </a:pPr>
            <a:r>
              <a:t>•  Mẫu số đánh giá chuẩn: N=718 scorable views (trên 440 distinct clusters).</a:t>
            </a:r>
          </a:p>
          <a:p xmlns:a="http://schemas.openxmlformats.org/drawingml/2006/main">
            <a:pPr>
              <a:spcBef>
                <a:spcPts val="150"/>
              </a:spcBef>
              <a:buNone/>
              <a:defRPr sz="100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150"/>
              </a:spcBef>
              <a:buNone/>
              <a:defRPr sz="100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150"/>
              </a:spcBef>
              <a:buNone/>
              <a:defRPr sz="1000">
                <a:solidFill>
                  <a:srgbClr val="0F172A"/>
                </a:solidFill>
                <a:latin typeface="Calibri"/>
                <a:ea typeface="Calibri"/>
                <a:cs typeface="Calibri"/>
              </a:defRPr>
            </a:pPr>
            <a:r>
              <a:t>•  Fail-Closed Invariant: Provider Fail = 0.0000, Parse Fail = 0.0000, Invalid ID = 0.1667 (tính vào mẫu số).</a:t>
            </a:r>
          </a:p>
          <a:p xmlns:a="http://schemas.openxmlformats.org/drawingml/2006/main">
            <a:pPr>
              <a:spcBef>
                <a:spcPts val="150"/>
              </a:spcBef>
              <a:buNone/>
              <a:defRPr sz="1000">
                <a:solidFill>
                  <a:srgbClr val="0F172A"/>
                </a:solidFill>
                <a:latin typeface="Calibri"/>
                <a:ea typeface="Calibri"/>
                <a:cs typeface="Calibri"/>
              </a:defRPr>
            </a:pPr>
            <a:r>
              <a:t>•  Macro-F1 (vũ trụ 474 lớp D2d FROZEN_BENCHMARK_UNIVERSE): No-RAG 0.0126 vs RAG k=10 0.0140 (Delta +0.0014; 8 supported classes, 466 zero-support classes).</a:t>
            </a:r>
          </a:p>
          <a:p xmlns:a="http://schemas.openxmlformats.org/drawingml/2006/main">
            <a:pPr>
              <a:spcBef>
                <a:spcPts val="150"/>
              </a:spcBef>
              <a:buNone/>
              <a:defRPr sz="1000">
                <a:solidFill>
                  <a:srgbClr val="0F172A"/>
                </a:solidFill>
                <a:latin typeface="Calibri"/>
                <a:ea typeface="Calibri"/>
                <a:cs typeface="Calibri"/>
              </a:defRPr>
            </a:pPr>
            <a:r>
              <a:t>•  So sánh đối chứng RAG k=10 vs No-RAG: Delta +1.532 pp (79.53% [571/718] vs 77.99% [560/718]), 95% CI [-2.355, +5.300] pp (chứa 0), McNemar p = 0.4219 (hiển thị 0.422).</a:t>
            </a:r>
          </a:p>
          <a:p xmlns:a="http://schemas.openxmlformats.org/drawingml/2006/main">
            <a:pPr>
              <a:spcBef>
                <a:spcPts val="150"/>
              </a:spcBef>
              <a:buNone/>
              <a:defRPr sz="1000">
                <a:solidFill>
                  <a:srgbClr val="0F172A"/>
                </a:solidFill>
                <a:latin typeface="Calibri"/>
                <a:ea typeface="Calibri"/>
                <a:cs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a:extLst xmlns:a="http://schemas.openxmlformats.org/drawingml/2006/main">
              <a:ext uri="{FF2B5EF4-FFF2-40B4-BE49-F238E27FC236}">
                <a16:creationId xmlns:a16="http://schemas.microsoft.com/office/drawing/2014/main" id="{1E99DCE5-63EA-40E2-BC6E-CB12EF181CA6}"/>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8_rq1_attribution_textbox">
            <a:extLst xmlns:a="http://schemas.openxmlformats.org/drawingml/2006/main">
              <a:ext uri="{FF2B5EF4-FFF2-40B4-BE49-F238E27FC236}">
                <a16:creationId xmlns:a16="http://schemas.microsoft.com/office/drawing/2014/main" id="{9B88E60E-EDD1-4262-9B6B-B8F4831B537F}"/>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96506730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6102E3E-086E-49F0-A510-0F5B4920F7F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EAC0A06-4624-4DA2-86A3-F87134DBD8C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54716AD-2714-4BBA-B97C-B14CD711A36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6D4056E-B821-4849-9ADD-18D38404724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Hạch toán tài chính toàn nghiên cứu, đánh đổi token-chi phí và kiểm soát ngân sách  |  [CANONICAL CANDIDATE — PENDING ROOT FINAL REVIEW]</a:t>
            </a:r>
          </a:p>
        </p:txBody>
      </p:sp>
      <p:sp>
        <p:nvSpPr>
          <p:cNvPr id="6" name="shape_slide_9_rq3_resources">
            <a:extLst xmlns:a="http://schemas.openxmlformats.org/drawingml/2006/main">
              <a:ext uri="{FF2B5EF4-FFF2-40B4-BE49-F238E27FC236}">
                <a16:creationId xmlns:a16="http://schemas.microsoft.com/office/drawing/2014/main" id="{80017D34-80C9-4A0E-ABC7-C9E979684D2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9_rq3_resources_textbox">
            <a:extLst xmlns:a="http://schemas.openxmlformats.org/drawingml/2006/main">
              <a:ext uri="{FF2B5EF4-FFF2-40B4-BE49-F238E27FC236}">
                <a16:creationId xmlns:a16="http://schemas.microsoft.com/office/drawing/2014/main" id="{BEEFF16A-F48E-4DDC-9F0F-CEEA5CE0ED1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9a2422bd949420a"/>
          <a:stretch xmlns:a="http://schemas.openxmlformats.org/drawingml/2006/main">
            <a:fillRect l="0" t="0" r="0" b="0"/>
          </a:stretch>
        </p:blipFill>
        <p:spPr>
          <a:xfrm xmlns:a="http://schemas.openxmlformats.org/drawingml/2006/main">
            <a:off x="6248095" y="1234440"/>
            <a:ext cx="5212080" cy="3474720"/>
          </a:xfrm>
          <a:prstGeom xmlns:a="http://schemas.openxmlformats.org/drawingml/2006/main" prst="rect">
            <a:avLst/>
          </a:prstGeom>
        </p:spPr>
      </p:pic>
      <p:sp>
        <p:nvSpPr>
          <p:cNvPr id="9" name="shape_slide_9_accounting">
            <a:extLst xmlns:a="http://schemas.openxmlformats.org/drawingml/2006/main">
              <a:ext uri="{FF2B5EF4-FFF2-40B4-BE49-F238E27FC236}">
                <a16:creationId xmlns:a16="http://schemas.microsoft.com/office/drawing/2014/main" id="{C6B051B1-598E-4F44-BDFC-AF56AB0B742B}"/>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9_accounting_textbox">
            <a:extLst xmlns:a="http://schemas.openxmlformats.org/drawingml/2006/main">
              <a:ext uri="{FF2B5EF4-FFF2-40B4-BE49-F238E27FC236}">
                <a16:creationId xmlns:a16="http://schemas.microsoft.com/office/drawing/2014/main" id="{02D98A25-C4DF-477B-A1BA-50C06000BE46}"/>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20"/>
              </a:spcBef>
              <a:buNone/>
              <a:defRPr sz="1050">
                <a:solidFill>
                  <a:srgbClr val="0F172A"/>
                </a:solidFill>
                <a:latin typeface="Calibri"/>
                <a:ea typeface="Calibri"/>
                <a:cs typeface="Calibri"/>
              </a:defRPr>
            </a:pPr>
            <a:r>
              <a:t>•  Tăng k từ 1 lên 10 (k1 -&gt; k10): Lượng token đầu vào prompt tăng ~4.103x (1246.5 lên 5114.3 tokens). So với No-RAG (674.3 tokens), k=10 tăng ~7.58x.</a:t>
            </a:r>
          </a:p>
          <a:p xmlns:a="http://schemas.openxmlformats.org/drawingml/2006/main">
            <a:pPr>
              <a:spcBef>
                <a:spcPts val="220"/>
              </a:spcBef>
              <a:buNone/>
              <a:defRPr sz="1050">
                <a:solidFill>
                  <a:srgbClr val="0F172A"/>
                </a:solidFill>
                <a:latin typeface="Calibri"/>
                <a:ea typeface="Calibri"/>
                <a:cs typeface="Calibri"/>
              </a:defRPr>
            </a:pPr>
            <a:r>
              <a:t>•  Toàn bộ chi phí thực nghiệm ($6.57575890 USD) nằm an toàn dưới trần ngân sách đóng băng $19.99 USD.</a:t>
            </a:r>
          </a:p>
        </p:txBody>
      </p:sp>
    </p:spTree>
    <p:extLst>
      <p:ext uri="{BB962C8B-B14F-4D97-AF65-F5344CB8AC3E}">
        <p14:creationId xmlns:p14="http://schemas.microsoft.com/office/powerpoint/2010/main" val="2028599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8456080-15DE-440C-BCD4-153BE37B3DF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80AEFCF-C4D3-4408-B49C-244C193004C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D69934E-DFFF-436F-9E06-30BFD40C575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B9BD294-0FAD-4BD6-AA6D-DAEB6824816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  |  [CANONICAL CANDIDATE — PENDING ROOT FINAL REVIEW]</a:t>
            </a:r>
          </a:p>
        </p:txBody>
      </p:sp>
      <p:sp>
        <p:nvSpPr>
          <p:cNvPr id="6" name="shape_slide_10_limitations_1">
            <a:extLst xmlns:a="http://schemas.openxmlformats.org/drawingml/2006/main">
              <a:ext uri="{FF2B5EF4-FFF2-40B4-BE49-F238E27FC236}">
                <a16:creationId xmlns:a16="http://schemas.microsoft.com/office/drawing/2014/main" id="{B5E5F50D-155E-4511-877B-D18A994B74EE}"/>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0_limitations_1_textbox">
            <a:extLst xmlns:a="http://schemas.openxmlformats.org/drawingml/2006/main">
              <a:ext uri="{FF2B5EF4-FFF2-40B4-BE49-F238E27FC236}">
                <a16:creationId xmlns:a16="http://schemas.microsoft.com/office/drawing/2014/main" id="{42C44CB2-7B67-49BA-AC7F-A841A824675A}"/>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shape_slide_10_limitations_2">
            <a:extLst xmlns:a="http://schemas.openxmlformats.org/drawingml/2006/main">
              <a:ext uri="{FF2B5EF4-FFF2-40B4-BE49-F238E27FC236}">
                <a16:creationId xmlns:a16="http://schemas.microsoft.com/office/drawing/2014/main" id="{29D755FD-9A90-448C-956F-A934C9F0B93E}"/>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0_limitations_2_textbox">
            <a:extLst xmlns:a="http://schemas.openxmlformats.org/drawingml/2006/main">
              <a:ext uri="{FF2B5EF4-FFF2-40B4-BE49-F238E27FC236}">
                <a16:creationId xmlns:a16="http://schemas.microsoft.com/office/drawing/2014/main" id="{65EFA7AD-3636-447E-A1EF-64286F17451D}"/>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a:extLst xmlns:a="http://schemas.openxmlformats.org/drawingml/2006/main">
              <a:ext uri="{FF2B5EF4-FFF2-40B4-BE49-F238E27FC236}">
                <a16:creationId xmlns:a16="http://schemas.microsoft.com/office/drawing/2014/main" id="{877F9545-CBAA-4EEF-B166-7335AAF0DFA2}"/>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10_limitations_3_textbox">
            <a:extLst xmlns:a="http://schemas.openxmlformats.org/drawingml/2006/main">
              <a:ext uri="{FF2B5EF4-FFF2-40B4-BE49-F238E27FC236}">
                <a16:creationId xmlns:a16="http://schemas.microsoft.com/office/drawing/2014/main" id="{F377C8FB-F01C-467A-ACC3-09E947A06F6A}"/>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48508859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83C7ECD-633C-441C-A068-D43B58DDAD9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8E071FE9-5F30-4AE4-A081-D327A1D025A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FAF43B8-DF3B-42C8-A126-A252DA5513E3}"/>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3F08947-F871-4E59-B8E2-D41E29BDB1E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  |  [CANONICAL CANDIDATE — PENDING ROOT FINAL REVIEW]</a:t>
            </a:r>
          </a:p>
        </p:txBody>
      </p:sp>
      <p:sp>
        <p:nvSpPr>
          <p:cNvPr id="6" name="shape_slide_11_reproducibility_1">
            <a:extLst xmlns:a="http://schemas.openxmlformats.org/drawingml/2006/main">
              <a:ext uri="{FF2B5EF4-FFF2-40B4-BE49-F238E27FC236}">
                <a16:creationId xmlns:a16="http://schemas.microsoft.com/office/drawing/2014/main" id="{CA59C6E7-20C5-44AD-B947-48F9D5F4B1C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1_reproducibility_1_textbox">
            <a:extLst xmlns:a="http://schemas.openxmlformats.org/drawingml/2006/main">
              <a:ext uri="{FF2B5EF4-FFF2-40B4-BE49-F238E27FC236}">
                <a16:creationId xmlns:a16="http://schemas.microsoft.com/office/drawing/2014/main" id="{C3808074-7DD9-4C5A-B309-42F2EF606495}"/>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shape_slide_11_reproducibility_2">
            <a:extLst xmlns:a="http://schemas.openxmlformats.org/drawingml/2006/main">
              <a:ext uri="{FF2B5EF4-FFF2-40B4-BE49-F238E27FC236}">
                <a16:creationId xmlns:a16="http://schemas.microsoft.com/office/drawing/2014/main" id="{19127BA4-9A42-4FC5-9C11-CE80248E6D8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1_reproducibility_2_textbox">
            <a:extLst xmlns:a="http://schemas.openxmlformats.org/drawingml/2006/main">
              <a:ext uri="{FF2B5EF4-FFF2-40B4-BE49-F238E27FC236}">
                <a16:creationId xmlns:a16="http://schemas.microsoft.com/office/drawing/2014/main" id="{7AD84FCF-9B9A-419B-BECE-86D7FB5725FE}"/>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trên tập dữ liệu đóng băng synthetic-paired-v1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4104758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8E2D4D-F011-4B2F-A1C1-5C3CF47E262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CAECEB4-3011-4731-AF5E-97B91F85E8B2}"/>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2_conclusion">
            <a:extLst xmlns:a="http://schemas.openxmlformats.org/drawingml/2006/main">
              <a:ext uri="{FF2B5EF4-FFF2-40B4-BE49-F238E27FC236}">
                <a16:creationId xmlns:a16="http://schemas.microsoft.com/office/drawing/2014/main" id="{EFBEB6AC-46E4-49ED-B239-8D3EDB421AE4}"/>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kết quả đối chứng ghi nhận No-RAG đạt 77.99% (560/718) vs RAG k=10 quan sát thấy 79.53% (571/718, Delta = +1.532 pp, 95% CI [-2.355, +5.300] pp chứa 0, McNemar p = 0.4219 / 0.422 &gt; 0.05).</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ghi nhận 0 terminal provider failures trên 3,590 scorable records.</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18524669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2026-10-02T23:51:00.2480000Z</dcterms:created>
  <dcterms:modified xsi:type="dcterms:W3CDTF">2026-10-02T23:51:00.2480000Z</dcterms:modified>
</coreProperties>
</file>