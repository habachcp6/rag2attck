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d0ce198ad4853f4c41ef2bfbafbe10a395e4927a6c6561b3e72c055c4b887e9f); reports/experiment_protocol_v1.md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a:r>
              <a:t>Bằng chứng dự án: docs/README_PROPOSED.md; config/canonical_experiment_lock_v1.json (SHA-256: d0ce198a...); reports/experiment_protocol_v1.md (D3 policy; File SHA-256: 639fd68ae16deec86e9f6baab0980c1abb265c6cd7bb9b4662f562b87e54e819; Canonical Decisions Digest: d3bf3d31ad307100ac437a7daecc470bf12de9ada49f19de3d77592d5a21974c);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b751fde1ee33b03ec0bdc07cbba10267002d2086cf22b91a74bdfd123856f206); attack/corpus/enterprise-windows-v19.2.jsonl (SHA-256: b219341154ddf2f12e97d622158a04ab7d57641df6a865559258d365852c3c75); config/experiment_config.json (SHA-256: 961ba9b3e9e1b459a6694a5c8c76424d36c89d65bd4d88b14d0b0de7e4c017ac);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90d5f59e64f669f95d5ddccd86f1f047e10ee3dc46e4b67a8cd13d1ddf2cd4b8); data/ground_truth/synthetic/pairs.jsonl (SHA-256: 079e57a441b18d127739f610e7f62c263d943eefa19ca4ea5c6eab8b8a07665d);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(File SHA-256: 639fd68ae16deec86e9f6baab0980c1abb265c6cd7bb9b4662f562b87e54e819; Canonical Decisions Digest: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đi kèm sự khác biệt từ vựng giữa raw event log (Event ID 4720 'SamAccountName') và mô tả STIX ATT&amp;CK ('persistence'). Đây là giả thuyết từ vựng (lexical divergence hypothesis), không khẳng định quan hệ nhân quả. Chúng tôi ghi nhận giả thuyết Context Scaling &amp; Dilution (k=1,3,5,10): tăng k cải thiện độ phủ nhưng tăng nguy cơ nhiễu distractor; đang được kiểm chứng đối chứng trên ma trận TEST.</a:t>
            </a:r>
          </a:p>
          <a:p>
            <a:r>
              <a:t>Bằng chứng dự án: docs/presentation/figures/canonical_rq2_retrieval_hit_rate.png (SHA-256: f8287936d2b5fc24e89584349028f393b801b6bebe668f8bea449c6b67f2128f); docs/presentation/figures/fig4_retrieval_hit_rate.png;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Phân tích lỗi khâu truy xuất và chẩn đoán có điều kiện (RQ2) trên tập scorable N=718 cho thấy: khi kỹ thuật đúng có mặt trong Top-10 (N=321), tỷ lệ gán đúng đạt 91.28% (293/321); khi kỹ thuật đúng vắng mặt (N=397), tỷ lệ gán đúng là 70.03% (278/397). Độ chênh lệch quan sát được là +21.25 pp. Chúng tôi nhấn mạnh: đây thuần túy là tương quan quan sát trong thực nghiệm (observational association), không áp đặt suy diễn quan hệ nhân quả hay khẳng định năng lực nội tại của LLM.</a:t>
            </a:r>
          </a:p>
          <a:p>
            <a:r>
              <a:t>Theo định đề phân rã lỗi D2i, trong số 147 trường hợp phân loại sai tại k=10, có tới 119 trường hợp (80.95%) đồng thời rơi vào khâu retrieval miss. Chỉ có 28 trường hợp (19.05%) bị phân loại sai khi kỹ thuật đã được truy xuất thành công.</a:t>
            </a:r>
          </a:p>
          <a:p>
            <a:r>
              <a:t>Bằng chứng dự án: artifacts/results/canonical_metric_bundle_v2.json (SHA-256: 442b5933858caafc9da3c06ee9398637213ed30d7a7db80195c0babb1195ef34); reports/experiment_protocol_v1.md (D2i; File SHA-256: 639fd68ae16deec86e9f6baab0980c1abb265c6cd7bb9b4662f562b87e54e819; Canonical Decisions Digest: d3bf3d31ad307100ac437a7daecc470bf12de9ada49f19de3d77592d5a21974c);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a:r>
              <a:t>Bảng đối chứng 5 điều kiện RQ1 trên tập scorable N=718 (474 lớp vũ trụ D2d):</a:t>
            </a:r>
          </a:p>
          <a:p>
            <a:r>
              <a:t>1. No-RAG:    77.99% (560/718), Macro-F1 = 0.0126 (Baseline đối chứng).</a:t>
            </a:r>
          </a:p>
          <a:p>
            <a:r>
              <a:t>2. RAG (k=1):  77.02% (553/718), Macro-F1 = 0.0127, Delta = -0.975 pp (CI [-3.186, +1.124] pp), McNemar p = 0.435.</a:t>
            </a:r>
          </a:p>
          <a:p>
            <a:r>
              <a:t>3. RAG (k=3):  78.55% (564/718), Macro-F1 = 0.0136, Delta = +0.557 pp (CI [-2.786, +3.934] pp), McNemar p = 0.777.</a:t>
            </a:r>
          </a:p>
          <a:p>
            <a:r>
              <a:t>4. RAG (k=5):  78.83% (566/718), Macro-F1 = 0.0139, Delta = +0.836 pp (CI [-2.934, +4.603] pp), McNemar p = 0.677.</a:t>
            </a:r>
          </a:p>
          <a:p>
            <a:r>
              <a:t>5. RAG (k=10): 79.53% (571/718), Macro-F1 = 0.0140, Delta = +1.532 pp (+1.96% relative; 95% CI [-2.355, +5.300] pp chứa 0), McNemar p = 0.4219 / 0.422 &gt; 0.05.</a:t>
            </a:r>
          </a:p>
          <a:p>
            <a:r>
              <a:t>Nghiên cứu khẳng định RAG k=10 là độ chính xác quan sát được cao nhất trong thử nghiệm kèm độ bất định, tuyệt đối không tuyên bố chiến thắng có ý nghĩa thống kê hay lợi ích vượt trội trong production.</a:t>
            </a:r>
          </a:p>
          <a:p>
            <a:r>
              <a:t>Về Macro-F1: Được đánh giá nhất quán trên toàn bộ vũ trụ 474 lớp kỹ thuật MITRE ATT&amp;CK v19.2 Enterprise Windows theo định đề D2d (FROZEN_BENCHMARK_UNIVERSE = 474), gồm 8 lớp có mẫu hỗ trợ và 466 lớp zero-support: No-RAG đạt 0.0126 vs RAG k=10 đạt 0.0140 (Delta +0.0014).</a:t>
            </a:r>
          </a:p>
          <a:p>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a:r>
              <a:t>Về các thước đo có điều kiện tại k=10: P(Correct | GT in Top-k) = 91.28% (293/321), trong khi P(Correct | GT NOT in Top-k) = 70.03% (278/397); tỷ lệ này không cho phép suy diễn mô hình tự sửa sai nội tại.</a:t>
            </a:r>
          </a:p>
          <a:p>
            <a:r>
              <a:t>Bằng chứng dự án: reports/experiment_protocol_v1.md (D2d, D2e, D2f, D2h, D2i;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dữ liệu và kiểm soát ngân sách:</a:t>
            </a:r>
          </a:p>
          <a:p>
            <a:r>
              <a:t>1. Dữ liệu thử nghiệm Stage B là dữ liệu tổng hợp (synthetic split). Việc gửi request lên OpenAI không biến log tổng hợp thành dữ liệu thực địa in-the-wild.</a:t>
            </a:r>
          </a:p>
          <a:p>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a:r>
              <a:t>3. Phân định giới hạn token: 13 requests INCOMPLETE dừng do chạm trần configured max_output_tokens (8,192 tokens, tức ngân sách suy luận đầu ra được cấu hình), không phải do vượt cửa sổ ngữ cảnh context ceiling (~1,050,000 tokens của gpt-5.6-luna). Toàn bộ 13 requests này đều thuộc các view loại trừ/unmapped.</a:t>
            </a:r>
          </a:p>
          <a:p>
            <a:r>
              <a:t>4. Hạch toán tài chính chính xác: trần ngân sách đóng băng cứng $19.99 USD (hard_budget_limit_usd = $19.99000000). Chi phí quyết toán thực tế 5 điều kiện chính thức là $6.58 settled spend ($6.57575890 USD).</a:t>
            </a:r>
          </a:p>
          <a:p>
            <a:r>
              <a:t>5.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a:r>
              <a:t>6. Đánh đổi token: Tỷ lệ tăng token prompt từ k=1 lên k=10 là ~4.103x (1246.5 lên 5114.3 tokens); tỷ lệ từ No-RAG lên k=10 là ~7.58x.</a:t>
            </a:r>
          </a:p>
          <a:p>
            <a:r>
              <a:t>Bằng chứng dự án: docs/presentation/figures/canonical_rq3_resource_consumption.png (SHA-256: ca296165b38b499432f851618e3d6a512964c461e59dc3b646e647ddcb70bfb1); docs/presentation/figures/fig7_cost_and_tokens_vs_k.png; config/experiment_config.json (hard_budget_limit_usd: 19.99);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d0ce198ad4853f4c41ef2bfbafbe10a395e4927a6c6561b3e72c055c4b887e9f);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_title"/>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  |  [CANONICAL CANDIDATE — PENDING ROOT FINAL REVIEW]</a:t>
            </a:r>
          </a:p>
        </p:txBody>
      </p:sp>
      <p:sp>
        <p:nvSpPr>
          <p:cNvPr id="6" name="shape_slide_2_problem"/>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2_problem_textbox"/>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shape_slide_2_challenge"/>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2_challenge_textbox"/>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shape_slide_2_motivation"/>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2_motivation_textbox"/>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250"/>
              </a:spcBef>
              <a:defRPr sz="1000">
                <a:solidFill>
                  <a:srgbClr val="0F172A"/>
                </a:solidFill>
                <a:latin typeface="Calibri"/>
              </a:defRPr>
            </a:pPr>
            <a:r>
              <a:t>•  Thiết kế nghiên cứu thực nghiệm đối chứng có kiểm soát (Controlled Empirical Study).</a:t>
            </a:r>
          </a:p>
          <a:p>
            <a:pPr>
              <a:spcBef>
                <a:spcPts val="250"/>
              </a:spcBef>
              <a:defRPr sz="1000">
                <a:solidFill>
                  <a:srgbClr val="0F172A"/>
                </a:solidFill>
                <a:latin typeface="Calibri"/>
              </a:defRPr>
            </a:pPr>
            <a:r>
              <a:t>•  Đo lường khách quan delta hiệu năng do RAG mang lại trên cùng mô hình LLM.</a:t>
            </a:r>
          </a:p>
          <a:p>
            <a:pPr>
              <a:spcBef>
                <a:spcPts val="250"/>
              </a:spcBef>
              <a:defRPr sz="1000">
                <a:solidFill>
                  <a:srgbClr val="0F172A"/>
                </a:solidFill>
                <a:latin typeface="Calibri"/>
              </a:defRPr>
            </a:pPr>
            <a:r>
              <a:t>•  Bóc tách độc lập lỗi tìm kiếm (Retrieval Failure) và lỗi phân loại (Classification Failure).</a:t>
            </a:r>
          </a:p>
          <a:p>
            <a:pPr>
              <a:spcBef>
                <a:spcPts val="250"/>
              </a:spcBef>
              <a:defRPr sz="1000">
                <a:solidFill>
                  <a:srgbClr val="0F172A"/>
                </a:solidFill>
                <a:latin typeface="Calibri"/>
              </a:defRPr>
            </a:pPr>
            <a:r>
              <a:t>•  Phạm vi tính xác định (Determinism): Áp dụng cho tái tạo dataset, đánh giá ngoại tuyến và thứ tự tie-breaking.</a:t>
            </a:r>
          </a:p>
          <a:p>
            <a:pPr>
              <a:spcBef>
                <a:spcPts val="250"/>
              </a:spcBef>
              <a:defRPr sz="1000">
                <a:solidFill>
                  <a:srgbClr val="0F172A"/>
                </a:solidFill>
                <a:latin typeface="Calibri"/>
              </a:defRPr>
            </a:pPr>
            <a:r>
              <a:t>•  Biến thiên backend LLM: Phản hồi LLM có thể biến thiên (không gửi seed qua mạng), được quản lý bởi chính sách siêu dữ liệu D3 (timestamp-bound).</a:t>
            </a:r>
          </a:p>
          <a:p>
            <a:pPr>
              <a:spcBef>
                <a:spcPts val="250"/>
              </a:spcBef>
              <a:defRPr sz="1000">
                <a:solidFill>
                  <a:srgbClr val="0F172A"/>
                </a:solidFill>
                <a:latin typeface="Calibri"/>
              </a:defRPr>
            </a:pPr>
            <a:r>
              <a:t>•  Tái lập ngoại tuyến chi phí 0 đồng với bộ offline_guard can thiệp tầng socket.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  |  [CANONICAL CANDIDATE — PENDING ROOT FINAL REVIEW]</a:t>
            </a:r>
          </a:p>
        </p:txBody>
      </p:sp>
      <p:sp>
        <p:nvSpPr>
          <p:cNvPr id="6" name="shape_slide_3_baseline"/>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3_baseline_textbox"/>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shape_slide_3_rag"/>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3_rag_textbox"/>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shape_slide_3_invariants"/>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3_invariants_textbox"/>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  |  [CANONICAL CANDIDATE — PENDING ROOT FINAL REVIEW]</a:t>
            </a:r>
          </a:p>
        </p:txBody>
      </p:sp>
      <p:sp>
        <p:nvSpPr>
          <p:cNvPr id="6" name="shape_slide_4_dataset_topology"/>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4_dataset_topology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(718 scorable views across 440 distinct clusters)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 | 278 complete pairs, 162 contextual-only pairs, 200 neither-mapped pairs.</a:t>
            </a:r>
          </a:p>
        </p:txBody>
      </p:sp>
      <p:sp>
        <p:nvSpPr>
          <p:cNvPr id="8" name="shape_slide_4_representations"/>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4_representations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  |  [CANONICAL CANDIDATE — PENDING ROOT FINAL REVIEW]</a:t>
            </a:r>
          </a:p>
        </p:txBody>
      </p:sp>
      <p:sp>
        <p:nvSpPr>
          <p:cNvPr id="6" name="shape_slide_5_decision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5_decision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shape_slide_5_criteria"/>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5_criteria_textbox"/>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718 positive scorable views của benchmark  |  [CANONICAL CANDIDATE — PENDING ROOT FINAL REVIEW]</a:t>
            </a:r>
          </a:p>
        </p:txBody>
      </p:sp>
      <p:sp>
        <p:nvSpPr>
          <p:cNvPr id="6" name="shape_slide_6_retrieval_diagnostic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6_retrieval_diagnostic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(TEST N=718)</a:t>
            </a:r>
          </a:p>
          <a:p>
            <a:pPr>
              <a:spcBef>
                <a:spcPts val="300"/>
              </a:spcBef>
              <a:defRPr sz="1150">
                <a:solidFill>
                  <a:srgbClr val="0F172A"/>
                </a:solidFill>
                <a:latin typeface="Calibri"/>
              </a:defRPr>
            </a:pPr>
            <a:r>
              <a:t>•  Số mẫu dương tính đánh giá: 718 / 1,280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3.76% (27 / 718)</a:t>
            </a:r>
          </a:p>
          <a:p>
            <a:pPr>
              <a:spcBef>
                <a:spcPts val="300"/>
              </a:spcBef>
              <a:defRPr sz="1150">
                <a:solidFill>
                  <a:srgbClr val="0F172A"/>
                </a:solidFill>
                <a:latin typeface="Calibri"/>
              </a:defRPr>
            </a:pPr>
            <a:r>
              <a:t>  • Hit@3:  16.43% (118 / 718)</a:t>
            </a:r>
          </a:p>
          <a:p>
            <a:pPr>
              <a:spcBef>
                <a:spcPts val="300"/>
              </a:spcBef>
              <a:defRPr sz="1150">
                <a:solidFill>
                  <a:srgbClr val="0F172A"/>
                </a:solidFill>
                <a:latin typeface="Calibri"/>
              </a:defRPr>
            </a:pPr>
            <a:r>
              <a:t>  • Hit@5:  24.09% (173 / 718)</a:t>
            </a:r>
          </a:p>
          <a:p>
            <a:pPr>
              <a:spcBef>
                <a:spcPts val="300"/>
              </a:spcBef>
              <a:defRPr sz="1150">
                <a:solidFill>
                  <a:srgbClr val="0F172A"/>
                </a:solidFill>
                <a:latin typeface="Calibri"/>
              </a:defRPr>
            </a:pPr>
            <a:r>
              <a:t>  • Hit@10: 44.71% (321 / 718)</a:t>
            </a:r>
          </a:p>
          <a:p>
            <a:pPr>
              <a:spcBef>
                <a:spcPts val="300"/>
              </a:spcBef>
              <a:defRPr sz="1150">
                <a:solidFill>
                  <a:srgbClr val="0F172A"/>
                </a:solidFill>
                <a:latin typeface="Calibri"/>
              </a:defRPr>
            </a:pPr>
            <a:r>
              <a:t>•  Tỷ lệ vắng mặt trong Top-10 (Retrieval Miss): 55.29% (397 / 718).</a:t>
            </a:r>
          </a:p>
          <a:p>
            <a:pPr>
              <a:spcBef>
                <a:spcPts val="300"/>
              </a:spcBef>
              <a:defRPr sz="1150">
                <a:solidFill>
                  <a:srgbClr val="0F172A"/>
                </a:solidFill>
                <a:latin typeface="Calibri"/>
              </a:defRPr>
            </a:pPr>
            <a:r>
              <a:t>•  Macro Recall@10: 42.80%  |  Độ phủ Top-10: Hit@10=44.71%.</a:t>
            </a:r>
          </a:p>
          <a:p>
            <a:pPr>
              <a:spcBef>
                <a:spcPts val="300"/>
              </a:spcBef>
              <a:defRPr sz="1150">
                <a:solidFill>
                  <a:srgbClr val="0F172A"/>
                </a:solidFill>
                <a:latin typeface="Calibri"/>
              </a:defRPr>
            </a:pPr>
            <a:r>
              <a:t>•  Phát hiện: Trong hơn 55% trường hợp (397/718), kỹ thuật đúng hoàn toàn vắng bóng trong Top-10 gửi cho LLM!</a:t>
            </a:r>
          </a:p>
        </p:txBody>
      </p:sp>
      <p:pic>
        <p:nvPicPr>
          <p:cNvPr id="8" name="Picture 7" descr="canonical_rq2_retrieval_hit_rate.png"/>
          <p:cNvPicPr>
            <a:picLocks noChangeAspect="1"/>
          </p:cNvPicPr>
          <p:nvPr/>
        </p:nvPicPr>
        <p:blipFill>
          <a:blip r:embed="rId2"/>
          <a:stretch>
            <a:fillRect/>
          </a:stretch>
        </p:blipFill>
        <p:spPr>
          <a:xfrm>
            <a:off x="6248095" y="1234440"/>
            <a:ext cx="5212080" cy="3127248"/>
          </a:xfrm>
          <a:prstGeom prst="rect">
            <a:avLst/>
          </a:prstGeom>
        </p:spPr>
      </p:pic>
      <p:sp>
        <p:nvSpPr>
          <p:cNvPr id="9" name="shape_slide_6_context_scal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6_context_scaling_textbox"/>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050">
                <a:solidFill>
                  <a:srgbClr val="0F172A"/>
                </a:solidFill>
                <a:latin typeface="Calibri"/>
              </a:defRPr>
            </a:pPr>
            <a:r>
              <a:t>•  Khoảng cách ngữ nghĩa tại T1136.001 (Local Account): Quan sát thấy 0/95 lượt trúng Top-10 đi kèm sự khác biệt từ vựng giữa raw event log và nhãn STIX (giả thuyết từ vựng / lexical divergence hypothesis, không khẳng định quan hệ nhân quả).</a:t>
            </a:r>
          </a:p>
          <a:p>
            <a:pPr>
              <a:spcBef>
                <a:spcPts val="250"/>
              </a:spcBef>
              <a:defRPr sz="105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Phân Tích Lỗi Khâu Truy Xuất &amp; Chẩn Đoán Có Điều Kiện (RQ2)</a:t>
            </a:r>
          </a:p>
          <a:p>
            <a:pPr>
              <a:defRPr sz="1300">
                <a:solidFill>
                  <a:srgbClr val="06B6D4"/>
                </a:solidFill>
                <a:latin typeface="Calibri"/>
              </a:defRPr>
            </a:pPr>
            <a:r>
              <a:t>Đo lường tương quan quan sát giữa thành công truy xuất và độ chính xác phân loại trên 718 views TEST  |  [CANONICAL CANDIDATE — PENDING ROOT FINAL REVIEW]</a:t>
            </a:r>
          </a:p>
        </p:txBody>
      </p:sp>
      <p:sp>
        <p:nvSpPr>
          <p:cNvPr id="6" name="shape_slide_7_paired_analysi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7_paired_analysis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Chẩn Đoán Có Điều Kiện Theo Khâu Truy Xuất (TEST N=718)</a:t>
            </a:r>
          </a:p>
          <a:p>
            <a:pPr>
              <a:spcBef>
                <a:spcPts val="300"/>
              </a:spcBef>
              <a:defRPr sz="1100">
                <a:solidFill>
                  <a:srgbClr val="0F172A"/>
                </a:solidFill>
                <a:latin typeface="Calibri"/>
              </a:defRPr>
            </a:pPr>
            <a:r>
              <a:t>•  Kỹ thuật GT có mặt trong Top-10 (Retrieval Success): N=321 (44.71%)</a:t>
            </a:r>
          </a:p>
          <a:p>
            <a:pPr>
              <a:spcBef>
                <a:spcPts val="300"/>
              </a:spcBef>
              <a:defRPr sz="1100">
                <a:solidFill>
                  <a:srgbClr val="0F172A"/>
                </a:solidFill>
                <a:latin typeface="Calibri"/>
              </a:defRPr>
            </a:pPr>
            <a:r>
              <a:t>  • P(Đúng | Đã truy xuất): 91.28% (293/321 views được gán đúng).</a:t>
            </a:r>
          </a:p>
          <a:p>
            <a:pPr>
              <a:spcBef>
                <a:spcPts val="300"/>
              </a:spcBef>
              <a:defRPr sz="1100">
                <a:solidFill>
                  <a:srgbClr val="0F172A"/>
                </a:solidFill>
                <a:latin typeface="Calibri"/>
              </a:defRPr>
            </a:pPr>
            <a:r>
              <a:t>•  Kỹ thuật GT vắng mặt trong Top-10 (Retrieval Miss): N=397 (55.29%)</a:t>
            </a:r>
          </a:p>
          <a:p>
            <a:pPr>
              <a:spcBef>
                <a:spcPts val="300"/>
              </a:spcBef>
              <a:defRPr sz="1100">
                <a:solidFill>
                  <a:srgbClr val="0F172A"/>
                </a:solidFill>
                <a:latin typeface="Calibri"/>
              </a:defRPr>
            </a:pPr>
            <a:r>
              <a:t>  • P(Đúng | Vắng mặt): 70.03% (278/397 views gán đúng khi không có tài liệu ground-truth trong Top-10).</a:t>
            </a:r>
          </a:p>
          <a:p>
            <a:pPr>
              <a:spcBef>
                <a:spcPts val="300"/>
              </a:spcBef>
              <a:defRPr sz="1100">
                <a:solidFill>
                  <a:srgbClr val="0F172A"/>
                </a:solidFill>
                <a:latin typeface="Calibri"/>
              </a:defRPr>
            </a:pPr>
            <a:r>
              <a:t>•  Khoảng chênh lệch quan sát: +21.25 pp (91.28% vs 70.03%) cho thấy sự hiện diện của ngữ cảnh gắn liền với tỷ lệ gán đúng cao hơn.</a:t>
            </a:r>
          </a:p>
          <a:p>
            <a:pPr>
              <a:spcBef>
                <a:spcPts val="300"/>
              </a:spcBef>
              <a:defRPr sz="1100">
                <a:solidFill>
                  <a:srgbClr val="0F172A"/>
                </a:solidFill>
                <a:latin typeface="Calibri"/>
              </a:defRPr>
            </a:pPr>
            <a:r>
              <a:t>•  Nguyên tắc suy luận: Trình bày thuần túy dưới dạng tương quan quan sát (observational association), không suy diễn quan hệ nhân quả tuyệt đối.</a:t>
            </a:r>
          </a:p>
        </p:txBody>
      </p:sp>
      <p:sp>
        <p:nvSpPr>
          <p:cNvPr id="8" name="shape_slide_7_benign_drift"/>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7_benign_drift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Bóc Tách Lỗi &amp; Phần Giao Thoa Độc Lập Theo Định Đề D2i</a:t>
            </a:r>
          </a:p>
          <a:p>
            <a:pPr>
              <a:spcBef>
                <a:spcPts val="250"/>
              </a:spcBef>
              <a:defRPr sz="1050">
                <a:solidFill>
                  <a:srgbClr val="0F172A"/>
                </a:solidFill>
                <a:latin typeface="Calibri"/>
              </a:defRPr>
            </a:pPr>
            <a:r>
              <a:t>•  Tổng số lỗi phân loại tại k=10: 147 views (718 - 571 = 147).</a:t>
            </a:r>
          </a:p>
          <a:p>
            <a:pPr>
              <a:spcBef>
                <a:spcPts val="250"/>
              </a:spcBef>
              <a:defRPr sz="1050">
                <a:solidFill>
                  <a:srgbClr val="0F172A"/>
                </a:solidFill>
                <a:latin typeface="Calibri"/>
              </a:defRPr>
            </a:pPr>
            <a:r>
              <a:t>•  Phần giao thoa lỗi (Joint Overlap per D2i): 119 / 147 (80.95% tổng lỗi phân loại) xảy ra khi retrieval trượt Top-10.</a:t>
            </a:r>
          </a:p>
          <a:p>
            <a:pPr>
              <a:spcBef>
                <a:spcPts val="250"/>
              </a:spcBef>
              <a:defRPr sz="1050">
                <a:solidFill>
                  <a:srgbClr val="0F172A"/>
                </a:solidFill>
                <a:latin typeface="Calibri"/>
              </a:defRPr>
            </a:pPr>
            <a:r>
              <a:t>•  Lỗi khi retrieval thành công: 28 / 147 (19.05% tổng lỗi phân loại) mô hình chọn sai kỹ thuật dù kỹ thuật đúng có trong Top-10 (giả thuyết nhầm lẫn downstream / distractor effect đang được khảo sát).</a:t>
            </a:r>
          </a:p>
          <a:p>
            <a:pPr>
              <a:spcBef>
                <a:spcPts val="250"/>
              </a:spcBef>
              <a:defRPr sz="1050">
                <a:solidFill>
                  <a:srgbClr val="0F172A"/>
                </a:solidFill>
                <a:latin typeface="Calibri"/>
              </a:defRPr>
            </a:pPr>
            <a:r>
              <a:t>•  Tuân thủ định đề D2i: Ghi nhận đầy đủ phần giao thoa khác 0 giữa các trục đo lường lỗi độc lập, không áp đặt giả định xung khắc hay độc lập xác suất ngẫu nhiên.</a:t>
            </a:r>
          </a:p>
          <a:p>
            <a:pPr>
              <a:spcBef>
                <a:spcPts val="250"/>
              </a:spcBef>
              <a:defRPr sz="1050">
                <a:solidFill>
                  <a:srgbClr val="0F172A"/>
                </a:solidFill>
                <a:latin typeface="Calibri"/>
              </a:defRPr>
            </a:pPr>
            <a:r>
              <a:t>•  Schema So Sánh Đối Chứng Scaffold: Không sử dụng prompt scaffold trong giao thức chuẩn tắc.</a:t>
            </a:r>
          </a:p>
          <a:p>
            <a:pPr>
              <a:spcBef>
                <a:spcPts val="250"/>
              </a:spcBef>
              <a:defRPr sz="1050">
                <a:solidFill>
                  <a:srgbClr val="0F172A"/>
                </a:solidFill>
                <a:latin typeface="Calibri"/>
              </a:defRPr>
            </a:pPr>
            <a:r>
              <a:t>•  Ranh giới an toàn: Không xuất hiện lỗi API hay lỗi cú pháp mã kỹ thuật trên tập scorable (0 terminal provider failures, 0 invalid IDs).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  |  [CANONICAL CANDIDATE — PENDING ROOT FINAL REVIEW]</a:t>
            </a:r>
          </a:p>
        </p:txBody>
      </p:sp>
      <p:sp>
        <p:nvSpPr>
          <p:cNvPr id="6" name="shape_slide_8_d2i_axes"/>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8_d2i_axes_textbox"/>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8_conditional_accuracy_textbox"/>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&amp; Hiệu Năng RQ1</a:t>
            </a:r>
          </a:p>
          <a:p>
            <a:pPr>
              <a:spcBef>
                <a:spcPts val="150"/>
              </a:spcBef>
              <a:defRPr sz="1000">
                <a:solidFill>
                  <a:srgbClr val="0F172A"/>
                </a:solidFill>
                <a:latin typeface="Calibri"/>
              </a:defRPr>
            </a:pPr>
            <a:r>
              <a:t>•  Mẫu số đánh giá chuẩn: N=718 scorable views (trên 440 distinct clusters).</a:t>
            </a:r>
          </a:p>
          <a:p>
            <a:pPr>
              <a:spcBef>
                <a:spcPts val="150"/>
              </a:spcBef>
              <a:defRPr sz="1000">
                <a:solidFill>
                  <a:srgbClr val="0F172A"/>
                </a:solidFill>
                <a:latin typeface="Calibri"/>
              </a:defRPr>
            </a:pPr>
            <a:r>
              <a:t>•  P(Correct | GT in Top-k): Đánh giá khi retrieval trúng: N=321 (91.28% gán đúng, 293/321).</a:t>
            </a:r>
          </a:p>
          <a:p>
            <a:pPr>
              <a:spcBef>
                <a:spcPts val="150"/>
              </a:spcBef>
              <a:defRPr sz="1000">
                <a:solidFill>
                  <a:srgbClr val="0F172A"/>
                </a:solidFill>
                <a:latin typeface="Calibri"/>
              </a:defRPr>
            </a:pPr>
            <a:r>
              <a:t>•  P(Correct | GT NOT in Top-k): Đánh giá khi retrieval trượt: N=397 (70.03% gán đúng, 278/397).</a:t>
            </a:r>
          </a:p>
          <a:p>
            <a:pPr>
              <a:spcBef>
                <a:spcPts val="150"/>
              </a:spcBef>
              <a:defRPr sz="1000">
                <a:solidFill>
                  <a:srgbClr val="0F172A"/>
                </a:solidFill>
                <a:latin typeface="Calibri"/>
              </a:defRPr>
            </a:pPr>
            <a:r>
              <a:t>•  Fail-Closed Invariant: Mẫu lỗi API (D2f) hay mã sai cú pháp (D2e) tính vào mẫu số.</a:t>
            </a:r>
          </a:p>
          <a:p>
            <a:pPr>
              <a:spcBef>
                <a:spcPts val="150"/>
              </a:spcBef>
              <a:defRPr sz="1000">
                <a:solidFill>
                  <a:srgbClr val="0F172A"/>
                </a:solidFill>
                <a:latin typeface="Calibri"/>
              </a:defRPr>
            </a:pPr>
            <a:r>
              <a:t>•  Macro-F1 (vũ trụ 474 lớp D2d FROZEN_BENCHMARK_UNIVERSE): No-RAG 0.0126 vs RAG k=10 0.0140 (Delta +0.0014; 8 supported classes, 466 zero-support classes).</a:t>
            </a:r>
          </a:p>
          <a:p>
            <a:pPr>
              <a:spcBef>
                <a:spcPts val="150"/>
              </a:spcBef>
              <a:defRPr sz="1000">
                <a:solidFill>
                  <a:srgbClr val="0F172A"/>
                </a:solidFill>
                <a:latin typeface="Calibri"/>
              </a:defRPr>
            </a:pPr>
            <a:r>
              <a:t>•  So sánh đối chứng RAG k=10 vs No-RAG: Delta +1.532 pp (79.53% [571/718] vs 77.99% [560/718]), 95% CI [-2.355, +5.300] pp (chứa 0), McNemar p = 0.4219 (hiển thị 0.422).</a:t>
            </a:r>
          </a:p>
          <a:p>
            <a:pPr>
              <a:spcBef>
                <a:spcPts val="150"/>
              </a:spcBef>
              <a:defRPr sz="1000">
                <a:solidFill>
                  <a:srgbClr val="0F172A"/>
                </a:solidFill>
                <a:latin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8_rq1_attribution_textbox"/>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Bảng Đối Chứng 5 Điều Kiện (RQ1 N=718)</a:t>
            </a:r>
          </a:p>
          <a:p>
            <a:pPr>
              <a:spcBef>
                <a:spcPts val="150"/>
              </a:spcBef>
              <a:defRPr sz="1000">
                <a:solidFill>
                  <a:srgbClr val="0F172A"/>
                </a:solidFill>
                <a:latin typeface="Calibri"/>
              </a:defRPr>
            </a:pPr>
            <a:r>
              <a:t>•  Bảng tổng hợp đối chứng 5 điều kiện (vũ trụ 474 lớp D2d):</a:t>
            </a:r>
          </a:p>
          <a:p>
            <a:pPr>
              <a:spcBef>
                <a:spcPts val="150"/>
              </a:spcBef>
              <a:defRPr sz="1000">
                <a:solidFill>
                  <a:srgbClr val="0F172A"/>
                </a:solidFill>
                <a:latin typeface="Calibri"/>
              </a:defRPr>
            </a:pPr>
            <a:r>
              <a:t>  • No-RAG:    77.99% (560/718) | Macro-F1: 0.0126 (Baseline)</a:t>
            </a:r>
          </a:p>
          <a:p>
            <a:pPr>
              <a:spcBef>
                <a:spcPts val="150"/>
              </a:spcBef>
              <a:defRPr sz="1000">
                <a:solidFill>
                  <a:srgbClr val="0F172A"/>
                </a:solidFill>
                <a:latin typeface="Calibri"/>
              </a:defRPr>
            </a:pPr>
            <a:r>
              <a:t>  • RAG (k=1):  77.02% (553/718) | Macro-F1: 0.0127 | p = 0.435</a:t>
            </a:r>
          </a:p>
          <a:p>
            <a:pPr>
              <a:spcBef>
                <a:spcPts val="150"/>
              </a:spcBef>
              <a:defRPr sz="1000">
                <a:solidFill>
                  <a:srgbClr val="0F172A"/>
                </a:solidFill>
                <a:latin typeface="Calibri"/>
              </a:defRPr>
            </a:pPr>
            <a:r>
              <a:t>  • RAG (k=3):  78.55% (564/718) | Macro-F1: 0.0136 | p = 0.777</a:t>
            </a:r>
          </a:p>
          <a:p>
            <a:pPr>
              <a:spcBef>
                <a:spcPts val="150"/>
              </a:spcBef>
              <a:defRPr sz="1000">
                <a:solidFill>
                  <a:srgbClr val="0F172A"/>
                </a:solidFill>
                <a:latin typeface="Calibri"/>
              </a:defRPr>
            </a:pPr>
            <a:r>
              <a:t>  • RAG (k=5):  78.83% (566/718) | Macro-F1: 0.0139 | p = 0.677</a:t>
            </a:r>
          </a:p>
          <a:p>
            <a:pPr>
              <a:spcBef>
                <a:spcPts val="150"/>
              </a:spcBef>
              <a:defRPr sz="1000">
                <a:solidFill>
                  <a:srgbClr val="0F172A"/>
                </a:solidFill>
                <a:latin typeface="Calibri"/>
              </a:defRPr>
            </a:pPr>
            <a:r>
              <a:t>  • RAG (k=10): 79.53% (571/718) | Macro-F1: 0.0140 | Delta: +1.532 pp | p = 0.422</a:t>
            </a:r>
          </a:p>
          <a:p>
            <a:pPr>
              <a:spcBef>
                <a:spcPts val="150"/>
              </a:spcBef>
              <a:defRPr sz="1000">
                <a:solidFill>
                  <a:srgbClr val="0F172A"/>
                </a:solidFill>
                <a:latin typeface="Calibri"/>
              </a:defRPr>
            </a:pPr>
            <a:r>
              <a:t>•  Ranh giới ngoại lệ: 1 physical API retry thành công; 0 terminal provider failure trên 3,590 scorable records; 13 terminal incomplete trên 6,400 requests.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Hạch toán tài chính toàn nghiên cứu, đánh đổi token-chi phí và kiểm soát ngân sách  |  [CANONICAL CANDIDATE — PENDING ROOT FINAL REVIEW]</a:t>
            </a:r>
          </a:p>
        </p:txBody>
      </p:sp>
      <p:sp>
        <p:nvSpPr>
          <p:cNvPr id="6" name="shape_slide_9_rq3_resource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9_rq3_resource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Hạch Toán Tài Chính Toàn Nghiên Cứu (RQ3)</a:t>
            </a:r>
          </a:p>
          <a:p>
            <a:pPr>
              <a:spcBef>
                <a:spcPts val="180"/>
              </a:spcBef>
              <a:defRPr sz="1000">
                <a:solidFill>
                  <a:srgbClr val="0F172A"/>
                </a:solidFill>
                <a:latin typeface="Calibri"/>
              </a:defRPr>
            </a:pPr>
            <a:r>
              <a:t>•  Quy mô khảo sát chiến dịch TEST: N=1,280 views/điều kiện (6,400 logical requests, 6,401 physical attempts). Dữ liệu Stage B là telemetry giả lập có cấu trúc (synthetic split), không phải in-the-wild logs.</a:t>
            </a:r>
          </a:p>
          <a:p>
            <a:pPr>
              <a:spcBef>
                <a:spcPts val="180"/>
              </a:spcBef>
              <a:defRPr sz="1000">
                <a:solidFill>
                  <a:srgbClr val="0F172A"/>
                </a:solidFill>
                <a:latin typeface="Calibri"/>
              </a:defRPr>
            </a:pPr>
            <a:r>
              <a:t>•  Phân định ngoại lệ: 13 requests chạm trần output budget cấu hình (8,192 configured max_output_tokens; không phải trần context ~1.05M tokens của gpt-5.6-luna) đều thuộc nhóm unmapped/ambiguous; 1 physical API_FAILURE retry thành công với 1,540 cached tokens; 0 terminal provider failure trên 3,590 scorable records.</a:t>
            </a:r>
          </a:p>
          <a:p>
            <a:pPr>
              <a:spcBef>
                <a:spcPts val="180"/>
              </a:spcBef>
              <a:defRPr sz="1000">
                <a:solidFill>
                  <a:srgbClr val="0F172A"/>
                </a:solidFill>
                <a:latin typeface="Calibri"/>
              </a:defRPr>
            </a:pPr>
            <a:r>
              <a:t>•  Hạch toán tài chính toàn thể nghiên cứu (6,400 Requests):</a:t>
            </a:r>
          </a:p>
          <a:p>
            <a:pPr>
              <a:spcBef>
                <a:spcPts val="180"/>
              </a:spcBef>
              <a:defRPr sz="1000">
                <a:solidFill>
                  <a:srgbClr val="0F172A"/>
                </a:solidFill>
                <a:latin typeface="Calibri"/>
              </a:defRPr>
            </a:pPr>
            <a:r>
              <a:t>  • Trần ngân sách đóng băng cứng (Hard budget cap): $19.99 USD ($19.99000000).</a:t>
            </a:r>
          </a:p>
          <a:p>
            <a:pPr>
              <a:spcBef>
                <a:spcPts val="180"/>
              </a:spcBef>
              <a:defRPr sz="1000">
                <a:solidFill>
                  <a:srgbClr val="0F172A"/>
                </a:solidFill>
                <a:latin typeface="Calibri"/>
              </a:defRPr>
            </a:pPr>
            <a:r>
              <a:t>  • Quyết toán thực tế 5 điều kiện chính thức: $6.58 settled spend ($6.57575890 USD).</a:t>
            </a:r>
          </a:p>
          <a:p>
            <a:pPr>
              <a:spcBef>
                <a:spcPts val="180"/>
              </a:spcBef>
              <a:defRPr sz="1000">
                <a:solidFill>
                  <a:srgbClr val="0F172A"/>
                </a:solidFill>
                <a:latin typeface="Calibri"/>
              </a:defRPr>
            </a:pPr>
            <a:r>
              <a:t>  • Khoản giữ chỗ thận trọng pilot: $0.05264010 USD (phân tách rạch ròi khỏi chi phí quyết toán).</a:t>
            </a:r>
          </a:p>
          <a:p>
            <a:pPr>
              <a:spcBef>
                <a:spcPts val="180"/>
              </a:spcBef>
              <a:defRPr sz="1000">
                <a:solidFill>
                  <a:srgbClr val="0F172A"/>
                </a:solidFill>
                <a:latin typeface="Calibri"/>
              </a:defRPr>
            </a:pPr>
            <a:r>
              <a:t>  • Tổng chi phí cam kết (Committed spend): $6.63 USD ($6.62839900 USD).</a:t>
            </a:r>
          </a:p>
          <a:p>
            <a:pPr>
              <a:spcBef>
                <a:spcPts val="180"/>
              </a:spcBef>
              <a:defRPr sz="1000">
                <a:solidFill>
                  <a:srgbClr val="0F172A"/>
                </a:solidFill>
                <a:latin typeface="Calibri"/>
              </a:defRPr>
            </a:pPr>
            <a:r>
              <a:t>  • Ngân sách khả dụng còn lại: $13.36 net remaining ($13.36160100 USD; 0 holds, 0 breach).</a:t>
            </a:r>
          </a:p>
          <a:p>
            <a:pPr>
              <a:spcBef>
                <a:spcPts val="180"/>
              </a:spcBef>
              <a:defRPr sz="1000">
                <a:solidFill>
                  <a:srgbClr val="0F172A"/>
                </a:solidFill>
                <a:latin typeface="Calibri"/>
              </a:defRPr>
            </a:pPr>
            <a:r>
              <a:t>•  Đơn giá truy vấn: Baseline No-RAG ~$0.000365/req (674.3 in / 163.6 out, trễ 2303 ms) vs RAG k=10 ~$0.001679/req (5114.3 in / 333.9 out, trễ 2667 ms).</a:t>
            </a:r>
          </a:p>
        </p:txBody>
      </p:sp>
      <p:pic>
        <p:nvPicPr>
          <p:cNvPr id="8" name="Picture 7" descr="canonical_rq3_resource_consumption.png"/>
          <p:cNvPicPr>
            <a:picLocks noChangeAspect="1"/>
          </p:cNvPicPr>
          <p:nvPr/>
        </p:nvPicPr>
        <p:blipFill>
          <a:blip r:embed="rId2"/>
          <a:stretch>
            <a:fillRect/>
          </a:stretch>
        </p:blipFill>
        <p:spPr>
          <a:xfrm>
            <a:off x="6248095" y="1234440"/>
            <a:ext cx="5212080" cy="3474720"/>
          </a:xfrm>
          <a:prstGeom prst="rect">
            <a:avLst/>
          </a:prstGeom>
        </p:spPr>
      </p:pic>
      <p:sp>
        <p:nvSpPr>
          <p:cNvPr id="9" name="shape_slide_9_account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9_accounting_textbox"/>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20"/>
              </a:spcBef>
              <a:defRPr sz="1050">
                <a:solidFill>
                  <a:srgbClr val="0F172A"/>
                </a:solidFill>
                <a:latin typeface="Calibri"/>
              </a:defRPr>
            </a:pPr>
            <a:r>
              <a:t>•  Tăng k từ 1 lên 10 (k1 -&gt; k10): Lượng token đầu vào prompt tăng ~4.103x (1246.5 lên 5114.3 tokens). So với No-RAG (674.3 tokens), k=10 tăng ~7.58x.</a:t>
            </a:r>
          </a:p>
          <a:p>
            <a:pPr>
              <a:spcBef>
                <a:spcPts val="220"/>
              </a:spcBef>
              <a:defRPr sz="1050">
                <a:solidFill>
                  <a:srgbClr val="0F172A"/>
                </a:solidFill>
                <a:latin typeface="Calibri"/>
              </a:defRPr>
            </a:pPr>
            <a:r>
              <a:t>•  Toàn bộ chi phí thực nghiệm ($6.57575890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  |  [CANONICAL CANDIDATE — PENDING ROOT FINAL REVIEW]</a:t>
            </a:r>
          </a:p>
        </p:txBody>
      </p:sp>
      <p:sp>
        <p:nvSpPr>
          <p:cNvPr id="6" name="shape_slide_10_limitations_1"/>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0_limitations_1_textbox"/>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shape_slide_10_limitations_2"/>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0_limitations_2_textbox"/>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10_limitations_3_textbox"/>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  |  [CANONICAL CANDIDATE — PENDING ROOT FINAL REVIEW]</a:t>
            </a:r>
          </a:p>
        </p:txBody>
      </p:sp>
      <p:sp>
        <p:nvSpPr>
          <p:cNvPr id="6" name="shape_slide_11_reproducibility_1"/>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1_reproducibility_1_textbox"/>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shape_slide_11_reproducibility_2"/>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1_reproducibility_2_textbox"/>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trên tập dữ liệu đóng băng synthetic-paired-v1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2_conclusion"/>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kết quả đối chứng ghi nhận No-RAG đạt 77.99% (560/718) vs RAG k=10 quan sát thấy 79.53% (571/718, Delta = +1.532 pp, 95% CI [-2.355, +5.300] pp chứa 0, McNemar p = 0.4219 / 0.422 &gt; 0.05).</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ghi nhận 0 terminal provider failures trên 3,590 scorable records.</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