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463040"/>
            <a:ext cx="137160" cy="3474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601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Calibri"/>
              </a:defRPr>
            </a:pPr>
            <a:r>
              <a:t>BÁO CÁO NGHIÊN CỨU THỰC NGHIỆM ĐỐI CHỨNG</a:t>
            </a:r>
          </a:p>
          <a:p>
            <a:pPr>
              <a:spcBef>
                <a:spcPts val="10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Đánh Giá Tác Động Của MITRE ATT&amp;CK-Grounded RAG Đối Với Việc Ánh Xạ Windows Endpoint Logs</a:t>
            </a:r>
          </a:p>
          <a:p>
            <a:pPr>
              <a:spcBef>
                <a:spcPts val="800"/>
              </a:spcBef>
              <a:defRPr sz="1500" i="1">
                <a:solidFill>
                  <a:srgbClr val="94A3B8"/>
                </a:solidFill>
                <a:latin typeface="Calibri"/>
              </a:defRPr>
            </a:pPr>
            <a:r>
              <a:t>Evaluating MITRE ATT&amp;CK-Grounded Retrieval-Augmented Generation for Technique Attribution from Windows Endpoint Logs (RAG2ATT&amp;CK)</a:t>
            </a:r>
          </a:p>
          <a:p>
            <a:pPr>
              <a:spcBef>
                <a:spcPts val="2400"/>
              </a:spcBef>
              <a:defRPr sz="1300">
                <a:solidFill>
                  <a:srgbClr val="E2E8F0"/>
                </a:solidFill>
                <a:latin typeface="Calibri"/>
              </a:defRPr>
            </a:pPr>
            <a:r>
              <a:t>Giao thức khoa học: experiment-protocol-v1.1  |  Khóa chuẩn: canonical-lock-v1  |  Tái lập: 100% Offline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1. Vấn Đề Nghiên Cứu &amp; Động Lực Thực Tiễn</a:t>
            </a:r>
          </a:p>
          <a:p>
            <a:pPr>
              <a:defRPr sz="1300">
                <a:solidFill>
                  <a:srgbClr val="06B6D4"/>
                </a:solidFill>
                <a:latin typeface="Calibri"/>
              </a:defRPr>
            </a:pPr>
            <a:r>
              <a:t>Khoảng cách giữa nhật ký cấp thấp (Telemetry) và ma trận kỹ thuật ATT&amp;CK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3832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19"/>
            <a:ext cx="3017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Calibri"/>
              </a:defRPr>
            </a:pPr>
            <a:r>
              <a:t>Bối Cảnh Giám Sát SOC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Nhật ký Windows Endpoint (Security Events, Sysmon) là tuyến phòng thủ cốt lõi của Trung tâm Giám sát An ninh (SOC).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Việc ánh xạ nhật ký thô sang mã MITRE ATT&amp;CK Technique là tiêu chuẩn vàng để xác định ý đồ tấn công.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Quy trình thủ công đòi hỏi chuyên gia cấp cao, tốn thời gian và khó đáp ứng quy mô hàng triệu sự kiện mỗi ngày.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280160"/>
            <a:ext cx="33832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417319"/>
            <a:ext cx="3017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C2626"/>
                </a:solidFill>
                <a:latin typeface="Calibri"/>
              </a:defRPr>
            </a:pPr>
            <a:r>
              <a:t>Thách Thức Của LLM Thuần Túy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Khoảng cách trừu tượng: Log mang tính kỹ thuật hệ thống (Process GUID, CommandLine), trong khi ATT&amp;CK mô tả hành vi khái niệm.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Hiện tượng ảo giác: LLM không có RAG dễ suy đoán mã kỹ thuật sai cú pháp hoặc không tồn tại trong danh mục.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Nhầm lẫn Sub-techniques: Khó phân biệt các kỹ thuật lân cận (ví dụ: T1059.001 PowerShell vs T1059.003 Command Shell).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280160"/>
            <a:ext cx="33832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417319"/>
            <a:ext cx="3017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59669"/>
                </a:solidFill>
                <a:latin typeface="Calibri"/>
              </a:defRPr>
            </a:pPr>
            <a:r>
              <a:t>Động Lực Của RAG2ATT&amp;CK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Thiết kế nghiên cứu thực nghiệm có kiểm soát (Controlled Empirical Study).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Đo lường chính xác delta hiệu năng do RAG mang lại trên cùng mô hình LLM.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Bóc tách độc lập lỗi tìm kiếm (Retrieval Failure) và lỗi phân loại (Classification Failure).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Đóng băng giao thức v1.1 đảm bảo kết quả tái lập tuyệt đối 100% ngoại tuyến.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2. Kiến Trúc Thực Nghiệm Đối Chứng</a:t>
            </a:r>
          </a:p>
          <a:p>
            <a:pPr>
              <a:defRPr sz="1300">
                <a:solidFill>
                  <a:srgbClr val="06B6D4"/>
                </a:solidFill>
                <a:latin typeface="Calibri"/>
              </a:defRPr>
            </a:pPr>
            <a:r>
              <a:t>So sánh đối đầu giữa Baseline (No-RAG) và Experimental (RAG)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29260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19"/>
            <a:ext cx="4846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293B"/>
                </a:solidFill>
                <a:latin typeface="Calibri"/>
              </a:defRPr>
            </a:pPr>
            <a:r>
              <a:t>Nhánh Cơ Sở: Baseline No-RAG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Đầu vào: Chuỗi sự kiện Windows Endpoint (endpoint_evidence).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Cơ chế: Đưa trực tiếp vào LLM cùng prompt hướng dẫn chuẩn hóa.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Đầu ra: Chuỗi JSON chứa duy nhất mã technique_id.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Mô hình: gpt-5.6-luna (reasoning_effort=xhigh, api_interface=responses).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212080" cy="29260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17319"/>
            <a:ext cx="4846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40AF"/>
                </a:solidFill>
                <a:latin typeface="Calibri"/>
              </a:defRPr>
            </a:pPr>
            <a:r>
              <a:t>Nhánh Thử Nghiệm: Experimental RAG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Đầu vào: Chuỗi sự kiện Windows Endpoint như nhánh cơ sở.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Bộ truy xuất: sentence-transformers/all-MiniLM-L6-v2 + FAISS FlatIP (384-dim).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Kho tri thức: 474 tài liệu ATT&amp;CK v19.2 Enterprise Windows.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Độ sâu k: Đánh giá có hệ thống k ∈ {1, 3, 5, 10}.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Đầu ra: Cùng cấu trúc JSON và cùng bộ kiểm tra cú pháp nghiêm ngặt.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389120"/>
            <a:ext cx="10698480" cy="192024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1033271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59669"/>
                </a:solidFill>
                <a:latin typeface="Calibri"/>
              </a:defRPr>
            </a:pPr>
            <a:r>
              <a:t>Các Biến Kiểm Soát Bất Biến (Controlled Invariants)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Cùng tập dữ liệu thử nghiệm (exact same telemetry instances); Cùng mô hình và tham số suy luận.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Cùng cấu trúc Prompt (prompts/baseline_v1.txt), chỉ khác biệt ở khối Context được chèn vào.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Biến duy nhất được thay đổi trong toàn bộ nghiên cứu: Retrieval ON vs. OFF.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3. Thiết Kế Dữ Liệu &amp; Giao Thức Chống Rò Rỉ Nhãn</a:t>
            </a:r>
          </a:p>
          <a:p>
            <a:pPr>
              <a:defRPr sz="1300">
                <a:solidFill>
                  <a:srgbClr val="06B6D4"/>
                </a:solidFill>
                <a:latin typeface="Calibri"/>
              </a:defRPr>
            </a:pPr>
            <a:r>
              <a:t>Bộ dữ liệu chuẩn đóng băng Stage B (670 cặp kịch bản, 1,340 views)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19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Calibri"/>
              </a:defRPr>
            </a:pPr>
            <a:r>
              <a:t>Bộ Dữ Liệu Chuẩn Đóng Băng Stage B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Tổng thể: 670 cặp kịch bản (Scenario Pairs) tương ứng 1,340 Views.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Phân chia tập: 1,280 TEST views và 60 DEV views.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Hình thức biểu diễn Telemetry: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Single-event view: Một sự kiện đơn lẻ kích hoạt kỹ thuật tấn công.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Contextual-event view: Sự kiện mục tiêu kèm nhật ký ngữ cảnh lân cận.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Độ bao phủ: 8 nhóm kỹ thuật mục tiêu đại diện cùng các mẫu âm tính / mơ hồ.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Toàn vẹn mật mã: Khóa bằng SHA-256 trong canonical_experiment_lock_v1.json.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2120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17319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C2626"/>
                </a:solidFill>
                <a:latin typeface="Calibri"/>
              </a:defRPr>
            </a:pPr>
            <a:r>
              <a:t>Giao Thức Chống Rò Rỉ Nhãn (Anti-Label-Leakage)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Nguyên tắc cốt lõi: Tuyệt đối không để lộ nhãn hoặc tri thức luật trong đầu vào suy luận.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Bộ lọc nghiêm ngặt (INFERENCE_ALLOWLIST):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Chỉ giữ lại các trường kỹ thuật thô (CommandLine, ParentImage, Hashes).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Loại bỏ hoàn toàn: technique_id, RuleName, Tactic, Description, Tags.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Đầu vào suy luận (inference.jsonl) chỉ chứa 2 trường duy nhất: sample_id và endpoint_evidence.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Phân định phạm vi: Stage B phục vụ kiểm định kỹ thuật &amp; chẩn đoán lỗi; dữ liệu thực địa (T15 real pilot) được quản lý độc lập.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4. Phương Pháp Luận &amp; Giao Thức Đóng Băng v1.1</a:t>
            </a:r>
          </a:p>
          <a:p>
            <a:pPr>
              <a:defRPr sz="1300">
                <a:solidFill>
                  <a:srgbClr val="06B6D4"/>
                </a:solidFill>
                <a:latin typeface="Calibri"/>
              </a:defRPr>
            </a:pPr>
            <a:r>
              <a:t>Khóa các quyết định khoa học D1-D7 ngăn chặn việc tùy tiện diễn giải số liệu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19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40AF"/>
                </a:solidFill>
                <a:latin typeface="Calibri"/>
              </a:defRPr>
            </a:pPr>
            <a:r>
              <a:t>Giao Thức Đóng Băng (Decisions D1 - D7)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D1: RECORD_ONLY - Lưu nguyên văn phản hồi thô phục vụ kiểm toán độc lập.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D2a: ANY_MATCH - Dự đoán trúng bất kỳ nhãn đúng nào trong multi-label là đúng.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D2b-c: EXCLUDE - Loại bỏ mẫu rỗng / mơ hồ khỏi mẫu số đo Attribution Accuracy.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D2d: FROZEN_BENCHMARK_UNIVERSE - Tính Macro-F1 trên không gian lớp cố định.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D2e-f: INCLUDE_IN_DENOMINATOR - Mã sai cú pháp và lỗi mạng đều tính là thất bại.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D2h-i: INDEPENDENT_AXES - Bóc tách độc lập lỗi tìm kiếm và lỗi phân loại.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D3: ALLOW_LATEST_WITH_TIMESTAMP_BINDING - Khóa chuỗi mô hình với tem thời gian UTC.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2120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17319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59669"/>
                </a:solidFill>
                <a:latin typeface="Calibri"/>
              </a:defRPr>
            </a:pPr>
            <a:r>
              <a:t>Nguyên Tắc Fail-Closed &amp; Tính Toàn Vẹn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Nguyên tắc Fail-Closed: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Bất kỳ mã ATT&amp;CK nào sai cú pháp, hết hạn (deprecated) không có trong STIX v19.2 đều bị phạt điểm.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Lỗi kết nối hoặc timeout không được bỏ qua mà tính vào mẫu số.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Toàn vẹn khóa Canonical Lock v1: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Mã SHA-256 giao thức: d3bf3d31ad307100ac437a7daecc470bf12de9ada49f19de3d77592d5a21974c.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Mã SHA-256 mã nguồn thực thi: 8b1b3ea4d11a8e3c0e53aff0ad7d3f8976c68d582d0848747e4be38a292258c4.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Evaluator tự động khóa và từ chối xuất kết quả nếu dữ liệu bị xáo trộn hoặc thiếu bản ghi.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5. Kết Quả RQ2: Chẩn Đoán Khâu Truy Xuất (Retrieval Quality)</a:t>
            </a:r>
          </a:p>
          <a:p>
            <a:pPr>
              <a:defRPr sz="1300">
                <a:solidFill>
                  <a:srgbClr val="06B6D4"/>
                </a:solidFill>
                <a:latin typeface="Calibri"/>
              </a:defRPr>
            </a:pPr>
            <a:r>
              <a:t>Đánh giá độc lập bộ tìm kiếm trên 756 positive views của benchmark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19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40AF"/>
                </a:solidFill>
                <a:latin typeface="Calibri"/>
              </a:defRPr>
            </a:pPr>
            <a:r>
              <a:t>Số Liệu Chẩn Đoán Cốt Lõi (T20 Overall)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Số mẫu dương tính đánh giá: 756 / 1,340 views.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Tỷ lệ tìm trúng theo độ sâu k (Hit@k):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Hit@1:   4.23% (32 / 756)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Hit@3:  16.80% (127 / 756)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Hit@5:  24.21% (183 / 756)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Hit@10: 45.11% (341 / 756)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Tỷ lệ vắng mặt trong Top-10 (Retrieval Failure): 54.89% (415 / 756).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Macro Recall@10: 43.14%  |  Mean Rank khi trúng: 5.21.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Phát hiện: Trong hơn 54% trường hợp, kỹ thuật đúng hoàn toàn vắng bóng trong Top-10 gửi cho LLM!</a:t>
            </a:r>
          </a:p>
        </p:txBody>
      </p:sp>
      <p:pic>
        <p:nvPicPr>
          <p:cNvPr id="8" name="Picture 7" descr="fig_rq2_retrieval_hit_r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5212080" cy="32575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4572000"/>
            <a:ext cx="5212080" cy="17373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709160"/>
            <a:ext cx="484632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C2626"/>
                </a:solidFill>
                <a:latin typeface="Calibri"/>
              </a:defRPr>
            </a:pPr>
            <a:r>
              <a:t>Khoảng Cách Ngữ Nghĩa Ở T1136.001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Kỹ thuật T1136.001 (Tạo tài khoản cục bộ) đạt 0/99 lượt trúng trong Top-10!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Nguyên nhân: Log hệ thống (Event ID 4720) dùng từ ngữ kỹ thuật, trong khi STIX mô tả mục tiêu chiến thuật. Dense embedding không vượt qua được khoảng cách này.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6. Tác Động Của Hình Thức Biểu Diễn Telemetry</a:t>
            </a:r>
          </a:p>
          <a:p>
            <a:pPr>
              <a:defRPr sz="1300">
                <a:solidFill>
                  <a:srgbClr val="06B6D4"/>
                </a:solidFill>
                <a:latin typeface="Calibri"/>
              </a:defRPr>
            </a:pPr>
            <a:r>
              <a:t>Hiện tượng pha loãng ngữ cảnh (Context Dilution) giữa Single và Contextual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19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Calibri"/>
              </a:defRPr>
            </a:pPr>
            <a:r>
              <a:t>So Sánh Cặp Đối Ứng (252 Cặp Hợp Lệ)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Số cặp kịch bản đơn kỹ thuật đủ điều kiện: 252 cặp.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Kết quả so sánh trực tiếp: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Single-event tốt hơn: 59 cặp (23.4%)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Contextual-event tốt hơn: 23 cặp (9.1%)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Hiệu năng ngang nhau: 170 cặp (67.5%)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Trong đó cả 2 cùng trượt Top-10: 119 cặp.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Tỷ lệ Single vượt trội gấp 2.56 lần so với Contextual!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Số liệu chứng minh thực tế ngược trực giác: Thêm nhiều log ngữ cảnh làm giảm chất lượng tìm kiếm vector.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2120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17319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C2626"/>
                </a:solidFill>
                <a:latin typeface="Calibri"/>
              </a:defRPr>
            </a:pPr>
            <a:r>
              <a:t>Cơ Chế Pha Loãng Ngữ Cảnh (Context Dilution)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Nguyên nhân bản chất: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Khi gộp các sự kiện lân cận (tiến trình nền, truy vấn DNS thường quy), các token không độc hại chiếm đa số văn bản.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Vector nhúng tổng thể (dense embedding) bị kéo về phía các sự kiện bình thường (benign drift).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Hành vi tấn công cốt lõi bị làm mờ, khiến kỹ thuật ATT&amp;CK tương ứng bị đẩy xuống thứ hạng thấp.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Hàm ý thiết kế hệ thống: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Không nên đưa toàn bộ chuỗi log thô vào bộ nhúng.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Cần có bộ lọc sự kiện nghi vấn (Event Scorer / Filter) trước khi thực hiện truy xuất RAG.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7. Khung Đánh Giá End-to-End &amp; Phân Rã Lỗi RQ1</a:t>
            </a:r>
          </a:p>
          <a:p>
            <a:pPr>
              <a:defRPr sz="1300">
                <a:solidFill>
                  <a:srgbClr val="06B6D4"/>
                </a:solidFill>
                <a:latin typeface="Calibri"/>
              </a:defRPr>
            </a:pPr>
            <a:r>
              <a:t>Bóc tách độc lập giữa năng lực truy xuất và năng lực phân loại của LLM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10698480" cy="2103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19"/>
            <a:ext cx="10332719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40AF"/>
                </a:solidFill>
                <a:latin typeface="Calibri"/>
              </a:defRPr>
            </a:pPr>
            <a:r>
              <a:t>Công Thức Phân Rã Lỗi Có Kiểm Soát (Error Decomposition)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Lỗi gán nhãn cuối cùng (Attribution Error) được phân rã thành 2 thành phần độc lập: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P(Attribution Error) = P(Retrieval Failure) + P(Classification Failure | Retrieval Success)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Retrieval Failure: Kỹ thuật đúng không có trong Top-k (Ground-truth technique is NOT in Top-k).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Classification Failure: Kỹ thuật đúng đã có trong Top-k, nhưng LLM chọn sai kỹ thuật khác.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566160"/>
            <a:ext cx="5212080" cy="2743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4846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Calibri"/>
              </a:defRPr>
            </a:pPr>
            <a:r>
              <a:t>Các Thước Đo Có Điều Kiện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P(Correct | GT in Top-k): Đánh giá năng lực của LLM khi bộ tìm kiếm hoạt động chính xác.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P(Correct | GT NOT in Top-k): Đánh giá khả năng LLM tự sửa sai dựa trên tri thức nội tại.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Macro-F1 &amp; Exact Match: Tính trên vũ trụ kỹ thuật chuẩn Frozen Benchmark Universe.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566160"/>
            <a:ext cx="5212080" cy="2743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703320"/>
            <a:ext cx="4846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59669"/>
                </a:solidFill>
                <a:latin typeface="Calibri"/>
              </a:defRPr>
            </a:pPr>
            <a:r>
              <a:t>Kiến Trúc Evaluator Khép Kín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Tự động xuất 6 artifact chuẩn: overall_metrics.json, per_condition_metrics.json, per_technique_metrics.json, retrieval_conditional_metrics.json, failure_decomposition.json, run_provenance.json.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Chống rò rỉ: Evaluator chỉ đọc dữ liệu offline, không kết nối mạng.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8. Nghiên Cứu Cắt Giảm &amp; Chi Phí Thực Nghiệm RQ3</a:t>
            </a:r>
          </a:p>
          <a:p>
            <a:pPr>
              <a:defRPr sz="1300">
                <a:solidFill>
                  <a:srgbClr val="06B6D4"/>
                </a:solidFill>
                <a:latin typeface="Calibri"/>
              </a:defRPr>
            </a:pPr>
            <a:r>
              <a:t>Kết quả thực nghiệm từ DEV Cost Pilot trên OpenAI gpt-5.6-luna (20 requests)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19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40AF"/>
                </a:solidFill>
                <a:latin typeface="Calibri"/>
              </a:defRPr>
            </a:pPr>
            <a:r>
              <a:t>Số Liệu Thực Nghiệm DEV Cost Pilot (2026-10-01)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Quy mô: 20 yêu cầu thực tế qua Responses API trên 4 DEV views.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Tuân thủ Schema: 100% VALID  |  Số lần Retry: 0.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Mức tiêu thụ Token trung bình theo điều kiện k: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no_rag (k=0): 643 input tokens  |  224 output tokens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rag_k1 (k=1): 1,115 input tokens (tăng 1.7x)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rag_k3 (k=3): 1,741 input tokens (tăng 2.7x)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rag_k5 (k=5): 2,518 input tokens (tăng 3.9x)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• rag_k10 (k=10): 4,537 input tokens (tăng 7.1x)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Chi phí thanh toán thực tế cho 20 requests: $0.0242 USD.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Dự phóng chi phí toàn bộ 6,400 requests tập TEST: $8.20 – $8.99 USD.</a:t>
            </a:r>
          </a:p>
        </p:txBody>
      </p:sp>
      <p:pic>
        <p:nvPicPr>
          <p:cNvPr id="8" name="Picture 7" descr="fig_rq3_pilot_token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5212080" cy="213221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4572000"/>
            <a:ext cx="5212080" cy="17373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709160"/>
            <a:ext cx="484632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59669"/>
                </a:solidFill>
                <a:latin typeface="Calibri"/>
              </a:defRPr>
            </a:pPr>
            <a:r>
              <a:t>Quy Luật Đánh Đổi (Trade-off)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Tăng k từ 1 lên 10 giúp tăng Hit rate từ 4.2% lên 45.1%, nhưng lượng token đầu vào tăng gấp 4 lần.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Tổng chi phí TEST dưới $10 chứng minh tính khả thi kinh tế cao của phương pháp.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9. Giới Hạn Nghiên Cứu &amp; Mối Đe Dọa Giá Trị</a:t>
            </a:r>
          </a:p>
          <a:p>
            <a:pPr>
              <a:defRPr sz="1300">
                <a:solidFill>
                  <a:srgbClr val="06B6D4"/>
                </a:solidFill>
                <a:latin typeface="Calibri"/>
              </a:defRPr>
            </a:pPr>
            <a:r>
              <a:t>Đánh giá khách quan các hạn chế kỹ thuật và phạm vi khoa học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3832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19"/>
            <a:ext cx="3017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C2626"/>
                </a:solidFill>
                <a:latin typeface="Calibri"/>
              </a:defRPr>
            </a:pPr>
            <a:r>
              <a:t>Phạm Vi Dữ Liệu (Scope)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Dữ liệu thử nghiệm Stage B là kịch bản giả lập có cấu trúc (synthetic-paired-v1).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Mặc dù tuân thủ nghiêm ngặt định dạng sự kiện Windows, nó chưa phản ánh toàn diện độ nhiễu của các cuộc tấn công APT thực tế.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Nghiên cứu không khẳng định kết quả áp dụng nguyên vẹn cho môi trường thực tế cho đến khi hoàn tất T15 real pilot.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280160"/>
            <a:ext cx="33832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417319"/>
            <a:ext cx="3017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Calibri"/>
              </a:defRPr>
            </a:pPr>
            <a:r>
              <a:t>Mô Hình Nhúng Đơn Tầng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Việc sử dụng all-MiniLM-L6-v2 thuần túy (dense bi-encoder) bộc lộ hạn chế lớn với các từ khóa kỹ thuật số (như Event ID 4720).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Khoảng cách giữa ngôn ngữ nhật ký và ngôn ngữ mô tả của ATT&amp;CK đòi hỏi phải có kiến trúc tìm kiếm lai (Hybrid Search: Dense + BM25 Lexical).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280160"/>
            <a:ext cx="33832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417319"/>
            <a:ext cx="3017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293B"/>
                </a:solidFill>
                <a:latin typeface="Calibri"/>
              </a:defRPr>
            </a:pPr>
            <a:r>
              <a:t>Phạm Vi Mô Hình LLM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Nghiên cứu tập trung đánh giá trên mô hình đại diện gpt-5.6-luna nhằm kiểm soát chặt chẽ biến số.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Cần mở rộng kiểm nghiệm trên các mô hình mã nguồn mở (Llama-3, Qwen) để xác minh xem quy luật phân rã lỗi có mang tính phổ quát hay không.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10. Khả Năng Tái Lập Độc Lập &amp; Đóng Góp Khoa Học</a:t>
            </a:r>
          </a:p>
          <a:p>
            <a:pPr>
              <a:defRPr sz="1300">
                <a:solidFill>
                  <a:srgbClr val="06B6D4"/>
                </a:solidFill>
                <a:latin typeface="Calibri"/>
              </a:defRPr>
            </a:pPr>
            <a:r>
              <a:t>Toàn bộ nghiên cứu có thể kiểm chứng ngoại tuyến với chi phí 0 đồng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19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59669"/>
                </a:solidFill>
                <a:latin typeface="Calibri"/>
              </a:defRPr>
            </a:pPr>
            <a:r>
              <a:t>Tái Lập 100% Ngoại Tuyến (Zero-Cost)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Bất kỳ ai cũng có thể kiểm chứng toàn bộ số liệu bằng 1 lệnh duy nhất: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  uv run python scripts/reproduce_study.py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Không cần tài khoản OpenAI, không cần kết nối Internet, không tốn chi phí.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Khóa mật mã 15 artifact cốt lõi trong canonical_experiment_lock_v1.json.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Tự động phát hiện và chặn đứng mọi hành vi rò rỉ mã bí mật hoặc gọi API ra ngoài bằng offline_guard.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Toàn bộ tài liệu hướng dẫn chi tiết tại docs/reproducibility.md.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212080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17319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40AF"/>
                </a:solidFill>
                <a:latin typeface="Calibri"/>
              </a:defRPr>
            </a:pPr>
            <a:r>
              <a:t>Đóng Góp Khoa Học Cốt Lõi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1. Quy trình thực nghiệm chuẩn hóa: Thiết lập giao thức thực nghiệm đối chứng khép kín, chống rò rỉ nhãn đầu tiên cho bài toán Windows log attribution.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2. Bộ chẩn đoán lỗi phân rã: Định lượng rõ ràng tỷ lệ thất bại của dense retrieval (54.9%) so với năng lực phân loại của LLM.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3. Bằng chứng định lượng về Context Dilution: Chứng minh log ngữ cảnh lân cận làm giảm hiệu quả tìm kiếm so với sự kiện đơn lẻ.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  <a:latin typeface="Calibri"/>
              </a:defRPr>
            </a:pPr>
            <a:r>
              <a:t>•  4. Bộ công cụ nghiên cứu mở: Cung cấp toàn bộ mã nguồn, benchmark, kịch bản tạo slide và dữ liệu chứng cứ nguyên vẹn.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371600"/>
            <a:ext cx="137160" cy="41148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Calibri"/>
              </a:defRPr>
            </a:pPr>
            <a:r>
              <a:t>TỔNG KẾT &amp; PHẦN HỎI ĐÁP (Q&amp;A)</a:t>
            </a:r>
          </a:p>
          <a:p>
            <a:pPr>
              <a:spcBef>
                <a:spcPts val="800"/>
              </a:spcBef>
              <a:defRPr sz="2600" b="1">
                <a:solidFill>
                  <a:srgbClr val="FFFFFF"/>
                </a:solidFill>
                <a:latin typeface="Calibri"/>
              </a:defRPr>
            </a:pPr>
            <a:r>
              <a:t>RAG2ATT&amp;CK: Đưa Tri Thức Thực Sự Vào Giám Sát An Ninh Mạng</a:t>
            </a:r>
          </a:p>
          <a:p>
            <a:pPr>
              <a:spcBef>
                <a:spcPts val="1000"/>
              </a:spcBef>
              <a:defRPr sz="1400">
                <a:solidFill>
                  <a:srgbClr val="E2E8F0"/>
                </a:solidFill>
                <a:latin typeface="Calibri"/>
              </a:defRPr>
            </a:pPr>
            <a:r>
              <a:t>•  RAG cung cấp tri thức nền tảng quan trọng, nhưng chất lượng khâu truy xuất (Retrieval) là yếu tố quyết định thành bại.</a:t>
            </a:r>
          </a:p>
          <a:p>
            <a:pPr>
              <a:spcBef>
                <a:spcPts val="1000"/>
              </a:spcBef>
              <a:defRPr sz="1400">
                <a:solidFill>
                  <a:srgbClr val="E2E8F0"/>
                </a:solidFill>
                <a:latin typeface="Calibri"/>
              </a:defRPr>
            </a:pPr>
            <a:r>
              <a:t>•  Hiện tượng pha loãng ngữ cảnh (Context Dilution) khẳng định cần tiền lọc log thay vì nhúng toàn bộ chuỗi sự kiện.</a:t>
            </a:r>
          </a:p>
          <a:p>
            <a:pPr>
              <a:spcBef>
                <a:spcPts val="1000"/>
              </a:spcBef>
              <a:defRPr sz="1400">
                <a:solidFill>
                  <a:srgbClr val="E2E8F0"/>
                </a:solidFill>
                <a:latin typeface="Calibri"/>
              </a:defRPr>
            </a:pPr>
            <a:r>
              <a:t>•  Định hướng tiếp theo: Triển khai Hybrid Retrieval (Dense + BM25) và kiểm nghiệm mở rộng trên telemetry thực tế.</a:t>
            </a:r>
          </a:p>
          <a:p>
            <a:pPr>
              <a:spcBef>
                <a:spcPts val="1000"/>
              </a:spcBef>
              <a:defRPr sz="1400">
                <a:solidFill>
                  <a:srgbClr val="E2E8F0"/>
                </a:solidFill>
                <a:latin typeface="Calibri"/>
              </a:defRPr>
            </a:pPr>
            <a:r>
              <a:t>•  Mã nguồn, dữ liệu và báo cáo tái lập sẵn sàng tại: https://github.com/habachcp6/RAG2ATTCK</a:t>
            </a:r>
          </a:p>
          <a:p>
            <a:pPr>
              <a:spcBef>
                <a:spcPts val="2000"/>
              </a:spcBef>
              <a:defRPr sz="1600" b="1">
                <a:solidFill>
                  <a:srgbClr val="06B6D4"/>
                </a:solidFill>
                <a:latin typeface="Calibri"/>
              </a:defRPr>
            </a:pPr>
            <a:r>
              <a:t>Xin trân trọng cảm ơn Quý Thầy Cô và Hội Đồng! Kính mời đặt câu hỏi thảo luận.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