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a:t>
            </a:r>
          </a:p>
          <a:p>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a:r>
              <a:t>Khai báo tác tạo: Slide deck này được tác tạo tự động bằng kịch bản Python scripts/generate_slides.py (sử dụng thư viện python-pptx định dạng 16:9 widescreen), được thẩm định hiển thị qua bundled artifact tools.</a:t>
            </a:r>
          </a:p>
          <a:p>
            <a:r>
              <a:t>Bằng chứng dự án: config/canonical_experiment_lock_v1.json (SHA-256: d0ce198ad4853f4c41ef2bfbafbe10a395e4927a6c6561b3e72c055c4b887e9f); reports/experiment_protocol_v1.md (File SHA-256: 639fd68ae16deec86e9f6baab0980c1abb265c6cd7bb9b4662f562b87e54e819; Canonical Decisions Digest: d3bf3d31ad307100ac437a7daecc470bf12de9ada49f19de3d77592d5a21974c); artifacts/results/canonical_metric_bundle_v2.json (SHA-256: 442b5933858caafc9da3c06ee9398637213ed30d7a7db80195c0babb1195ef34); scripts/reproduce_study.py.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2):</a:t>
            </a:r>
          </a:p>
          <a:p>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a:r>
              <a:t>Bằng chứng dự án: docs/README_PROPOSED.md; config/canonical_experiment_lock_v1.json (SHA-256: d0ce198a...); reports/experiment_protocol_v1.md (D3 policy; File SHA-256: 639fd68ae16deec86e9f6baab0980c1abb265c6cd7bb9b4662f562b87e54e819; Canonical Decisions Digest: d3bf3d31ad307100ac437a7daecc470bf12de9ada49f19de3d77592d5a21974c); tests/test_attack_id_validation.py.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3):</a:t>
            </a:r>
          </a:p>
          <a:p>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a:r>
              <a:t>Bằng chứng dự án: prompts/baseline_v1.txt (SHA-256: b751fde1ee33b03ec0bdc07cbba10267002d2086cf22b91a74bdfd123856f206); attack/corpus/enterprise-windows-v19.2.jsonl (SHA-256: b219341154ddf2f12e97d622158a04ab7d57641df6a865559258d365852c3c75); config/experiment_config.json (SHA-256: 961ba9b3e9e1b459a6694a5c8c76424d36c89d65bd4d88b14d0b0de7e4c017ac); tests/test_rag_pipeline.py.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4):</a:t>
            </a:r>
          </a:p>
          <a:p>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a:r>
              <a:t>Bằng chứng dự án: data/ground_truth/synthetic/inference.jsonl (SHA-256: 90d5f59e64f669f95d5ddccd86f1f047e10ee3dc46e4b67a8cd13d1ddf2cd4b8); data/ground_truth/synthetic/pairs.jsonl (SHA-256: 079e57a441b18d127739f610e7f62c263d943eefa19ca4ea5c6eab8b8a07665d); tests/test_benchmark_inputs.py; tests/test_synthetic_freeze.py.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5):</a:t>
            </a:r>
          </a:p>
          <a:p>
            <a:r>
              <a:t>Giao thức thực nghiệm v1.1 đóng băng 7 quyết định phương pháp luận cốt lõi D1-D7 và được tách bạch rõ ràng từng nhãn:</a:t>
            </a:r>
          </a:p>
          <a:p>
            <a:r>
              <a:t>- D2d: Vũ trụ Macro-F1 cố định đúng 474 lớp (FROZEN_BENCHMARK_UNIVERSE = 474).</a:t>
            </a:r>
          </a:p>
          <a:p>
            <a:r>
              <a:t>- D2e: invalid_id_as_failure (INCLUDE_IN_DENOMINATOR cho mã sai cú pháp/ảo giác).</a:t>
            </a:r>
          </a:p>
          <a:p>
            <a:r>
              <a:t>- D2f: api_failure_as_failure (INCLUDE_IN_DENOMINATOR cho lỗi provider/timeout/parser).</a:t>
            </a:r>
          </a:p>
          <a:p>
            <a:r>
              <a:t>- D2g: ALLOW_HISTORICAL chấp nhận các mã lịch sử/thu hồi dưới dạng distinct observation count, không tự ý gán lại mã thay thế.</a:t>
            </a:r>
          </a:p>
          <a:p>
            <a:r>
              <a:t>- D2h: ANY_GT_RETRIEVED cho multi-label retrieval success.</a:t>
            </a:r>
          </a:p>
          <a:p>
            <a:r>
              <a:t>- D2i: INDEPENDENT_AXES ghi nhận đầy đủ phần giao thoa giữa các trục đo lường lỗi.</a:t>
            </a:r>
          </a:p>
          <a:p>
            <a:r>
              <a:t>Bằng chứng dự án: reports/experiment_protocol_v1.md (File SHA-256: 639fd68ae16deec86e9f6baab0980c1abb265c6cd7bb9b4662f562b87e54e819; Canonical Decisions Digest: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6):</a:t>
            </a:r>
          </a:p>
          <a:p>
            <a:r>
              <a:t>Chẩn đoán độc lập khâu tìm kiếm (RQ2) trên tập scorable N=718 cho thấy Hit@10 đạt 44.71% (321/718), nghĩa là trong 55.29% trường hợp (397/718), kỹ thuật đúng hoàn toàn vắng bóng trong Top-10 gửi cho LLM. Điển hình là kỹ thuật T1136.001 với 0/95 lần trúng Top-10 đi kèm sự khác biệt từ vựng giữa raw event log (Event ID 4720 'SamAccountName') và mô tả STIX ATT&amp;CK ('persistence'). Đây là giả thuyết từ vựng (lexical divergence hypothesis), không khẳng định quan hệ nhân quả. Chúng tôi ghi nhận giả thuyết Context Scaling &amp; Dilution (k=1,3,5,10): tăng k cải thiện độ phủ nhưng tăng nguy cơ nhiễu distractor; đang được kiểm chứng đối chứng trên ma trận TEST.</a:t>
            </a:r>
          </a:p>
          <a:p>
            <a:r>
              <a:t>Bằng chứng dự án: docs/presentation/figures/canonical_rq2_retrieval_hit_rate.png (SHA-256: f8287936d2b5fc24e89584349028f393b801b6bebe668f8bea449c6b67f2128f); docs/presentation/figures/fig4_retrieval_hit_rate.png; outputs/reproduction/tables/table_1_retrieval_diagnostics.md; tests/test_retrieval_diagnostics.py.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7):</a:t>
            </a:r>
          </a:p>
          <a:p>
            <a:r>
              <a:t>Phân tích lỗi khâu truy xuất và chẩn đoán có điều kiện (RQ2) trên tập scorable N=718 cho thấy: khi kỹ thuật đúng có mặt trong Top-10 (N=321), tỷ lệ gán đúng đạt 91.28% (293/321); khi kỹ thuật đúng vắng mặt (N=397), tỷ lệ gán đúng là 70.03% (278/397). Độ chênh lệch quan sát được là +21.25 pp. Chúng tôi nhấn mạnh: đây thuần túy là tương quan quan sát trong thực nghiệm (observational association), không áp đặt suy diễn quan hệ nhân quả hay khẳng định năng lực nội tại của LLM.</a:t>
            </a:r>
          </a:p>
          <a:p>
            <a:r>
              <a:t>Theo định đề phân rã lỗi D2i, trong số 147 trường hợp phân loại sai tại k=10, có tới 119 trường hợp (80.95%) đồng thời rơi vào khâu retrieval miss. Chỉ có 28 trường hợp (19.05%) bị phân loại sai khi kỹ thuật đã được truy xuất thành công.</a:t>
            </a:r>
          </a:p>
          <a:p>
            <a:r>
              <a:t>Bằng chứng dự án: artifacts/results/canonical_metric_bundle_v2.json (SHA-256: 442b5933858caafc9da3c06ee9398637213ed30d7a7db80195c0babb1195ef34); reports/experiment_protocol_v1.md (D2i; File SHA-256: 639fd68ae16deec86e9f6baab0980c1abb265c6cd7bb9b4662f562b87e54e819; Canonical Decisions Digest: d3bf3d31ad307100ac437a7daecc470bf12de9ada49f19de3d77592d5a21974c);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8):</a:t>
            </a:r>
          </a:p>
          <a:p>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a:t>
            </a:r>
          </a:p>
          <a:p>
            <a:r>
              <a:t>Bảng đối chứng 5 điều kiện RQ1 trên tập scorable N=718 (474 lớp vũ trụ D2d):</a:t>
            </a:r>
          </a:p>
          <a:p>
            <a:r>
              <a:t>1. No-RAG:    77.99% (560/718), Macro-F1 = 0.0126 (Baseline đối chứng).</a:t>
            </a:r>
          </a:p>
          <a:p>
            <a:r>
              <a:t>2. RAG (k=1):  77.02% (553/718), Macro-F1 = 0.0127, Delta = -0.975 pp (CI [-3.186, +1.124] pp), McNemar p = 0.435.</a:t>
            </a:r>
          </a:p>
          <a:p>
            <a:r>
              <a:t>3. RAG (k=3):  78.55% (564/718), Macro-F1 = 0.0136, Delta = +0.557 pp (CI [-2.786, +3.934] pp), McNemar p = 0.777.</a:t>
            </a:r>
          </a:p>
          <a:p>
            <a:r>
              <a:t>4. RAG (k=5):  78.83% (566/718), Macro-F1 = 0.0139, Delta = +0.836 pp (CI [-2.934, +4.603] pp), McNemar p = 0.677.</a:t>
            </a:r>
          </a:p>
          <a:p>
            <a:r>
              <a:t>5. RAG (k=10): 79.53% (571/718), Macro-F1 = 0.0140, Delta = +1.532 pp (+1.96% relative; 95% CI [-2.355, +5.300] pp chứa 0), McNemar p = 0.4219 / 0.422 &gt; 0.05.</a:t>
            </a:r>
          </a:p>
          <a:p>
            <a:r>
              <a:t>Nghiên cứu khẳng định RAG k=10 là độ chính xác quan sát được cao nhất trong thử nghiệm kèm độ bất định, tuyệt đối không tuyên bố chiến thắng có ý nghĩa thống kê hay lợi ích vượt trội trong production.</a:t>
            </a:r>
          </a:p>
          <a:p>
            <a:r>
              <a:t>Về Macro-F1: Được đánh giá nhất quán trên toàn bộ vũ trụ 474 lớp kỹ thuật MITRE ATT&amp;CK v19.2 Enterprise Windows theo định đề D2d (FROZEN_BENCHMARK_UNIVERSE = 474), gồm 8 lớp có mẫu hỗ trợ và 466 lớp zero-support: No-RAG đạt 0.0126 vs RAG k=10 đạt 0.0140 (Delta +0.0014).</a:t>
            </a:r>
          </a:p>
          <a:p>
            <a:r>
              <a:t>Ranh giới lỗi phân định độc lập: 1 physical retry thành công sau sự cố mạng API_FAILURE; ghi nhận 0 terminal provider failure trên toàn bộ 3,590 scorable records (13 incomplete records ghi nhận trên toàn campaign 6,400 requests đều thuộc nhóm unmapped/ambiguous).</a:t>
            </a:r>
          </a:p>
          <a:p>
            <a:r>
              <a:t>Về các thước đo có điều kiện tại k=10: P(Correct | GT in Top-k) = 91.28% (293/321), trong khi P(Correct | GT NOT in Top-k) = 70.03% (278/397); tỷ lệ này không cho phép suy diễn mô hình tự sửa sai nội tại.</a:t>
            </a:r>
          </a:p>
          <a:p>
            <a:r>
              <a:t>Bằng chứng dự án: reports/experiment_protocol_v1.md (D2d, D2e, D2f, D2h, D2i; File SHA-256: 639fd68ae16deec86e9f6baab0980c1abb265c6cd7bb9b4662f562b87e54e819; Canonical Decisions Digest: d3bf3d31ad307100ac437a7daecc470bf12de9ada49f19de3d77592d5a21974c); artifacts/results/canonical_metric_bundle_v2.json (SHA-256: 442b5933858caafc9da3c06ee9398637213ed30d7a7db80195c0babb1195ef34);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9):</a:t>
            </a:r>
          </a:p>
          <a:p>
            <a:r>
              <a:t>Trong phân tích RQ3, chúng tôi làm rõ các khái niệm chi phí, dữ liệu và kiểm soát ngân sách:</a:t>
            </a:r>
          </a:p>
          <a:p>
            <a:r>
              <a:t>1. Dữ liệu thử nghiệm Stage B là dữ liệu tổng hợp (synthetic split). Việc gửi request lên OpenAI không biến log tổng hợp thành dữ liệu thực địa in-the-wild.</a:t>
            </a:r>
          </a:p>
          <a:p>
            <a:r>
              <a:t>2. Toàn bộ nghiên cứu tính trên mẫu số N=1,280 queries / điều kiện (tổng 6,400 logical requests, 6,401 physical attempts bao gồm 1 physical retry thành công do lỗi mạng API_FAILURE với 1,540 cached tokens; ghi nhận 0 terminal provider failure trên 3,590 scorable records).</a:t>
            </a:r>
          </a:p>
          <a:p>
            <a:r>
              <a:t>3. Phân định giới hạn token: 13 requests INCOMPLETE dừng do chạm trần configured max_output_tokens (8,192 tokens, tức ngân sách suy luận đầu ra được cấu hình), không phải do vượt cửa sổ ngữ cảnh context ceiling (~1,050,000 tokens của gpt-5.6-luna). Toàn bộ 13 requests này đều thuộc các view loại trừ/unmapped.</a:t>
            </a:r>
          </a:p>
          <a:p>
            <a:r>
              <a:t>4. Hạch toán tài chính chính xác: trần ngân sách đóng băng cứng $19.99 USD (hard_budget_limit_usd = $19.99000000). Chi phí quyết toán thực tế 5 điều kiện chính thức là $6.58 settled spend ($6.57575890 USD).</a:t>
            </a:r>
          </a:p>
          <a:p>
            <a:r>
              <a:t>5. Phân biệt rạch ròi: Khoản giữ chỗ thận trọng pilot $0.05264010 USD (prior_pilot_provisional_hold_usd) được phân tách minh bạch khỏi chi phí quyết toán thực tế $6.57575890 USD. Tổng chi phí cam kết là $6.63 committed spend ($6.62839900 USD), ngân sách khả dụng còn lại là $13.36 net remaining ($13.36160100 USD; 0 active holds, 0 breach).</a:t>
            </a:r>
          </a:p>
          <a:p>
            <a:r>
              <a:t>6. Đánh đổi token: Tỷ lệ tăng token prompt từ k=1 lên k=10 là ~4.103x (1246.5 lên 5114.3 tokens); tỷ lệ từ No-RAG lên k=10 là ~7.58x.</a:t>
            </a:r>
          </a:p>
          <a:p>
            <a:r>
              <a:t>Bằng chứng dự án: docs/presentation/figures/canonical_rq3_resource_consumption.png (SHA-256: ca296165b38b499432f851618e3d6a512964c461e59dc3b646e647ddcb70bfb1); docs/presentation/figures/fig7_cost_and_tokens_vs_k.png; config/experiment_config.json (hard_budget_limit_usd: 19.99);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tests/test_monetary_guard.py.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10):</a:t>
            </a:r>
          </a:p>
          <a:p>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Khoảng tin cậy delta chứa 0, kiểm định McNemar p = 0.4219 / 0.422 &gt; 0.05. Để đảm bảo an toàn, mọi quy trình kiểm thử tái lập phải thực thi qua runner offline scripts/run_offline_tests.py nhằm đánh chặn các kết nối mạng ngẫu nhiên ở tầng socket Python.</a:t>
            </a:r>
          </a:p>
          <a:p>
            <a:r>
              <a:t>Bằng chứng dự án: docs/reproducibility.md; scripts/run_offline_tests.py; tests/test_offline_guard.py (OFFLINE_GUARD egress=0).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11):</a:t>
            </a:r>
          </a:p>
          <a:p>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a:r>
              <a:t>Bằng chứng dự án: config/canonical_experiment_lock_v1.json (SHA-256: d0ce198ad4853f4c41ef2bfbafbe10a395e4927a6c6561b3e72c055c4b887e9f);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scripts/reproduce_study.py; scripts/run_offline_tests.py; tests/test_smoke_cases.py.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12):</a:t>
            </a:r>
          </a:p>
          <a:p>
            <a:r>
              <a:t>Tóm lại, RAG2ATT&amp;CK đo lường thực nghiệm đối chứng vai trò của RAG trong bài toán ánh xạ log Windows sang ATT&amp;CK techniques: No-RAG đạt 77.99% (560/718), RAG k=10 đạt 79.53% (571/718, Delta = +1.532 pp, McNemar p = 0.4219 / 0.422 &gt; 0.05). Ghi nhận 0 terminal provider failures trên 3,590 scorable records. Chúng tôi nhấn mạnh tính trung thực khoa học: phân rã lỗi D2i theo các trục đo lường độc lập không giả định độc lập xác suất ngẫu nhiên, và quy trình tái lập sử dụng runner can thiệp socket tầng ứng dụng.</a:t>
            </a:r>
          </a:p>
          <a:p>
            <a:r>
              <a:t>Khai báo công cụ: Toàn bộ slide deck này được tác tạo tự động bằng kịch bản Python scripts/generate_slides.py (sử dụng thư viện python-pptx định dạng 16:9 widescreen), được thẩm định hiển thị qua bundled artifact tools.</a:t>
            </a:r>
          </a:p>
          <a:p>
            <a:r>
              <a:t>Bằng chứng dự án: PR #26 (https://github.com/habachcp6/RAG2ATTCK/pull/26); docs/sanitized_evidence_manifest.json;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reports/evidence/reproducibility_package_manifest.md.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463040"/>
            <a:ext cx="137160" cy="36576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hape_slide_1_title"/>
          <p:cNvSpPr txBox="1"/>
          <p:nvPr/>
        </p:nvSpPr>
        <p:spPr>
          <a:xfrm>
            <a:off x="1371600" y="1371600"/>
            <a:ext cx="9601200" cy="3840480"/>
          </a:xfrm>
          <a:prstGeom prst="rect">
            <a:avLst/>
          </a:prstGeom>
          <a:noFill/>
        </p:spPr>
        <p:txBody>
          <a:bodyPr wrap="square">
            <a:spAutoFit/>
          </a:bodyPr>
          <a:lstStyle/>
          <a:p>
            <a:pPr>
              <a:defRPr sz="1400" b="1">
                <a:solidFill>
                  <a:srgbClr val="06B6D4"/>
                </a:solidFill>
                <a:latin typeface="Calibri"/>
              </a:defRPr>
            </a:pPr>
            <a:r>
              <a:t>BÁO CÁO NGHIÊN CỨU THỰC NGHIỆM ĐỐI CHỨNG</a:t>
            </a:r>
          </a:p>
          <a:p>
            <a:pPr>
              <a:spcBef>
                <a:spcPts val="1000"/>
              </a:spcBef>
              <a:defRPr sz="2800" b="1">
                <a:solidFill>
                  <a:srgbClr val="FFFFFF"/>
                </a:solidFill>
                <a:latin typeface="Calibri"/>
              </a:defRPr>
            </a:pPr>
            <a:r>
              <a:t>Đánh Giá Tác Động Của MITRE ATT&amp;CK-Grounded RAG Đối Với Việc Ánh Xạ Windows Endpoint Logs</a:t>
            </a:r>
          </a:p>
          <a:p>
            <a:pPr>
              <a:spcBef>
                <a:spcPts val="800"/>
              </a:spcBef>
              <a:defRPr sz="1500" i="1">
                <a:solidFill>
                  <a:srgbClr val="94A3B8"/>
                </a:solidFill>
                <a:latin typeface="Calibri"/>
              </a:defRPr>
            </a:pPr>
            <a:r>
              <a:t>Evaluating MITRE ATT&amp;CK-Grounded Retrieval-Augmented Generation for Technique Attribution from Windows Endpoint Logs (RAG2ATT&amp;CK)</a:t>
            </a:r>
          </a:p>
          <a:p>
            <a:pPr>
              <a:spcBef>
                <a:spcPts val="2400"/>
              </a:spcBef>
              <a:defRPr sz="1300">
                <a:solidFill>
                  <a:srgbClr val="E2E8F0"/>
                </a:solidFill>
                <a:latin typeface="Calibri"/>
              </a:defRPr>
            </a:pPr>
            <a:r>
              <a:t>Giao thức khoa học: experiment-protocol-v1.1  |  Khóa chuẩn: canonical-lock-v1</a:t>
            </a:r>
          </a:p>
          <a:p>
            <a:pPr>
              <a:spcBef>
                <a:spcPts val="800"/>
              </a:spcBef>
              <a:defRPr sz="1300" b="1">
                <a:solidFill>
                  <a:srgbClr val="DC2626"/>
                </a:solidFill>
                <a:latin typeface="Calibri"/>
              </a:defRPr>
            </a:pPr>
            <a:r>
              <a:t>[CANONICAL CANDIDATE — PENDING ROOT FINAL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 Vấn Đề Nghiên Cứu &amp; Động Lực Thực Tiễn</a:t>
            </a:r>
          </a:p>
          <a:p>
            <a:pPr>
              <a:defRPr sz="1300">
                <a:solidFill>
                  <a:srgbClr val="06B6D4"/>
                </a:solidFill>
                <a:latin typeface="Calibri"/>
              </a:defRPr>
            </a:pPr>
            <a:r>
              <a:t>Khoảng cách giữa nhật ký cấp thấp (Telemetry) và ma trận kỹ thuật ATT&amp;CK  |  [CANONICAL CANDIDATE — PENDING ROOT FINAL REVIEW]</a:t>
            </a:r>
          </a:p>
        </p:txBody>
      </p:sp>
      <p:sp>
        <p:nvSpPr>
          <p:cNvPr id="6" name="shape_slide_2_problem"/>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2_problem_textbox"/>
          <p:cNvSpPr txBox="1"/>
          <p:nvPr/>
        </p:nvSpPr>
        <p:spPr>
          <a:xfrm>
            <a:off x="914400" y="1344168"/>
            <a:ext cx="3047695" cy="4855464"/>
          </a:xfrm>
          <a:prstGeom prst="rect">
            <a:avLst/>
          </a:prstGeom>
          <a:noFill/>
        </p:spPr>
        <p:txBody>
          <a:bodyPr wrap="square">
            <a:spAutoFit/>
          </a:bodyPr>
          <a:lstStyle/>
          <a:p>
            <a:pPr>
              <a:defRPr sz="1600" b="1">
                <a:solidFill>
                  <a:srgbClr val="2563EB"/>
                </a:solidFill>
                <a:latin typeface="Calibri"/>
              </a:defRPr>
            </a:pPr>
            <a:r>
              <a:t>Bối Cảnh Giám Sát SOC</a:t>
            </a:r>
          </a:p>
          <a:p>
            <a:pPr>
              <a:spcBef>
                <a:spcPts val="350"/>
              </a:spcBef>
              <a:defRPr sz="1150">
                <a:solidFill>
                  <a:srgbClr val="0F172A"/>
                </a:solidFill>
                <a:latin typeface="Calibri"/>
              </a:defRPr>
            </a:pPr>
            <a:r>
              <a:t>•  Nhật ký Windows Endpoint (Security Events, Sysmon) là tuyến phòng thủ cốt lõi của Trung tâm Giám sát An ninh (SOC).</a:t>
            </a:r>
          </a:p>
          <a:p>
            <a:pPr>
              <a:spcBef>
                <a:spcPts val="350"/>
              </a:spcBef>
              <a:defRPr sz="1150">
                <a:solidFill>
                  <a:srgbClr val="0F172A"/>
                </a:solidFill>
                <a:latin typeface="Calibri"/>
              </a:defRPr>
            </a:pPr>
            <a:r>
              <a:t>•  Việc ánh xạ nhật ký thô sang mã MITRE ATT&amp;CK Technique là tiêu chuẩn vàng để xác định ý đồ tấn công.</a:t>
            </a:r>
          </a:p>
          <a:p>
            <a:pPr>
              <a:spcBef>
                <a:spcPts val="350"/>
              </a:spcBef>
              <a:defRPr sz="1150">
                <a:solidFill>
                  <a:srgbClr val="0F172A"/>
                </a:solidFill>
                <a:latin typeface="Calibri"/>
              </a:defRPr>
            </a:pPr>
            <a:r>
              <a:t>•  Quy trình thủ công đòi hỏi chuyên gia cấp cao, tốn thời gian và khó đáp ứng quy mô hàng triệu sự kiện mỗi ngày.</a:t>
            </a:r>
          </a:p>
        </p:txBody>
      </p:sp>
      <p:sp>
        <p:nvSpPr>
          <p:cNvPr id="8" name="shape_slide_2_challenge"/>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2_challenge_textbox"/>
          <p:cNvSpPr txBox="1"/>
          <p:nvPr/>
        </p:nvSpPr>
        <p:spPr>
          <a:xfrm>
            <a:off x="4572000" y="1344168"/>
            <a:ext cx="3047695" cy="4855464"/>
          </a:xfrm>
          <a:prstGeom prst="rect">
            <a:avLst/>
          </a:prstGeom>
          <a:noFill/>
        </p:spPr>
        <p:txBody>
          <a:bodyPr wrap="square">
            <a:spAutoFit/>
          </a:bodyPr>
          <a:lstStyle/>
          <a:p>
            <a:pPr>
              <a:defRPr sz="1600" b="1">
                <a:solidFill>
                  <a:srgbClr val="DC2626"/>
                </a:solidFill>
                <a:latin typeface="Calibri"/>
              </a:defRPr>
            </a:pPr>
            <a:r>
              <a:t>Thách Thức Của LLM Thuần Túy</a:t>
            </a:r>
          </a:p>
          <a:p>
            <a:pPr>
              <a:spcBef>
                <a:spcPts val="350"/>
              </a:spcBef>
              <a:defRPr sz="1150">
                <a:solidFill>
                  <a:srgbClr val="0F172A"/>
                </a:solidFill>
                <a:latin typeface="Calibri"/>
              </a:defRPr>
            </a:pPr>
            <a:r>
              <a:t>•  Khoảng cách trừu tượng: Log mang tính kỹ thuật hệ thống (Process GUID, CommandLine), trong khi ATT&amp;CK mô tả hành vi khái niệm.</a:t>
            </a:r>
          </a:p>
          <a:p>
            <a:pPr>
              <a:spcBef>
                <a:spcPts val="350"/>
              </a:spcBef>
              <a:defRPr sz="1150">
                <a:solidFill>
                  <a:srgbClr val="0F172A"/>
                </a:solidFill>
                <a:latin typeface="Calibri"/>
              </a:defRPr>
            </a:pPr>
            <a:r>
              <a:t>•  Hiện tượng ảo giác: LLM không có RAG dễ suy đoán mã kỹ thuật sai cú pháp hoặc không tồn tại trong danh mục.</a:t>
            </a:r>
          </a:p>
          <a:p>
            <a:pPr>
              <a:spcBef>
                <a:spcPts val="350"/>
              </a:spcBef>
              <a:defRPr sz="1150">
                <a:solidFill>
                  <a:srgbClr val="0F172A"/>
                </a:solidFill>
                <a:latin typeface="Calibri"/>
              </a:defRPr>
            </a:pPr>
            <a:r>
              <a:t>•  Nhầm lẫn Sub-techniques: Khó phân biệt các kỹ thuật lân cận (ví dụ: T1059.001 PowerShell vs T1059.003 Command Shell).</a:t>
            </a:r>
          </a:p>
        </p:txBody>
      </p:sp>
      <p:sp>
        <p:nvSpPr>
          <p:cNvPr id="10" name="shape_slide_2_motivation"/>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2_motivation_textbox"/>
          <p:cNvSpPr txBox="1"/>
          <p:nvPr/>
        </p:nvSpPr>
        <p:spPr>
          <a:xfrm>
            <a:off x="8229600" y="1344168"/>
            <a:ext cx="3047695" cy="4855464"/>
          </a:xfrm>
          <a:prstGeom prst="rect">
            <a:avLst/>
          </a:prstGeom>
          <a:noFill/>
        </p:spPr>
        <p:txBody>
          <a:bodyPr wrap="square">
            <a:spAutoFit/>
          </a:bodyPr>
          <a:lstStyle/>
          <a:p>
            <a:pPr>
              <a:defRPr sz="1600" b="1">
                <a:solidFill>
                  <a:srgbClr val="059669"/>
                </a:solidFill>
                <a:latin typeface="Calibri"/>
              </a:defRPr>
            </a:pPr>
            <a:r>
              <a:t>Động Lực Của RAG2ATT&amp;CK</a:t>
            </a:r>
          </a:p>
          <a:p>
            <a:pPr>
              <a:spcBef>
                <a:spcPts val="250"/>
              </a:spcBef>
              <a:defRPr sz="1000">
                <a:solidFill>
                  <a:srgbClr val="0F172A"/>
                </a:solidFill>
                <a:latin typeface="Calibri"/>
              </a:defRPr>
            </a:pPr>
            <a:r>
              <a:t>•  Thiết kế nghiên cứu thực nghiệm đối chứng có kiểm soát (Controlled Empirical Study).</a:t>
            </a:r>
          </a:p>
          <a:p>
            <a:pPr>
              <a:spcBef>
                <a:spcPts val="250"/>
              </a:spcBef>
              <a:defRPr sz="1000">
                <a:solidFill>
                  <a:srgbClr val="0F172A"/>
                </a:solidFill>
                <a:latin typeface="Calibri"/>
              </a:defRPr>
            </a:pPr>
            <a:r>
              <a:t>•  Đo lường khách quan delta hiệu năng do RAG mang lại trên cùng mô hình LLM.</a:t>
            </a:r>
          </a:p>
          <a:p>
            <a:pPr>
              <a:spcBef>
                <a:spcPts val="250"/>
              </a:spcBef>
              <a:defRPr sz="1000">
                <a:solidFill>
                  <a:srgbClr val="0F172A"/>
                </a:solidFill>
                <a:latin typeface="Calibri"/>
              </a:defRPr>
            </a:pPr>
            <a:r>
              <a:t>•  Bóc tách độc lập lỗi tìm kiếm (Retrieval Failure) và lỗi phân loại (Classification Failure).</a:t>
            </a:r>
          </a:p>
          <a:p>
            <a:pPr>
              <a:spcBef>
                <a:spcPts val="250"/>
              </a:spcBef>
              <a:defRPr sz="1000">
                <a:solidFill>
                  <a:srgbClr val="0F172A"/>
                </a:solidFill>
                <a:latin typeface="Calibri"/>
              </a:defRPr>
            </a:pPr>
            <a:r>
              <a:t>•  Phạm vi tính xác định (Determinism): Áp dụng cho tái tạo dataset, đánh giá ngoại tuyến và thứ tự tie-breaking.</a:t>
            </a:r>
          </a:p>
          <a:p>
            <a:pPr>
              <a:spcBef>
                <a:spcPts val="250"/>
              </a:spcBef>
              <a:defRPr sz="1000">
                <a:solidFill>
                  <a:srgbClr val="0F172A"/>
                </a:solidFill>
                <a:latin typeface="Calibri"/>
              </a:defRPr>
            </a:pPr>
            <a:r>
              <a:t>•  Biến thiên backend LLM: Phản hồi LLM có thể biến thiên (không gửi seed qua mạng), được quản lý bởi chính sách siêu dữ liệu D3 (timestamp-bound).</a:t>
            </a:r>
          </a:p>
          <a:p>
            <a:pPr>
              <a:spcBef>
                <a:spcPts val="250"/>
              </a:spcBef>
              <a:defRPr sz="1000">
                <a:solidFill>
                  <a:srgbClr val="0F172A"/>
                </a:solidFill>
                <a:latin typeface="Calibri"/>
              </a:defRPr>
            </a:pPr>
            <a:r>
              <a:t>•  Tái lập ngoại tuyến chi phí 0 đồng với bộ offline_guard can thiệp tầng socket.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2. Kiến Trúc Thực Nghiệm Đối Chứng</a:t>
            </a:r>
          </a:p>
          <a:p>
            <a:pPr>
              <a:defRPr sz="1300">
                <a:solidFill>
                  <a:srgbClr val="06B6D4"/>
                </a:solidFill>
                <a:latin typeface="Calibri"/>
              </a:defRPr>
            </a:pPr>
            <a:r>
              <a:t>So sánh đối đầu giữa Baseline (No-RAG) và Experimental (RAG)  |  [CANONICAL CANDIDATE — PENDING ROOT FINAL REVIEW]</a:t>
            </a:r>
          </a:p>
        </p:txBody>
      </p:sp>
      <p:sp>
        <p:nvSpPr>
          <p:cNvPr id="6" name="shape_slide_3_baseline"/>
          <p:cNvSpPr/>
          <p:nvPr/>
        </p:nvSpPr>
        <p:spPr>
          <a:xfrm>
            <a:off x="731520"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3_baseline_textbox"/>
          <p:cNvSpPr txBox="1"/>
          <p:nvPr/>
        </p:nvSpPr>
        <p:spPr>
          <a:xfrm>
            <a:off x="914400" y="1344168"/>
            <a:ext cx="4846320" cy="2843784"/>
          </a:xfrm>
          <a:prstGeom prst="rect">
            <a:avLst/>
          </a:prstGeom>
          <a:noFill/>
        </p:spPr>
        <p:txBody>
          <a:bodyPr wrap="square">
            <a:spAutoFit/>
          </a:bodyPr>
          <a:lstStyle/>
          <a:p>
            <a:pPr>
              <a:defRPr sz="1600" b="1">
                <a:solidFill>
                  <a:srgbClr val="1E293B"/>
                </a:solidFill>
                <a:latin typeface="Calibri"/>
              </a:defRPr>
            </a:pPr>
            <a:r>
              <a:t>Nhánh Cơ Sở: Baseline No-RAG</a:t>
            </a:r>
          </a:p>
          <a:p>
            <a:pPr>
              <a:spcBef>
                <a:spcPts val="300"/>
              </a:spcBef>
              <a:defRPr sz="1150">
                <a:solidFill>
                  <a:srgbClr val="0F172A"/>
                </a:solidFill>
                <a:latin typeface="Calibri"/>
              </a:defRPr>
            </a:pPr>
            <a:r>
              <a:t>•  Đầu vào: Chuỗi sự kiện Windows Endpoint (endpoint_evidence).</a:t>
            </a:r>
          </a:p>
          <a:p>
            <a:pPr>
              <a:spcBef>
                <a:spcPts val="300"/>
              </a:spcBef>
              <a:defRPr sz="1150">
                <a:solidFill>
                  <a:srgbClr val="0F172A"/>
                </a:solidFill>
                <a:latin typeface="Calibri"/>
              </a:defRPr>
            </a:pPr>
            <a:r>
              <a:t>•  Cơ chế: Đưa trực tiếp vào LLM cùng prompt hướng dẫn chuẩn hóa.</a:t>
            </a:r>
          </a:p>
          <a:p>
            <a:pPr>
              <a:spcBef>
                <a:spcPts val="300"/>
              </a:spcBef>
              <a:defRPr sz="1150">
                <a:solidFill>
                  <a:srgbClr val="0F172A"/>
                </a:solidFill>
                <a:latin typeface="Calibri"/>
              </a:defRPr>
            </a:pPr>
            <a:r>
              <a:t>•  Đầu ra: Chuỗi JSON chứa duy nhất mã technique_id.</a:t>
            </a:r>
          </a:p>
          <a:p>
            <a:pPr>
              <a:spcBef>
                <a:spcPts val="300"/>
              </a:spcBef>
              <a:defRPr sz="1150">
                <a:solidFill>
                  <a:srgbClr val="0F172A"/>
                </a:solidFill>
                <a:latin typeface="Calibri"/>
              </a:defRPr>
            </a:pPr>
            <a:r>
              <a:t>•  Mô hình: gpt-5.6-luna (reasoning_effort=xhigh, api_interface=responses).</a:t>
            </a:r>
          </a:p>
        </p:txBody>
      </p:sp>
      <p:sp>
        <p:nvSpPr>
          <p:cNvPr id="8" name="shape_slide_3_rag"/>
          <p:cNvSpPr/>
          <p:nvPr/>
        </p:nvSpPr>
        <p:spPr>
          <a:xfrm>
            <a:off x="6248095"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3_rag_textbox"/>
          <p:cNvSpPr txBox="1"/>
          <p:nvPr/>
        </p:nvSpPr>
        <p:spPr>
          <a:xfrm>
            <a:off x="6430975" y="1344168"/>
            <a:ext cx="4846320" cy="2843784"/>
          </a:xfrm>
          <a:prstGeom prst="rect">
            <a:avLst/>
          </a:prstGeom>
          <a:noFill/>
        </p:spPr>
        <p:txBody>
          <a:bodyPr wrap="square">
            <a:spAutoFit/>
          </a:bodyPr>
          <a:lstStyle/>
          <a:p>
            <a:pPr>
              <a:defRPr sz="1600" b="1">
                <a:solidFill>
                  <a:srgbClr val="1E40AF"/>
                </a:solidFill>
                <a:latin typeface="Calibri"/>
              </a:defRPr>
            </a:pPr>
            <a:r>
              <a:t>Nhánh Thử Nghiệm: Experimental RAG</a:t>
            </a:r>
          </a:p>
          <a:p>
            <a:pPr>
              <a:spcBef>
                <a:spcPts val="300"/>
              </a:spcBef>
              <a:defRPr sz="1150">
                <a:solidFill>
                  <a:srgbClr val="0F172A"/>
                </a:solidFill>
                <a:latin typeface="Calibri"/>
              </a:defRPr>
            </a:pPr>
            <a:r>
              <a:t>•  Đầu vào: Chuỗi sự kiện Windows Endpoint như nhánh cơ sở.</a:t>
            </a:r>
          </a:p>
          <a:p>
            <a:pPr>
              <a:spcBef>
                <a:spcPts val="300"/>
              </a:spcBef>
              <a:defRPr sz="1150">
                <a:solidFill>
                  <a:srgbClr val="0F172A"/>
                </a:solidFill>
                <a:latin typeface="Calibri"/>
              </a:defRPr>
            </a:pPr>
            <a:r>
              <a:t>•  Bộ truy xuất: sentence-transformers/all-MiniLM-L6-v2 + FAISS FlatIP (384-dim).</a:t>
            </a:r>
          </a:p>
          <a:p>
            <a:pPr>
              <a:spcBef>
                <a:spcPts val="300"/>
              </a:spcBef>
              <a:defRPr sz="1150">
                <a:solidFill>
                  <a:srgbClr val="0F172A"/>
                </a:solidFill>
                <a:latin typeface="Calibri"/>
              </a:defRPr>
            </a:pPr>
            <a:r>
              <a:t>•  Kho tri thức: 474 tài liệu ATT&amp;CK v19.2 Enterprise Windows.</a:t>
            </a:r>
          </a:p>
          <a:p>
            <a:pPr>
              <a:spcBef>
                <a:spcPts val="300"/>
              </a:spcBef>
              <a:defRPr sz="1150">
                <a:solidFill>
                  <a:srgbClr val="0F172A"/>
                </a:solidFill>
                <a:latin typeface="Calibri"/>
              </a:defRPr>
            </a:pPr>
            <a:r>
              <a:t>•  Độ sâu k: Đánh giá có hệ thống k ∈ {1, 3, 5, 10}.</a:t>
            </a:r>
          </a:p>
          <a:p>
            <a:pPr>
              <a:spcBef>
                <a:spcPts val="300"/>
              </a:spcBef>
              <a:defRPr sz="1150">
                <a:solidFill>
                  <a:srgbClr val="0F172A"/>
                </a:solidFill>
                <a:latin typeface="Calibri"/>
              </a:defRPr>
            </a:pPr>
            <a:r>
              <a:t>•  Đầu ra: Cùng cấu trúc JSON và cùng bộ kiểm tra cú pháp nghiêm ngặt.</a:t>
            </a:r>
          </a:p>
        </p:txBody>
      </p:sp>
      <p:sp>
        <p:nvSpPr>
          <p:cNvPr id="10" name="shape_slide_3_invariants"/>
          <p:cNvSpPr/>
          <p:nvPr/>
        </p:nvSpPr>
        <p:spPr>
          <a:xfrm>
            <a:off x="731520" y="443484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3_invariants_textbox"/>
          <p:cNvSpPr txBox="1"/>
          <p:nvPr/>
        </p:nvSpPr>
        <p:spPr>
          <a:xfrm>
            <a:off x="914400" y="4544568"/>
            <a:ext cx="10362895" cy="1655063"/>
          </a:xfrm>
          <a:prstGeom prst="rect">
            <a:avLst/>
          </a:prstGeom>
          <a:noFill/>
        </p:spPr>
        <p:txBody>
          <a:bodyPr wrap="square">
            <a:spAutoFit/>
          </a:bodyPr>
          <a:lstStyle/>
          <a:p>
            <a:pPr>
              <a:defRPr sz="1600" b="1">
                <a:solidFill>
                  <a:srgbClr val="059669"/>
                </a:solidFill>
                <a:latin typeface="Calibri"/>
              </a:defRPr>
            </a:pPr>
            <a:r>
              <a:t>Các Biến Kiểm Soát Bất Biến (Controlled Invariants)</a:t>
            </a:r>
          </a:p>
          <a:p>
            <a:pPr>
              <a:spcBef>
                <a:spcPts val="300"/>
              </a:spcBef>
              <a:defRPr sz="1150">
                <a:solidFill>
                  <a:srgbClr val="0F172A"/>
                </a:solidFill>
                <a:latin typeface="Calibri"/>
              </a:defRPr>
            </a:pPr>
            <a:r>
              <a:t>•  Cùng tập dữ liệu thử nghiệm (exact same telemetry instances); Cùng mô hình và tham số suy luận.</a:t>
            </a:r>
          </a:p>
          <a:p>
            <a:pPr>
              <a:spcBef>
                <a:spcPts val="300"/>
              </a:spcBef>
              <a:defRPr sz="1150">
                <a:solidFill>
                  <a:srgbClr val="0F172A"/>
                </a:solidFill>
                <a:latin typeface="Calibri"/>
              </a:defRPr>
            </a:pPr>
            <a:r>
              <a:t>•  Cùng cấu trúc Prompt (prompts/baseline_v1.txt), chỉ khác biệt ở khối Context được chèn vào.</a:t>
            </a:r>
          </a:p>
          <a:p>
            <a:pPr>
              <a:spcBef>
                <a:spcPts val="300"/>
              </a:spcBef>
              <a:defRPr sz="1150">
                <a:solidFill>
                  <a:srgbClr val="0F172A"/>
                </a:solidFill>
                <a:latin typeface="Calibri"/>
              </a:defRPr>
            </a:pPr>
            <a:r>
              <a:t>•  Biến duy nhất được thay đổi trong toàn bộ nghiên cứu: Retrieval ON vs. 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3. Thiết Kế Dữ Liệu &amp; Giao Thức Chống Rò Rỉ Nhãn</a:t>
            </a:r>
          </a:p>
          <a:p>
            <a:pPr>
              <a:defRPr sz="1300">
                <a:solidFill>
                  <a:srgbClr val="06B6D4"/>
                </a:solidFill>
                <a:latin typeface="Calibri"/>
              </a:defRPr>
            </a:pPr>
            <a:r>
              <a:t>Bộ dữ liệu chuẩn đóng băng Stage B (670 cặp kịch bản, 1,340 views)  |  [CANONICAL CANDIDATE — PENDING ROOT FINAL REVIEW]</a:t>
            </a:r>
          </a:p>
        </p:txBody>
      </p:sp>
      <p:sp>
        <p:nvSpPr>
          <p:cNvPr id="6" name="shape_slide_4_dataset_topology"/>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4_dataset_topology_textbox"/>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Bộ Dữ Liệu Chuẩn Đóng Băng Stage B</a:t>
            </a:r>
          </a:p>
          <a:p>
            <a:pPr>
              <a:spcBef>
                <a:spcPts val="300"/>
              </a:spcBef>
              <a:defRPr sz="1150">
                <a:solidFill>
                  <a:srgbClr val="0F172A"/>
                </a:solidFill>
                <a:latin typeface="Calibri"/>
              </a:defRPr>
            </a:pPr>
            <a:r>
              <a:t>•  Tổng thể: 670 cặp kịch bản (Scenario Pairs) tương ứng 1,340 Views.</a:t>
            </a:r>
          </a:p>
          <a:p>
            <a:pPr>
              <a:spcBef>
                <a:spcPts val="300"/>
              </a:spcBef>
              <a:defRPr sz="1150">
                <a:solidFill>
                  <a:srgbClr val="0F172A"/>
                </a:solidFill>
                <a:latin typeface="Calibri"/>
              </a:defRPr>
            </a:pPr>
            <a:r>
              <a:t>•  Phân chia tập: 1,280 TEST views (718 scorable views across 440 distinct clusters) và 60 DEV views.</a:t>
            </a:r>
          </a:p>
          <a:p>
            <a:pPr>
              <a:spcBef>
                <a:spcPts val="300"/>
              </a:spcBef>
              <a:defRPr sz="1150">
                <a:solidFill>
                  <a:srgbClr val="0F172A"/>
                </a:solidFill>
                <a:latin typeface="Calibri"/>
              </a:defRPr>
            </a:pPr>
            <a:r>
              <a:t>•  Hình thức biểu diễn Telemetry:</a:t>
            </a:r>
          </a:p>
          <a:p>
            <a:pPr>
              <a:spcBef>
                <a:spcPts val="300"/>
              </a:spcBef>
              <a:defRPr sz="1150">
                <a:solidFill>
                  <a:srgbClr val="0F172A"/>
                </a:solidFill>
                <a:latin typeface="Calibri"/>
              </a:defRPr>
            </a:pPr>
            <a:r>
              <a:t>  • Single-event view: Một sự kiện đơn lẻ kích hoạt kỹ thuật tấn công.</a:t>
            </a:r>
          </a:p>
          <a:p>
            <a:pPr>
              <a:spcBef>
                <a:spcPts val="300"/>
              </a:spcBef>
              <a:defRPr sz="1150">
                <a:solidFill>
                  <a:srgbClr val="0F172A"/>
                </a:solidFill>
                <a:latin typeface="Calibri"/>
              </a:defRPr>
            </a:pPr>
            <a:r>
              <a:t>  • Contextual-event view: Sự kiện mục tiêu kèm nhật ký ngữ cảnh lân cận.</a:t>
            </a:r>
          </a:p>
          <a:p>
            <a:pPr>
              <a:spcBef>
                <a:spcPts val="300"/>
              </a:spcBef>
              <a:defRPr sz="1150">
                <a:solidFill>
                  <a:srgbClr val="0F172A"/>
                </a:solidFill>
                <a:latin typeface="Calibri"/>
              </a:defRPr>
            </a:pPr>
            <a:r>
              <a:t>•  Độ bao phủ: 8 nhóm kỹ thuật mục tiêu đại diện cùng các mẫu âm tính / mơ hồ.</a:t>
            </a:r>
          </a:p>
          <a:p>
            <a:pPr>
              <a:spcBef>
                <a:spcPts val="300"/>
              </a:spcBef>
              <a:defRPr sz="1150">
                <a:solidFill>
                  <a:srgbClr val="0F172A"/>
                </a:solidFill>
                <a:latin typeface="Calibri"/>
              </a:defRPr>
            </a:pPr>
            <a:r>
              <a:t>•  Toàn vẹn mật mã: Khóa bằng SHA-256 trong canonical_experiment_lock_v1.json | 278 complete pairs, 162 contextual-only pairs, 200 neither-mapped pairs.</a:t>
            </a:r>
          </a:p>
        </p:txBody>
      </p:sp>
      <p:sp>
        <p:nvSpPr>
          <p:cNvPr id="8" name="shape_slide_4_representations"/>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4_representations_textbox"/>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Giao Thức Chống Rò Rỉ Nhãn (Anti-Label-Leakage)</a:t>
            </a:r>
          </a:p>
          <a:p>
            <a:pPr>
              <a:spcBef>
                <a:spcPts val="300"/>
              </a:spcBef>
              <a:defRPr sz="1150">
                <a:solidFill>
                  <a:srgbClr val="0F172A"/>
                </a:solidFill>
                <a:latin typeface="Calibri"/>
              </a:defRPr>
            </a:pPr>
            <a:r>
              <a:t>•  Nguyên tắc cốt lõi: Tuyệt đối không để lộ nhãn hoặc tri thức luật trong đầu vào suy luận.</a:t>
            </a:r>
          </a:p>
          <a:p>
            <a:pPr>
              <a:spcBef>
                <a:spcPts val="300"/>
              </a:spcBef>
              <a:defRPr sz="1150">
                <a:solidFill>
                  <a:srgbClr val="0F172A"/>
                </a:solidFill>
                <a:latin typeface="Calibri"/>
              </a:defRPr>
            </a:pPr>
            <a:r>
              <a:t>•  Bộ lọc nghiêm ngặt (INFERENCE_ALLOWLIST):</a:t>
            </a:r>
          </a:p>
          <a:p>
            <a:pPr>
              <a:spcBef>
                <a:spcPts val="300"/>
              </a:spcBef>
              <a:defRPr sz="1150">
                <a:solidFill>
                  <a:srgbClr val="0F172A"/>
                </a:solidFill>
                <a:latin typeface="Calibri"/>
              </a:defRPr>
            </a:pPr>
            <a:r>
              <a:t>  • Chỉ giữ lại các trường kỹ thuật thô (CommandLine, ParentImage, Hashes).</a:t>
            </a:r>
          </a:p>
          <a:p>
            <a:pPr>
              <a:spcBef>
                <a:spcPts val="300"/>
              </a:spcBef>
              <a:defRPr sz="1150">
                <a:solidFill>
                  <a:srgbClr val="0F172A"/>
                </a:solidFill>
                <a:latin typeface="Calibri"/>
              </a:defRPr>
            </a:pPr>
            <a:r>
              <a:t>  • Loại bỏ hoàn toàn: technique_id, RuleName, Tactic, Description, Tags.</a:t>
            </a:r>
          </a:p>
          <a:p>
            <a:pPr>
              <a:spcBef>
                <a:spcPts val="300"/>
              </a:spcBef>
              <a:defRPr sz="1150">
                <a:solidFill>
                  <a:srgbClr val="0F172A"/>
                </a:solidFill>
                <a:latin typeface="Calibri"/>
              </a:defRPr>
            </a:pPr>
            <a:r>
              <a:t>•  Đầu vào suy luận (inference.jsonl) chỉ chứa 2 trường duy nhất: sample_id và endpoint_evidence.</a:t>
            </a:r>
          </a:p>
          <a:p>
            <a:pPr>
              <a:spcBef>
                <a:spcPts val="300"/>
              </a:spcBef>
              <a:defRPr sz="1150">
                <a:solidFill>
                  <a:srgbClr val="0F172A"/>
                </a:solidFill>
                <a:latin typeface="Calibri"/>
              </a:defRPr>
            </a:pPr>
            <a:r>
              <a:t>•  Phân định phạm vi: Stage B phục vụ kiểm định kỹ thuật &amp; chẩn đoán lỗi; dữ liệu thực địa (T15 real pilot) được quản lý độc lập.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4. Phương Pháp Luận, Mô Hình Đe Dọa &amp; Giao Thức v1.1</a:t>
            </a:r>
          </a:p>
          <a:p>
            <a:pPr>
              <a:defRPr sz="1300">
                <a:solidFill>
                  <a:srgbClr val="06B6D4"/>
                </a:solidFill>
                <a:latin typeface="Calibri"/>
              </a:defRPr>
            </a:pPr>
            <a:r>
              <a:t>Tách bạch rõ ràng 7 quyết định giao thức khoa học D1-D7 đóng băng  |  [CANONICAL CANDIDATE — PENDING ROOT FINAL REVIEW]</a:t>
            </a:r>
          </a:p>
        </p:txBody>
      </p:sp>
      <p:sp>
        <p:nvSpPr>
          <p:cNvPr id="6" name="shape_slide_5_decision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5_decision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Mô Hình Đe Dọa &amp; Danh Mục ATT&amp;CK v19.2</a:t>
            </a:r>
          </a:p>
          <a:p>
            <a:pPr>
              <a:spcBef>
                <a:spcPts val="250"/>
              </a:spcBef>
              <a:defRPr sz="1100">
                <a:solidFill>
                  <a:srgbClr val="0F172A"/>
                </a:solidFill>
                <a:latin typeface="Calibri"/>
              </a:defRPr>
            </a:pPr>
            <a:r>
              <a:t>•  Tiêu chuẩn danh mục: Pinned MITRE ATT&amp;CK v19.2 Enterprise Windows (474 techniques/sub-techniques).</a:t>
            </a:r>
          </a:p>
          <a:p>
            <a:pPr>
              <a:spcBef>
                <a:spcPts val="250"/>
              </a:spcBef>
              <a:defRPr sz="1100">
                <a:solidFill>
                  <a:srgbClr val="0F172A"/>
                </a:solidFill>
                <a:latin typeface="Calibri"/>
              </a:defRPr>
            </a:pPr>
            <a:r>
              <a:t>•  Chính sách kỹ thuật lịch sử (D2g: ALLOW_HISTORICAL):</a:t>
            </a:r>
          </a:p>
          <a:p>
            <a:pPr>
              <a:spcBef>
                <a:spcPts val="250"/>
              </a:spcBef>
              <a:defRPr sz="1100">
                <a:solidFill>
                  <a:srgbClr val="0F172A"/>
                </a:solidFill>
                <a:latin typeface="Calibri"/>
              </a:defRPr>
            </a:pPr>
            <a:r>
              <a:t>  • Chấp nhận các mã kỹ thuật lịch sử hoặc đã bị thu hồi (revoked/deprecated) có trong bộ kiểm chuẩn.</a:t>
            </a:r>
          </a:p>
          <a:p>
            <a:pPr>
              <a:spcBef>
                <a:spcPts val="250"/>
              </a:spcBef>
              <a:defRPr sz="1100">
                <a:solidFill>
                  <a:srgbClr val="0F172A"/>
                </a:solidFill>
                <a:latin typeface="Calibri"/>
              </a:defRPr>
            </a:pPr>
            <a:r>
              <a:t>  • Báo cáo dưới dạng distinct observation count, không tự ý gán lại (no silent remapping).</a:t>
            </a:r>
          </a:p>
          <a:p>
            <a:pPr>
              <a:spcBef>
                <a:spcPts val="250"/>
              </a:spcBef>
              <a:defRPr sz="1100">
                <a:solidFill>
                  <a:srgbClr val="0F172A"/>
                </a:solidFill>
                <a:latin typeface="Calibri"/>
              </a:defRPr>
            </a:pPr>
            <a:r>
              <a:t>•  Vũ trụ Macro-F1 cố định (D2d: FROZEN_BENCHMARK_UNIVERSE = 474):</a:t>
            </a:r>
          </a:p>
          <a:p>
            <a:pPr>
              <a:spcBef>
                <a:spcPts val="250"/>
              </a:spcBef>
              <a:defRPr sz="1100">
                <a:solidFill>
                  <a:srgbClr val="0F172A"/>
                </a:solidFill>
                <a:latin typeface="Calibri"/>
              </a:defRPr>
            </a:pPr>
            <a:r>
              <a:t>  • Tính Macro-F1 trên đúng 474 lớp kỹ thuật chuẩn đóng băng, đảm bảo nhất quán giữa các lần chạy.</a:t>
            </a:r>
          </a:p>
          <a:p>
            <a:pPr>
              <a:spcBef>
                <a:spcPts val="250"/>
              </a:spcBef>
              <a:defRPr sz="1100">
                <a:solidFill>
                  <a:srgbClr val="0F172A"/>
                </a:solidFill>
                <a:latin typeface="Calibri"/>
              </a:defRPr>
            </a:pPr>
            <a:r>
              <a:t>•  Loại trừ mẫu rỗng / mơ hồ (D2b-c: EXCLUDE):</a:t>
            </a:r>
          </a:p>
          <a:p>
            <a:pPr>
              <a:spcBef>
                <a:spcPts val="250"/>
              </a:spcBef>
              <a:defRPr sz="1100">
                <a:solidFill>
                  <a:srgbClr val="0F172A"/>
                </a:solidFill>
                <a:latin typeface="Calibri"/>
              </a:defRPr>
            </a:pPr>
            <a:r>
              <a:t>  • Mẫu không gán được nhãn hoặc nhãn mơ hồ bị loại khỏi mẫu số Attribution Accuracy.</a:t>
            </a:r>
          </a:p>
          <a:p>
            <a:pPr>
              <a:spcBef>
                <a:spcPts val="250"/>
              </a:spcBef>
              <a:defRPr sz="1100">
                <a:solidFill>
                  <a:srgbClr val="0F172A"/>
                </a:solidFill>
                <a:latin typeface="Calibri"/>
              </a:defRPr>
            </a:pPr>
            <a:r>
              <a:t>•  Lưu vết đầy đủ (D1: RECORD_ONLY): Lưu toàn văn phản hồi thô phục vụ kiểm toán độc lập.</a:t>
            </a:r>
          </a:p>
        </p:txBody>
      </p:sp>
      <p:sp>
        <p:nvSpPr>
          <p:cNvPr id="8" name="shape_slide_5_criteria"/>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5_criteria_textbox"/>
          <p:cNvSpPr txBox="1"/>
          <p:nvPr/>
        </p:nvSpPr>
        <p:spPr>
          <a:xfrm>
            <a:off x="6430975" y="1344168"/>
            <a:ext cx="4846320" cy="4855464"/>
          </a:xfrm>
          <a:prstGeom prst="rect">
            <a:avLst/>
          </a:prstGeom>
          <a:noFill/>
        </p:spPr>
        <p:txBody>
          <a:bodyPr wrap="square">
            <a:spAutoFit/>
          </a:bodyPr>
          <a:lstStyle/>
          <a:p>
            <a:pPr>
              <a:defRPr sz="1600" b="1">
                <a:solidFill>
                  <a:srgbClr val="059669"/>
                </a:solidFill>
                <a:latin typeface="Calibri"/>
              </a:defRPr>
            </a:pPr>
            <a:r>
              <a:t>Các Tiêu Chí Giao Thức Đánh Giá Cốt Lõi</a:t>
            </a:r>
          </a:p>
          <a:p>
            <a:pPr>
              <a:spcBef>
                <a:spcPts val="250"/>
              </a:spcBef>
              <a:defRPr sz="1100">
                <a:solidFill>
                  <a:srgbClr val="0F172A"/>
                </a:solidFill>
                <a:latin typeface="Calibri"/>
              </a:defRPr>
            </a:pPr>
            <a:r>
              <a:t>•  D2h: Multi-GT Retrieval Success (ANY_GT_RETRIEVED):</a:t>
            </a:r>
          </a:p>
          <a:p>
            <a:pPr>
              <a:spcBef>
                <a:spcPts val="250"/>
              </a:spcBef>
              <a:defRPr sz="1100">
                <a:solidFill>
                  <a:srgbClr val="0F172A"/>
                </a:solidFill>
                <a:latin typeface="Calibri"/>
              </a:defRPr>
            </a:pPr>
            <a:r>
              <a:t>  • Retrieval được tính là thành công nếu BẤT KỲ ground-truth technique ID nào có trong Top-k candidates.</a:t>
            </a:r>
          </a:p>
          <a:p>
            <a:pPr>
              <a:spcBef>
                <a:spcPts val="250"/>
              </a:spcBef>
              <a:defRPr sz="1100">
                <a:solidFill>
                  <a:srgbClr val="0F172A"/>
                </a:solidFill>
                <a:latin typeface="Calibri"/>
              </a:defRPr>
            </a:pPr>
            <a:r>
              <a:t>•  D2i: Failure Decomposition (INDEPENDENT_AXES):</a:t>
            </a:r>
          </a:p>
          <a:p>
            <a:pPr>
              <a:spcBef>
                <a:spcPts val="250"/>
              </a:spcBef>
              <a:defRPr sz="1100">
                <a:solidFill>
                  <a:srgbClr val="0F172A"/>
                </a:solidFill>
                <a:latin typeface="Calibri"/>
              </a:defRPr>
            </a:pPr>
            <a:r>
              <a:t>  • Bóc tách lỗi thành các trục đo lường độc lập; ghi nhận đầy đủ phần giao thoa khác 0 (non-zero overlap).</a:t>
            </a:r>
          </a:p>
          <a:p>
            <a:pPr>
              <a:spcBef>
                <a:spcPts val="250"/>
              </a:spcBef>
              <a:defRPr sz="1100">
                <a:solidFill>
                  <a:srgbClr val="0F172A"/>
                </a:solidFill>
                <a:latin typeface="Calibri"/>
              </a:defRPr>
            </a:pPr>
            <a:r>
              <a:t>•  D2e: Invalid ID Denominator (invalid_id_as_failure / INCLUDE_IN_DENOMINATOR):</a:t>
            </a:r>
          </a:p>
          <a:p>
            <a:pPr>
              <a:spcBef>
                <a:spcPts val="250"/>
              </a:spcBef>
              <a:defRPr sz="1100">
                <a:solidFill>
                  <a:srgbClr val="0F172A"/>
                </a:solidFill>
                <a:latin typeface="Calibri"/>
              </a:defRPr>
            </a:pPr>
            <a:r>
              <a:t>  • Mã kỹ thuật ảo giác, sai cú pháp đều bị tính là thất bại trong mẫu số end-to-end (Fail-Closed).</a:t>
            </a:r>
          </a:p>
          <a:p>
            <a:pPr>
              <a:spcBef>
                <a:spcPts val="250"/>
              </a:spcBef>
              <a:defRPr sz="1100">
                <a:solidFill>
                  <a:srgbClr val="0F172A"/>
                </a:solidFill>
                <a:latin typeface="Calibri"/>
              </a:defRPr>
            </a:pPr>
            <a:r>
              <a:t>•  D2f: Provider Failure Denominator (api_failure_as_failure / INCLUDE_IN_DENOMINATOR):</a:t>
            </a:r>
          </a:p>
          <a:p>
            <a:pPr>
              <a:spcBef>
                <a:spcPts val="250"/>
              </a:spcBef>
              <a:defRPr sz="1100">
                <a:solidFill>
                  <a:srgbClr val="0F172A"/>
                </a:solidFill>
                <a:latin typeface="Calibri"/>
              </a:defRPr>
            </a:pPr>
            <a:r>
              <a:t>  • Lỗi API, timeout, refusal đều tính vào mẫu số thất bại end-to-end, không được loại trừ.</a:t>
            </a:r>
          </a:p>
          <a:p>
            <a:pPr>
              <a:spcBef>
                <a:spcPts val="250"/>
              </a:spcBef>
              <a:defRPr sz="1100">
                <a:solidFill>
                  <a:srgbClr val="0F172A"/>
                </a:solidFill>
                <a:latin typeface="Calibri"/>
              </a:defRPr>
            </a:pPr>
            <a:r>
              <a:t>•  D3: Khóa mô hình: ALLOW_LATEST_WITH_TIMESTAMP_BINDING (tem UTC thực tế).</a:t>
            </a:r>
          </a:p>
          <a:p>
            <a:pPr>
              <a:spcBef>
                <a:spcPts val="250"/>
              </a:spcBef>
              <a:defRPr sz="1100">
                <a:solidFill>
                  <a:srgbClr val="0F172A"/>
                </a:solidFill>
                <a:latin typeface="Calibri"/>
              </a:defRPr>
            </a:pPr>
            <a:r>
              <a:t>•  D4-D5: Thực thi tuần tự (SEQUENTIAL_ONLY), chặn cứng ngân sách (HARD_CAP).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5. Kết Quả RQ2: Chẩn Đoán Khâu Truy Xuất (Retrieval Quality)</a:t>
            </a:r>
          </a:p>
          <a:p>
            <a:pPr>
              <a:defRPr sz="1300">
                <a:solidFill>
                  <a:srgbClr val="06B6D4"/>
                </a:solidFill>
                <a:latin typeface="Calibri"/>
              </a:defRPr>
            </a:pPr>
            <a:r>
              <a:t>Đánh giá độc lập bộ tìm kiếm trên 718 positive scorable views của benchmark  |  [CANONICAL CANDIDATE — PENDING ROOT FINAL REVIEW]</a:t>
            </a:r>
          </a:p>
        </p:txBody>
      </p:sp>
      <p:sp>
        <p:nvSpPr>
          <p:cNvPr id="6" name="shape_slide_6_retrieval_diagnostic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6_retrieval_diagnostic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Số Liệu Chẩn Đoán Cốt Lõi (TEST N=718)</a:t>
            </a:r>
          </a:p>
          <a:p>
            <a:pPr>
              <a:spcBef>
                <a:spcPts val="300"/>
              </a:spcBef>
              <a:defRPr sz="1150">
                <a:solidFill>
                  <a:srgbClr val="0F172A"/>
                </a:solidFill>
                <a:latin typeface="Calibri"/>
              </a:defRPr>
            </a:pPr>
            <a:r>
              <a:t>•  Số mẫu dương tính đánh giá: 718 / 1,280 views.</a:t>
            </a:r>
          </a:p>
          <a:p>
            <a:pPr>
              <a:spcBef>
                <a:spcPts val="300"/>
              </a:spcBef>
              <a:defRPr sz="1150">
                <a:solidFill>
                  <a:srgbClr val="0F172A"/>
                </a:solidFill>
                <a:latin typeface="Calibri"/>
              </a:defRPr>
            </a:pPr>
            <a:r>
              <a:t>•  Tỷ lệ tìm trúng theo độ sâu k (Hit@k):</a:t>
            </a:r>
          </a:p>
          <a:p>
            <a:pPr>
              <a:spcBef>
                <a:spcPts val="300"/>
              </a:spcBef>
              <a:defRPr sz="1150">
                <a:solidFill>
                  <a:srgbClr val="0F172A"/>
                </a:solidFill>
                <a:latin typeface="Calibri"/>
              </a:defRPr>
            </a:pPr>
            <a:r>
              <a:t>  • Hit@1:   3.76% (27 / 718)</a:t>
            </a:r>
          </a:p>
          <a:p>
            <a:pPr>
              <a:spcBef>
                <a:spcPts val="300"/>
              </a:spcBef>
              <a:defRPr sz="1150">
                <a:solidFill>
                  <a:srgbClr val="0F172A"/>
                </a:solidFill>
                <a:latin typeface="Calibri"/>
              </a:defRPr>
            </a:pPr>
            <a:r>
              <a:t>  • Hit@3:  16.43% (118 / 718)</a:t>
            </a:r>
          </a:p>
          <a:p>
            <a:pPr>
              <a:spcBef>
                <a:spcPts val="300"/>
              </a:spcBef>
              <a:defRPr sz="1150">
                <a:solidFill>
                  <a:srgbClr val="0F172A"/>
                </a:solidFill>
                <a:latin typeface="Calibri"/>
              </a:defRPr>
            </a:pPr>
            <a:r>
              <a:t>  • Hit@5:  24.09% (173 / 718)</a:t>
            </a:r>
          </a:p>
          <a:p>
            <a:pPr>
              <a:spcBef>
                <a:spcPts val="300"/>
              </a:spcBef>
              <a:defRPr sz="1150">
                <a:solidFill>
                  <a:srgbClr val="0F172A"/>
                </a:solidFill>
                <a:latin typeface="Calibri"/>
              </a:defRPr>
            </a:pPr>
            <a:r>
              <a:t>  • Hit@10: 44.71% (321 / 718)</a:t>
            </a:r>
          </a:p>
          <a:p>
            <a:pPr>
              <a:spcBef>
                <a:spcPts val="300"/>
              </a:spcBef>
              <a:defRPr sz="1150">
                <a:solidFill>
                  <a:srgbClr val="0F172A"/>
                </a:solidFill>
                <a:latin typeface="Calibri"/>
              </a:defRPr>
            </a:pPr>
            <a:r>
              <a:t>•  Tỷ lệ vắng mặt trong Top-10 (Retrieval Miss): 55.29% (397 / 718).</a:t>
            </a:r>
          </a:p>
          <a:p>
            <a:pPr>
              <a:spcBef>
                <a:spcPts val="300"/>
              </a:spcBef>
              <a:defRPr sz="1150">
                <a:solidFill>
                  <a:srgbClr val="0F172A"/>
                </a:solidFill>
                <a:latin typeface="Calibri"/>
              </a:defRPr>
            </a:pPr>
            <a:r>
              <a:t>•  Macro Recall@10: 42.80%  |  Độ phủ Top-10: Hit@10=44.71%.</a:t>
            </a:r>
          </a:p>
          <a:p>
            <a:pPr>
              <a:spcBef>
                <a:spcPts val="300"/>
              </a:spcBef>
              <a:defRPr sz="1150">
                <a:solidFill>
                  <a:srgbClr val="0F172A"/>
                </a:solidFill>
                <a:latin typeface="Calibri"/>
              </a:defRPr>
            </a:pPr>
            <a:r>
              <a:t>•  Phát hiện: Trong hơn 55% trường hợp (397/718), kỹ thuật đúng hoàn toàn vắng bóng trong Top-10 gửi cho LLM!</a:t>
            </a:r>
          </a:p>
        </p:txBody>
      </p:sp>
      <p:pic>
        <p:nvPicPr>
          <p:cNvPr id="8" name="Picture 7" descr="image.png"/>
          <p:cNvPicPr>
            <a:picLocks noChangeAspect="1"/>
          </p:cNvPicPr>
          <p:nvPr/>
        </p:nvPicPr>
        <p:blipFill>
          <a:blip r:embed="rId2"/>
          <a:stretch>
            <a:fillRect/>
          </a:stretch>
        </p:blipFill>
        <p:spPr>
          <a:xfrm>
            <a:off x="6248095" y="1234440"/>
            <a:ext cx="5212080" cy="3127248"/>
          </a:xfrm>
          <a:prstGeom prst="rect">
            <a:avLst/>
          </a:prstGeom>
        </p:spPr>
      </p:pic>
      <p:sp>
        <p:nvSpPr>
          <p:cNvPr id="9" name="shape_slide_6_context_scaling"/>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hape_slide_6_context_scaling_textbox"/>
          <p:cNvSpPr txBox="1"/>
          <p:nvPr/>
        </p:nvSpPr>
        <p:spPr>
          <a:xfrm>
            <a:off x="6430975" y="4636008"/>
            <a:ext cx="4846320" cy="1563624"/>
          </a:xfrm>
          <a:prstGeom prst="rect">
            <a:avLst/>
          </a:prstGeom>
          <a:noFill/>
        </p:spPr>
        <p:txBody>
          <a:bodyPr wrap="square">
            <a:spAutoFit/>
          </a:bodyPr>
          <a:lstStyle/>
          <a:p>
            <a:pPr>
              <a:defRPr sz="1600" b="1">
                <a:solidFill>
                  <a:srgbClr val="DC2626"/>
                </a:solidFill>
                <a:latin typeface="Calibri"/>
              </a:defRPr>
            </a:pPr>
            <a:r>
              <a:t>Giả Thuyết Context Scaling &amp; Dilution (k=1,3,5,10)</a:t>
            </a:r>
          </a:p>
          <a:p>
            <a:pPr>
              <a:spcBef>
                <a:spcPts val="250"/>
              </a:spcBef>
              <a:defRPr sz="1050">
                <a:solidFill>
                  <a:srgbClr val="0F172A"/>
                </a:solidFill>
                <a:latin typeface="Calibri"/>
              </a:defRPr>
            </a:pPr>
            <a:r>
              <a:t>•  Khoảng cách ngữ nghĩa tại T1136.001 (Local Account): Quan sát thấy 0/95 lượt trúng Top-10 đi kèm sự khác biệt từ vựng giữa raw event log và nhãn STIX (giả thuyết từ vựng / lexical divergence hypothesis, không khẳng định quan hệ nhân quả).</a:t>
            </a:r>
          </a:p>
          <a:p>
            <a:pPr>
              <a:spcBef>
                <a:spcPts val="250"/>
              </a:spcBef>
              <a:defRPr sz="1050">
                <a:solidFill>
                  <a:srgbClr val="0F172A"/>
                </a:solidFill>
                <a:latin typeface="Calibri"/>
              </a:defRPr>
            </a:pPr>
            <a:r>
              <a:t>•  Giả thuyết Context Scaling &amp; Dilution: Tăng k tăng độ phủ (Hit@k) nhưng tăng nguy cơ nhiễu distractor; đang được kiểm chứng đối chứng trên ma trận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6. Phân Tích Lỗi Khâu Truy Xuất &amp; Chẩn Đoán Có Điều Kiện (RQ2)</a:t>
            </a:r>
          </a:p>
          <a:p>
            <a:pPr>
              <a:defRPr sz="1300">
                <a:solidFill>
                  <a:srgbClr val="06B6D4"/>
                </a:solidFill>
                <a:latin typeface="Calibri"/>
              </a:defRPr>
            </a:pPr>
            <a:r>
              <a:t>Đo lường tương quan quan sát giữa thành công truy xuất và độ chính xác phân loại trên 718 views TEST  |  [CANONICAL CANDIDATE — PENDING ROOT FINAL REVIEW]</a:t>
            </a:r>
          </a:p>
        </p:txBody>
      </p:sp>
      <p:sp>
        <p:nvSpPr>
          <p:cNvPr id="6" name="shape_slide_7_paired_analysi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7_paired_analysis_textbox"/>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Chẩn Đoán Có Điều Kiện Theo Khâu Truy Xuất (TEST N=718)</a:t>
            </a:r>
          </a:p>
          <a:p>
            <a:pPr>
              <a:spcBef>
                <a:spcPts val="300"/>
              </a:spcBef>
              <a:defRPr sz="1100">
                <a:solidFill>
                  <a:srgbClr val="0F172A"/>
                </a:solidFill>
                <a:latin typeface="Calibri"/>
              </a:defRPr>
            </a:pPr>
            <a:r>
              <a:t>•  Kỹ thuật GT có mặt trong Top-10 (Retrieval Success): N=321 (44.71%)</a:t>
            </a:r>
          </a:p>
          <a:p>
            <a:pPr>
              <a:spcBef>
                <a:spcPts val="300"/>
              </a:spcBef>
              <a:defRPr sz="1100">
                <a:solidFill>
                  <a:srgbClr val="0F172A"/>
                </a:solidFill>
                <a:latin typeface="Calibri"/>
              </a:defRPr>
            </a:pPr>
            <a:r>
              <a:t>  • P(Đúng | Đã truy xuất): 91.28% (293/321 views được gán đúng).</a:t>
            </a:r>
          </a:p>
          <a:p>
            <a:pPr>
              <a:spcBef>
                <a:spcPts val="300"/>
              </a:spcBef>
              <a:defRPr sz="1100">
                <a:solidFill>
                  <a:srgbClr val="0F172A"/>
                </a:solidFill>
                <a:latin typeface="Calibri"/>
              </a:defRPr>
            </a:pPr>
            <a:r>
              <a:t>•  Kỹ thuật GT vắng mặt trong Top-10 (Retrieval Miss): N=397 (55.29%)</a:t>
            </a:r>
          </a:p>
          <a:p>
            <a:pPr>
              <a:spcBef>
                <a:spcPts val="300"/>
              </a:spcBef>
              <a:defRPr sz="1100">
                <a:solidFill>
                  <a:srgbClr val="0F172A"/>
                </a:solidFill>
                <a:latin typeface="Calibri"/>
              </a:defRPr>
            </a:pPr>
            <a:r>
              <a:t>  • P(Đúng | Vắng mặt): 70.03% (278/397 views gán đúng khi không có tài liệu ground-truth trong Top-10).</a:t>
            </a:r>
          </a:p>
          <a:p>
            <a:pPr>
              <a:spcBef>
                <a:spcPts val="300"/>
              </a:spcBef>
              <a:defRPr sz="1100">
                <a:solidFill>
                  <a:srgbClr val="0F172A"/>
                </a:solidFill>
                <a:latin typeface="Calibri"/>
              </a:defRPr>
            </a:pPr>
            <a:r>
              <a:t>•  Khoảng chênh lệch quan sát: +21.25 pp (91.28% vs 70.03%) cho thấy sự hiện diện của ngữ cảnh gắn liền với tỷ lệ gán đúng cao hơn.</a:t>
            </a:r>
          </a:p>
          <a:p>
            <a:pPr>
              <a:spcBef>
                <a:spcPts val="300"/>
              </a:spcBef>
              <a:defRPr sz="1100">
                <a:solidFill>
                  <a:srgbClr val="0F172A"/>
                </a:solidFill>
                <a:latin typeface="Calibri"/>
              </a:defRPr>
            </a:pPr>
            <a:r>
              <a:t>•  Nguyên tắc suy luận: Trình bày thuần túy dưới dạng tương quan quan sát (observational association), không suy diễn quan hệ nhân quả tuyệt đối.</a:t>
            </a:r>
          </a:p>
        </p:txBody>
      </p:sp>
      <p:sp>
        <p:nvSpPr>
          <p:cNvPr id="8" name="shape_slide_7_benign_drift"/>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7_benign_drift_textbox"/>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Bóc Tách Lỗi &amp; Phần Giao Thoa Độc Lập Theo Định Đề D2i</a:t>
            </a:r>
          </a:p>
          <a:p>
            <a:pPr>
              <a:spcBef>
                <a:spcPts val="250"/>
              </a:spcBef>
              <a:defRPr sz="1050">
                <a:solidFill>
                  <a:srgbClr val="0F172A"/>
                </a:solidFill>
                <a:latin typeface="Calibri"/>
              </a:defRPr>
            </a:pPr>
            <a:r>
              <a:t>•  Tổng số lỗi phân loại tại k=10: 147 views (718 - 571 = 147).</a:t>
            </a:r>
          </a:p>
          <a:p>
            <a:pPr>
              <a:spcBef>
                <a:spcPts val="250"/>
              </a:spcBef>
              <a:defRPr sz="1050">
                <a:solidFill>
                  <a:srgbClr val="0F172A"/>
                </a:solidFill>
                <a:latin typeface="Calibri"/>
              </a:defRPr>
            </a:pPr>
            <a:r>
              <a:t>•  Phần giao thoa lỗi (Joint Overlap per D2i): 119 / 147 (80.95% tổng lỗi phân loại) xảy ra khi retrieval trượt Top-10.</a:t>
            </a:r>
          </a:p>
          <a:p>
            <a:pPr>
              <a:spcBef>
                <a:spcPts val="250"/>
              </a:spcBef>
              <a:defRPr sz="1050">
                <a:solidFill>
                  <a:srgbClr val="0F172A"/>
                </a:solidFill>
                <a:latin typeface="Calibri"/>
              </a:defRPr>
            </a:pPr>
            <a:r>
              <a:t>•  Lỗi khi retrieval thành công: 28 / 147 (19.05% tổng lỗi phân loại) mô hình chọn sai kỹ thuật dù kỹ thuật đúng có trong Top-10 (giả thuyết nhầm lẫn downstream / distractor effect đang được khảo sát).</a:t>
            </a:r>
          </a:p>
          <a:p>
            <a:pPr>
              <a:spcBef>
                <a:spcPts val="250"/>
              </a:spcBef>
              <a:defRPr sz="1050">
                <a:solidFill>
                  <a:srgbClr val="0F172A"/>
                </a:solidFill>
                <a:latin typeface="Calibri"/>
              </a:defRPr>
            </a:pPr>
            <a:r>
              <a:t>•  Tuân thủ định đề D2i: Ghi nhận đầy đủ phần giao thoa khác 0 giữa các trục đo lường lỗi độc lập, không áp đặt giả định xung khắc hay độc lập xác suất ngẫu nhiên.</a:t>
            </a:r>
          </a:p>
          <a:p>
            <a:pPr>
              <a:spcBef>
                <a:spcPts val="250"/>
              </a:spcBef>
              <a:defRPr sz="1050">
                <a:solidFill>
                  <a:srgbClr val="0F172A"/>
                </a:solidFill>
                <a:latin typeface="Calibri"/>
              </a:defRPr>
            </a:pPr>
            <a:r>
              <a:t>•  Schema So Sánh Đối Chứng Scaffold: Không sử dụng prompt scaffold trong giao thức chuẩn tắc.</a:t>
            </a:r>
          </a:p>
          <a:p>
            <a:pPr>
              <a:spcBef>
                <a:spcPts val="250"/>
              </a:spcBef>
              <a:defRPr sz="1050">
                <a:solidFill>
                  <a:srgbClr val="0F172A"/>
                </a:solidFill>
                <a:latin typeface="Calibri"/>
              </a:defRPr>
            </a:pPr>
            <a:r>
              <a:t>•  Ranh giới an toàn: Không xuất hiện lỗi API hay lỗi cú pháp mã kỹ thuật trên tập scorable (0 terminal provider failures, 0 invalid IDs).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7. Khung Đánh Giá End-to-End (RQ1) &amp; Phân Rã Lỗi Độc Lập D2i (RQ2)</a:t>
            </a:r>
          </a:p>
          <a:p>
            <a:pPr>
              <a:defRPr sz="1300">
                <a:solidFill>
                  <a:srgbClr val="06B6D4"/>
                </a:solidFill>
                <a:latin typeface="Calibri"/>
              </a:defRPr>
            </a:pPr>
            <a:r>
              <a:t>Bóc tách độc lập giữa năng lực truy xuất và phân loại theo định đề D2i (Independent Axes)  |  [CANONICAL CANDIDATE — PENDING ROOT FINAL REVIEW]</a:t>
            </a:r>
          </a:p>
        </p:txBody>
      </p:sp>
      <p:sp>
        <p:nvSpPr>
          <p:cNvPr id="6" name="shape_slide_8_d2i_axes"/>
          <p:cNvSpPr/>
          <p:nvPr/>
        </p:nvSpPr>
        <p:spPr>
          <a:xfrm>
            <a:off x="731520" y="118872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8_d2i_axes_textbox"/>
          <p:cNvSpPr txBox="1"/>
          <p:nvPr/>
        </p:nvSpPr>
        <p:spPr>
          <a:xfrm>
            <a:off x="914400" y="1298448"/>
            <a:ext cx="10362895" cy="1655063"/>
          </a:xfrm>
          <a:prstGeom prst="rect">
            <a:avLst/>
          </a:prstGeom>
          <a:noFill/>
        </p:spPr>
        <p:txBody>
          <a:bodyPr wrap="square">
            <a:spAutoFit/>
          </a:bodyPr>
          <a:lstStyle/>
          <a:p>
            <a:pPr>
              <a:defRPr sz="1600" b="1">
                <a:solidFill>
                  <a:srgbClr val="1E40AF"/>
                </a:solidFill>
                <a:latin typeface="Calibri"/>
              </a:defRPr>
            </a:pPr>
            <a:r>
              <a:t>Mô Hình Phân Rã Lỗi Độc Lập Theo Định Đề D2i (RQ2 Error Decomposition)</a:t>
            </a:r>
          </a:p>
          <a:p>
            <a:pPr>
              <a:spcBef>
                <a:spcPts val="250"/>
              </a:spcBef>
              <a:defRPr sz="1100">
                <a:solidFill>
                  <a:srgbClr val="0F172A"/>
                </a:solidFill>
                <a:latin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a:pPr>
              <a:spcBef>
                <a:spcPts val="250"/>
              </a:spcBef>
              <a:defRPr sz="1100">
                <a:solidFill>
                  <a:srgbClr val="0F172A"/>
                </a:solidFill>
                <a:latin typeface="Calibri"/>
              </a:defRPr>
            </a:pPr>
            <a:r>
              <a:t>•  Trục 1 - Retrieval Miss Rate: 1 - Hit@k (kỹ thuật ground-truth vắng mặt trong Top-k theo tiêu chí D2h ANY_MATCH).</a:t>
            </a:r>
          </a:p>
          <a:p>
            <a:pPr>
              <a:spcBef>
                <a:spcPts val="250"/>
              </a:spcBef>
              <a:defRPr sz="1100">
                <a:solidFill>
                  <a:srgbClr val="0F172A"/>
                </a:solidFill>
                <a:latin typeface="Calibri"/>
              </a:defRPr>
            </a:pPr>
            <a:r>
              <a:t>•  Trục 2 - Downstream Generation Failure: mô hình phát sinh invalid ATT&amp;CK ID (D2e), gặp lỗi provider (D2f), hoặc chọn sai kỹ thuật dù đã được cung cấp.</a:t>
            </a:r>
          </a:p>
          <a:p>
            <a:pPr>
              <a:spcBef>
                <a:spcPts val="250"/>
              </a:spcBef>
              <a:defRPr sz="1100">
                <a:solidFill>
                  <a:srgbClr val="0F172A"/>
                </a:solidFill>
                <a:latin typeface="Calibri"/>
              </a:defRPr>
            </a:pPr>
            <a:r>
              <a:t>•  Trục 3 - Joint Overlap: ghi nhận rõ các bản ghi retrieval trượt ĐỒNG THỜI mô hình hallucinate/phân loại sai, không áp đặt thứ tự loại trừ nhân tạo.</a:t>
            </a:r>
          </a:p>
        </p:txBody>
      </p:sp>
      <p:sp>
        <p:nvSpPr>
          <p:cNvPr id="8" name="shape_slide_8_conditional_accuracy"/>
          <p:cNvSpPr/>
          <p:nvPr/>
        </p:nvSpPr>
        <p:spPr>
          <a:xfrm>
            <a:off x="731520"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8_conditional_accuracy_textbox"/>
          <p:cNvSpPr txBox="1"/>
          <p:nvPr/>
        </p:nvSpPr>
        <p:spPr>
          <a:xfrm>
            <a:off x="914400" y="3310128"/>
            <a:ext cx="4846320" cy="2889504"/>
          </a:xfrm>
          <a:prstGeom prst="rect">
            <a:avLst/>
          </a:prstGeom>
          <a:noFill/>
        </p:spPr>
        <p:txBody>
          <a:bodyPr wrap="square">
            <a:spAutoFit/>
          </a:bodyPr>
          <a:lstStyle/>
          <a:p>
            <a:pPr>
              <a:defRPr sz="1600" b="1">
                <a:solidFill>
                  <a:srgbClr val="2563EB"/>
                </a:solidFill>
                <a:latin typeface="Calibri"/>
              </a:defRPr>
            </a:pPr>
            <a:r>
              <a:t>Các Thước Đo Có Điều Kiện &amp; Hiệu Năng RQ1</a:t>
            </a:r>
          </a:p>
          <a:p>
            <a:pPr>
              <a:spcBef>
                <a:spcPts val="150"/>
              </a:spcBef>
              <a:defRPr sz="1000">
                <a:solidFill>
                  <a:srgbClr val="0F172A"/>
                </a:solidFill>
                <a:latin typeface="Calibri"/>
              </a:defRPr>
            </a:pPr>
            <a:r>
              <a:t>•  Mẫu số đánh giá chuẩn: N=718 scorable views (trên 440 distinct clusters).</a:t>
            </a:r>
          </a:p>
          <a:p>
            <a:pPr>
              <a:spcBef>
                <a:spcPts val="150"/>
              </a:spcBef>
              <a:defRPr sz="1000">
                <a:solidFill>
                  <a:srgbClr val="0F172A"/>
                </a:solidFill>
                <a:latin typeface="Calibri"/>
              </a:defRPr>
            </a:pPr>
            <a:r>
              <a:t>•  P(Correct | GT in Top-k): Đánh giá khi retrieval trúng: N=321 (91.28% gán đúng, 293/321).</a:t>
            </a:r>
          </a:p>
          <a:p>
            <a:pPr>
              <a:spcBef>
                <a:spcPts val="150"/>
              </a:spcBef>
              <a:defRPr sz="1000">
                <a:solidFill>
                  <a:srgbClr val="0F172A"/>
                </a:solidFill>
                <a:latin typeface="Calibri"/>
              </a:defRPr>
            </a:pPr>
            <a:r>
              <a:t>•  P(Correct | GT NOT in Top-k): Đánh giá khi retrieval trượt: N=397 (70.03% gán đúng, 278/397).</a:t>
            </a:r>
          </a:p>
          <a:p>
            <a:pPr>
              <a:spcBef>
                <a:spcPts val="150"/>
              </a:spcBef>
              <a:defRPr sz="1000">
                <a:solidFill>
                  <a:srgbClr val="0F172A"/>
                </a:solidFill>
                <a:latin typeface="Calibri"/>
              </a:defRPr>
            </a:pPr>
            <a:r>
              <a:t>•  Fail-Closed Invariant: Mẫu lỗi API (D2f) hay mã sai cú pháp (D2e) tính vào mẫu số.</a:t>
            </a:r>
          </a:p>
          <a:p>
            <a:pPr>
              <a:spcBef>
                <a:spcPts val="150"/>
              </a:spcBef>
              <a:defRPr sz="1000">
                <a:solidFill>
                  <a:srgbClr val="0F172A"/>
                </a:solidFill>
                <a:latin typeface="Calibri"/>
              </a:defRPr>
            </a:pPr>
            <a:r>
              <a:t>•  Macro-F1 (vũ trụ 474 lớp D2d FROZEN_BENCHMARK_UNIVERSE): No-RAG 0.0126 vs RAG k=10 0.0140 (Delta +0.0014; 8 supported classes, 466 zero-support classes).</a:t>
            </a:r>
          </a:p>
          <a:p>
            <a:pPr>
              <a:spcBef>
                <a:spcPts val="150"/>
              </a:spcBef>
              <a:defRPr sz="1000">
                <a:solidFill>
                  <a:srgbClr val="0F172A"/>
                </a:solidFill>
                <a:latin typeface="Calibri"/>
              </a:defRPr>
            </a:pPr>
            <a:r>
              <a:t>•  So sánh đối chứng RAG k=10 vs No-RAG: Delta +1.532 pp (79.53% [571/718] vs 77.99% [560/718]), 95% CI [-2.355, +5.300] pp (chứa 0), McNemar p = 0.4219 (hiển thị 0.422).</a:t>
            </a:r>
          </a:p>
          <a:p>
            <a:pPr>
              <a:spcBef>
                <a:spcPts val="150"/>
              </a:spcBef>
              <a:defRPr sz="1000">
                <a:solidFill>
                  <a:srgbClr val="0F172A"/>
                </a:solidFill>
                <a:latin typeface="Calibri"/>
              </a:defRPr>
            </a:pPr>
            <a:r>
              <a:t>•  Diễn giải học thuật: RAG k=10 đạt độ chính xác quan sát được cao nhất trong thử nghiệm kèm độ bất định (không kết luận vượt trội thống kê).</a:t>
            </a:r>
          </a:p>
        </p:txBody>
      </p:sp>
      <p:sp>
        <p:nvSpPr>
          <p:cNvPr id="10" name="shape_slide_8_rq1_attribution"/>
          <p:cNvSpPr/>
          <p:nvPr/>
        </p:nvSpPr>
        <p:spPr>
          <a:xfrm>
            <a:off x="6248095"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8_rq1_attribution_textbox"/>
          <p:cNvSpPr txBox="1"/>
          <p:nvPr/>
        </p:nvSpPr>
        <p:spPr>
          <a:xfrm>
            <a:off x="6430975" y="3310128"/>
            <a:ext cx="4846320" cy="2889504"/>
          </a:xfrm>
          <a:prstGeom prst="rect">
            <a:avLst/>
          </a:prstGeom>
          <a:noFill/>
        </p:spPr>
        <p:txBody>
          <a:bodyPr wrap="square">
            <a:spAutoFit/>
          </a:bodyPr>
          <a:lstStyle/>
          <a:p>
            <a:pPr>
              <a:defRPr sz="1600" b="1">
                <a:solidFill>
                  <a:srgbClr val="DC2626"/>
                </a:solidFill>
                <a:latin typeface="Calibri"/>
              </a:defRPr>
            </a:pPr>
            <a:r>
              <a:t>Bảng Đối Chứng 5 Điều Kiện (RQ1 N=718)</a:t>
            </a:r>
          </a:p>
          <a:p>
            <a:pPr>
              <a:spcBef>
                <a:spcPts val="150"/>
              </a:spcBef>
              <a:defRPr sz="1000">
                <a:solidFill>
                  <a:srgbClr val="0F172A"/>
                </a:solidFill>
                <a:latin typeface="Calibri"/>
              </a:defRPr>
            </a:pPr>
            <a:r>
              <a:t>•  Bảng tổng hợp đối chứng 5 điều kiện (vũ trụ 474 lớp D2d):</a:t>
            </a:r>
          </a:p>
          <a:p>
            <a:pPr>
              <a:spcBef>
                <a:spcPts val="150"/>
              </a:spcBef>
              <a:defRPr sz="1000">
                <a:solidFill>
                  <a:srgbClr val="0F172A"/>
                </a:solidFill>
                <a:latin typeface="Calibri"/>
              </a:defRPr>
            </a:pPr>
            <a:r>
              <a:t>  • No-RAG:    77.99% (560/718) | Macro-F1: 0.0126 (Baseline)</a:t>
            </a:r>
          </a:p>
          <a:p>
            <a:pPr>
              <a:spcBef>
                <a:spcPts val="150"/>
              </a:spcBef>
              <a:defRPr sz="1000">
                <a:solidFill>
                  <a:srgbClr val="0F172A"/>
                </a:solidFill>
                <a:latin typeface="Calibri"/>
              </a:defRPr>
            </a:pPr>
            <a:r>
              <a:t>  • RAG (k=1):  77.02% (553/718) | Macro-F1: 0.0127 | p = 0.435</a:t>
            </a:r>
          </a:p>
          <a:p>
            <a:pPr>
              <a:spcBef>
                <a:spcPts val="150"/>
              </a:spcBef>
              <a:defRPr sz="1000">
                <a:solidFill>
                  <a:srgbClr val="0F172A"/>
                </a:solidFill>
                <a:latin typeface="Calibri"/>
              </a:defRPr>
            </a:pPr>
            <a:r>
              <a:t>  • RAG (k=3):  78.55% (564/718) | Macro-F1: 0.0136 | p = 0.777</a:t>
            </a:r>
          </a:p>
          <a:p>
            <a:pPr>
              <a:spcBef>
                <a:spcPts val="150"/>
              </a:spcBef>
              <a:defRPr sz="1000">
                <a:solidFill>
                  <a:srgbClr val="0F172A"/>
                </a:solidFill>
                <a:latin typeface="Calibri"/>
              </a:defRPr>
            </a:pPr>
            <a:r>
              <a:t>  • RAG (k=5):  78.83% (566/718) | Macro-F1: 0.0139 | p = 0.677</a:t>
            </a:r>
          </a:p>
          <a:p>
            <a:pPr>
              <a:spcBef>
                <a:spcPts val="150"/>
              </a:spcBef>
              <a:defRPr sz="1000">
                <a:solidFill>
                  <a:srgbClr val="0F172A"/>
                </a:solidFill>
                <a:latin typeface="Calibri"/>
              </a:defRPr>
            </a:pPr>
            <a:r>
              <a:t>  • RAG (k=10): 79.53% (571/718) | Macro-F1: 0.0140 | Delta: +1.532 pp | p = 0.422</a:t>
            </a:r>
          </a:p>
          <a:p>
            <a:pPr>
              <a:spcBef>
                <a:spcPts val="150"/>
              </a:spcBef>
              <a:defRPr sz="1000">
                <a:solidFill>
                  <a:srgbClr val="0F172A"/>
                </a:solidFill>
                <a:latin typeface="Calibri"/>
              </a:defRPr>
            </a:pPr>
            <a:r>
              <a:t>•  Ranh giới ngoại lệ: 1 physical API retry thành công; 0 terminal provider failure trên 3,590 scorable records; 13 terminal incomplete trên 6,400 requests.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8. Tiêu Thụ Tài Nguyên &amp; Chi Phí Thực Nghiệm (RQ3)</a:t>
            </a:r>
          </a:p>
          <a:p>
            <a:pPr>
              <a:defRPr sz="1300">
                <a:solidFill>
                  <a:srgbClr val="06B6D4"/>
                </a:solidFill>
                <a:latin typeface="Calibri"/>
              </a:defRPr>
            </a:pPr>
            <a:r>
              <a:t>Hạch toán tài chính toàn nghiên cứu, đánh đổi token-chi phí và kiểm soát ngân sách  |  [CANONICAL CANDIDATE — PENDING ROOT FINAL REVIEW]</a:t>
            </a:r>
          </a:p>
        </p:txBody>
      </p:sp>
      <p:sp>
        <p:nvSpPr>
          <p:cNvPr id="6" name="shape_slide_9_rq3_resources"/>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9_rq3_resources_textbox"/>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Hạch Toán Tài Chính Toàn Nghiên Cứu (RQ3)</a:t>
            </a:r>
          </a:p>
          <a:p>
            <a:pPr>
              <a:spcBef>
                <a:spcPts val="180"/>
              </a:spcBef>
              <a:defRPr sz="1000">
                <a:solidFill>
                  <a:srgbClr val="0F172A"/>
                </a:solidFill>
                <a:latin typeface="Calibri"/>
              </a:defRPr>
            </a:pPr>
            <a:r>
              <a:t>•  Quy mô khảo sát chiến dịch TEST: N=1,280 views/điều kiện (6,400 logical requests, 6,401 physical attempts). Dữ liệu Stage B là telemetry giả lập có cấu trúc (synthetic split), không phải in-the-wild logs.</a:t>
            </a:r>
          </a:p>
          <a:p>
            <a:pPr>
              <a:spcBef>
                <a:spcPts val="180"/>
              </a:spcBef>
              <a:defRPr sz="1000">
                <a:solidFill>
                  <a:srgbClr val="0F172A"/>
                </a:solidFill>
                <a:latin typeface="Calibri"/>
              </a:defRPr>
            </a:pPr>
            <a:r>
              <a:t>•  Phân định ngoại lệ: 13 requests chạm trần output budget cấu hình (8,192 configured max_output_tokens; không phải trần context ~1.05M tokens của gpt-5.6-luna) đều thuộc nhóm unmapped/ambiguous; 1 physical API_FAILURE retry thành công với 1,540 cached tokens; 0 terminal provider failure trên 3,590 scorable records.</a:t>
            </a:r>
          </a:p>
          <a:p>
            <a:pPr>
              <a:spcBef>
                <a:spcPts val="180"/>
              </a:spcBef>
              <a:defRPr sz="1000">
                <a:solidFill>
                  <a:srgbClr val="0F172A"/>
                </a:solidFill>
                <a:latin typeface="Calibri"/>
              </a:defRPr>
            </a:pPr>
            <a:r>
              <a:t>•  Hạch toán tài chính toàn thể nghiên cứu (6,400 Requests):</a:t>
            </a:r>
          </a:p>
          <a:p>
            <a:pPr>
              <a:spcBef>
                <a:spcPts val="180"/>
              </a:spcBef>
              <a:defRPr sz="1000">
                <a:solidFill>
                  <a:srgbClr val="0F172A"/>
                </a:solidFill>
                <a:latin typeface="Calibri"/>
              </a:defRPr>
            </a:pPr>
            <a:r>
              <a:t>  • Trần ngân sách đóng băng cứng (Hard budget cap): $19.99 USD ($19.99000000).</a:t>
            </a:r>
          </a:p>
          <a:p>
            <a:pPr>
              <a:spcBef>
                <a:spcPts val="180"/>
              </a:spcBef>
              <a:defRPr sz="1000">
                <a:solidFill>
                  <a:srgbClr val="0F172A"/>
                </a:solidFill>
                <a:latin typeface="Calibri"/>
              </a:defRPr>
            </a:pPr>
            <a:r>
              <a:t>  • Quyết toán thực tế 5 điều kiện chính thức: $6.58 settled spend ($6.57575890 USD).</a:t>
            </a:r>
          </a:p>
          <a:p>
            <a:pPr>
              <a:spcBef>
                <a:spcPts val="180"/>
              </a:spcBef>
              <a:defRPr sz="1000">
                <a:solidFill>
                  <a:srgbClr val="0F172A"/>
                </a:solidFill>
                <a:latin typeface="Calibri"/>
              </a:defRPr>
            </a:pPr>
            <a:r>
              <a:t>  • Khoản giữ chỗ thận trọng pilot: $0.05264010 USD (phân tách rạch ròi khỏi chi phí quyết toán).</a:t>
            </a:r>
          </a:p>
          <a:p>
            <a:pPr>
              <a:spcBef>
                <a:spcPts val="180"/>
              </a:spcBef>
              <a:defRPr sz="1000">
                <a:solidFill>
                  <a:srgbClr val="0F172A"/>
                </a:solidFill>
                <a:latin typeface="Calibri"/>
              </a:defRPr>
            </a:pPr>
            <a:r>
              <a:t>  • Tổng chi phí cam kết (Committed spend): $6.63 USD ($6.62839900 USD).</a:t>
            </a:r>
          </a:p>
          <a:p>
            <a:pPr>
              <a:spcBef>
                <a:spcPts val="180"/>
              </a:spcBef>
              <a:defRPr sz="1000">
                <a:solidFill>
                  <a:srgbClr val="0F172A"/>
                </a:solidFill>
                <a:latin typeface="Calibri"/>
              </a:defRPr>
            </a:pPr>
            <a:r>
              <a:t>  • Ngân sách khả dụng còn lại: $13.36 net remaining ($13.36160100 USD; 0 holds, 0 breach).</a:t>
            </a:r>
          </a:p>
          <a:p>
            <a:pPr>
              <a:spcBef>
                <a:spcPts val="180"/>
              </a:spcBef>
              <a:defRPr sz="1000">
                <a:solidFill>
                  <a:srgbClr val="0F172A"/>
                </a:solidFill>
                <a:latin typeface="Calibri"/>
              </a:defRPr>
            </a:pPr>
            <a:r>
              <a:t>•  Đơn giá truy vấn: Baseline No-RAG ~$0.000365/req (674.3 in / 163.6 out, trễ 2303 ms) vs RAG k=10 ~$0.001679/req (5114.3 in / 333.9 out, trễ 2667 ms).</a:t>
            </a:r>
          </a:p>
        </p:txBody>
      </p:sp>
      <p:pic>
        <p:nvPicPr>
          <p:cNvPr id="8" name="Picture 7" descr="image.png"/>
          <p:cNvPicPr>
            <a:picLocks noChangeAspect="1"/>
          </p:cNvPicPr>
          <p:nvPr/>
        </p:nvPicPr>
        <p:blipFill>
          <a:blip r:embed="rId2"/>
          <a:stretch>
            <a:fillRect/>
          </a:stretch>
        </p:blipFill>
        <p:spPr>
          <a:xfrm>
            <a:off x="6248095" y="1234440"/>
            <a:ext cx="5212080" cy="3474720"/>
          </a:xfrm>
          <a:prstGeom prst="rect">
            <a:avLst/>
          </a:prstGeom>
        </p:spPr>
      </p:pic>
      <p:sp>
        <p:nvSpPr>
          <p:cNvPr id="9" name="shape_slide_9_accounting"/>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hape_slide_9_accounting_textbox"/>
          <p:cNvSpPr txBox="1"/>
          <p:nvPr/>
        </p:nvSpPr>
        <p:spPr>
          <a:xfrm>
            <a:off x="6430975" y="4636008"/>
            <a:ext cx="4846320" cy="1563624"/>
          </a:xfrm>
          <a:prstGeom prst="rect">
            <a:avLst/>
          </a:prstGeom>
          <a:noFill/>
        </p:spPr>
        <p:txBody>
          <a:bodyPr wrap="square">
            <a:spAutoFit/>
          </a:bodyPr>
          <a:lstStyle/>
          <a:p>
            <a:pPr>
              <a:defRPr sz="1600" b="1">
                <a:solidFill>
                  <a:srgbClr val="059669"/>
                </a:solidFill>
                <a:latin typeface="Calibri"/>
              </a:defRPr>
            </a:pPr>
            <a:r>
              <a:t>Quy Luật Đánh Đổi Hiệu Năng &amp; Chi Phí (RQ3 Trade-off)</a:t>
            </a:r>
          </a:p>
          <a:p>
            <a:pPr>
              <a:spcBef>
                <a:spcPts val="220"/>
              </a:spcBef>
              <a:defRPr sz="1050">
                <a:solidFill>
                  <a:srgbClr val="0F172A"/>
                </a:solidFill>
                <a:latin typeface="Calibri"/>
              </a:defRPr>
            </a:pPr>
            <a:r>
              <a:t>•  Tăng k từ 1 lên 10 (k1 -&gt; k10): Lượng token đầu vào prompt tăng ~4.103x (1246.5 lên 5114.3 tokens). So với No-RAG (674.3 tokens), k=10 tăng ~7.58x.</a:t>
            </a:r>
          </a:p>
          <a:p>
            <a:pPr>
              <a:spcBef>
                <a:spcPts val="220"/>
              </a:spcBef>
              <a:defRPr sz="1050">
                <a:solidFill>
                  <a:srgbClr val="0F172A"/>
                </a:solidFill>
                <a:latin typeface="Calibri"/>
              </a:defRPr>
            </a:pPr>
            <a:r>
              <a:t>•  Toàn bộ chi phí thực nghiệm ($6.57575890 USD) nằm an toàn dưới trần ngân sách đóng băng $19.99 USD.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9. Giới Hạn Nghiên Cứu &amp; Mối Đe Dọa Giá Trị</a:t>
            </a:r>
          </a:p>
          <a:p>
            <a:pPr>
              <a:defRPr sz="1300">
                <a:solidFill>
                  <a:srgbClr val="06B6D4"/>
                </a:solidFill>
                <a:latin typeface="Calibri"/>
              </a:defRPr>
            </a:pPr>
            <a:r>
              <a:t>Đánh giá khách quan các hạn chế kỹ thuật và phạm vi khoa học  |  [CANONICAL CANDIDATE — PENDING ROOT FINAL REVIEW]</a:t>
            </a:r>
          </a:p>
        </p:txBody>
      </p:sp>
      <p:sp>
        <p:nvSpPr>
          <p:cNvPr id="6" name="shape_slide_10_limitations_1"/>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10_limitations_1_textbox"/>
          <p:cNvSpPr txBox="1"/>
          <p:nvPr/>
        </p:nvSpPr>
        <p:spPr>
          <a:xfrm>
            <a:off x="914400" y="1344168"/>
            <a:ext cx="3047695" cy="4855464"/>
          </a:xfrm>
          <a:prstGeom prst="rect">
            <a:avLst/>
          </a:prstGeom>
          <a:noFill/>
        </p:spPr>
        <p:txBody>
          <a:bodyPr wrap="square">
            <a:spAutoFit/>
          </a:bodyPr>
          <a:lstStyle/>
          <a:p>
            <a:pPr>
              <a:defRPr sz="1600" b="1">
                <a:solidFill>
                  <a:srgbClr val="DC2626"/>
                </a:solidFill>
                <a:latin typeface="Calibri"/>
              </a:defRPr>
            </a:pPr>
            <a:r>
              <a:t>Phạm Vi Dữ Liệu (Scope)</a:t>
            </a:r>
          </a:p>
          <a:p>
            <a:pPr>
              <a:spcBef>
                <a:spcPts val="350"/>
              </a:spcBef>
              <a:defRPr sz="1150">
                <a:solidFill>
                  <a:srgbClr val="0F172A"/>
                </a:solidFill>
                <a:latin typeface="Calibri"/>
              </a:defRPr>
            </a:pPr>
            <a:r>
              <a:t>•  Dữ liệu thử nghiệm Stage B là kịch bản giả lập có cấu trúc (synthetic-paired-v1).</a:t>
            </a:r>
          </a:p>
          <a:p>
            <a:pPr>
              <a:spcBef>
                <a:spcPts val="350"/>
              </a:spcBef>
              <a:defRPr sz="1150">
                <a:solidFill>
                  <a:srgbClr val="0F172A"/>
                </a:solidFill>
                <a:latin typeface="Calibri"/>
              </a:defRPr>
            </a:pPr>
            <a:r>
              <a:t>•  Mặc dù tuân thủ nghiêm ngặt định dạng sự kiện Windows, nó chưa phản ánh toàn diện độ nhiễu của các cuộc tấn công APT thực tế.</a:t>
            </a:r>
          </a:p>
          <a:p>
            <a:pPr>
              <a:spcBef>
                <a:spcPts val="350"/>
              </a:spcBef>
              <a:defRPr sz="1150">
                <a:solidFill>
                  <a:srgbClr val="0F172A"/>
                </a:solidFill>
                <a:latin typeface="Calibri"/>
              </a:defRPr>
            </a:pPr>
            <a:r>
              <a:t>•  Nghiên cứu không khẳng định kết quả áp dụng nguyên vẹn cho môi trường thực tế cho đến khi hoàn tất T15 real pilot.</a:t>
            </a:r>
          </a:p>
        </p:txBody>
      </p:sp>
      <p:sp>
        <p:nvSpPr>
          <p:cNvPr id="8" name="shape_slide_10_limitations_2"/>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10_limitations_2_textbox"/>
          <p:cNvSpPr txBox="1"/>
          <p:nvPr/>
        </p:nvSpPr>
        <p:spPr>
          <a:xfrm>
            <a:off x="4572000" y="1344168"/>
            <a:ext cx="3047695" cy="4855464"/>
          </a:xfrm>
          <a:prstGeom prst="rect">
            <a:avLst/>
          </a:prstGeom>
          <a:noFill/>
        </p:spPr>
        <p:txBody>
          <a:bodyPr wrap="square">
            <a:spAutoFit/>
          </a:bodyPr>
          <a:lstStyle/>
          <a:p>
            <a:pPr>
              <a:defRPr sz="1600" b="1">
                <a:solidFill>
                  <a:srgbClr val="2563EB"/>
                </a:solidFill>
                <a:latin typeface="Calibri"/>
              </a:defRPr>
            </a:pPr>
            <a:r>
              <a:t>Mô Hình Nhúng Đơn Tầng</a:t>
            </a:r>
          </a:p>
          <a:p>
            <a:pPr>
              <a:spcBef>
                <a:spcPts val="350"/>
              </a:spcBef>
              <a:defRPr sz="1150">
                <a:solidFill>
                  <a:srgbClr val="0F172A"/>
                </a:solidFill>
                <a:latin typeface="Calibri"/>
              </a:defRPr>
            </a:pPr>
            <a:r>
              <a:t>•  Việc sử dụng all-MiniLM-L6-v2 thuần túy (dense bi-encoder) bộc lộ hạn chế lớn với các từ khóa kỹ thuật số (như Event ID 4720).</a:t>
            </a:r>
          </a:p>
          <a:p>
            <a:pPr>
              <a:spcBef>
                <a:spcPts val="350"/>
              </a:spcBef>
              <a:defRPr sz="1150">
                <a:solidFill>
                  <a:srgbClr val="0F172A"/>
                </a:solidFill>
                <a:latin typeface="Calibri"/>
              </a:defRPr>
            </a:pPr>
            <a:r>
              <a:t>•  Khoảng cách giữa ngôn ngữ nhật ký và ngôn ngữ mô tả của ATT&amp;CK đòi hỏi phải có kiến trúc tìm kiếm lai (Hybrid Search: Dense + BM25 Lexical).</a:t>
            </a:r>
          </a:p>
        </p:txBody>
      </p:sp>
      <p:sp>
        <p:nvSpPr>
          <p:cNvPr id="10" name="shape_slide_10_limitations_3"/>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hape_slide_10_limitations_3_textbox"/>
          <p:cNvSpPr txBox="1"/>
          <p:nvPr/>
        </p:nvSpPr>
        <p:spPr>
          <a:xfrm>
            <a:off x="8229600" y="1344168"/>
            <a:ext cx="3047695" cy="4855464"/>
          </a:xfrm>
          <a:prstGeom prst="rect">
            <a:avLst/>
          </a:prstGeom>
          <a:noFill/>
        </p:spPr>
        <p:txBody>
          <a:bodyPr wrap="square">
            <a:spAutoFit/>
          </a:bodyPr>
          <a:lstStyle/>
          <a:p>
            <a:pPr>
              <a:defRPr sz="1600" b="1">
                <a:solidFill>
                  <a:srgbClr val="1E293B"/>
                </a:solidFill>
                <a:latin typeface="Calibri"/>
              </a:defRPr>
            </a:pPr>
            <a:r>
              <a:t>Phạm Vi Mô Hình &amp; Quy Trình Tái Lập</a:t>
            </a:r>
          </a:p>
          <a:p>
            <a:pPr>
              <a:spcBef>
                <a:spcPts val="350"/>
              </a:spcBef>
              <a:defRPr sz="1150">
                <a:solidFill>
                  <a:srgbClr val="0F172A"/>
                </a:solidFill>
                <a:latin typeface="Calibri"/>
              </a:defRPr>
            </a:pPr>
            <a:r>
              <a:t>•  Nghiên cứu tập trung đánh giá trên mô hình đại diện gpt-5.6-luna nhằm kiểm soát chặt chẽ biến số.</a:t>
            </a:r>
          </a:p>
          <a:p>
            <a:pPr>
              <a:spcBef>
                <a:spcPts val="350"/>
              </a:spcBef>
              <a:defRPr sz="1150">
                <a:solidFill>
                  <a:srgbClr val="0F172A"/>
                </a:solidFill>
                <a:latin typeface="Calibri"/>
              </a:defRPr>
            </a:pPr>
            <a:r>
              <a:t>•  Cần mở rộng kiểm nghiệm trên các mô hình mã nguồn mở (Llama-3, Qwen) để xác minh tính phổ quát của quy luật phân rã lỗi.</a:t>
            </a:r>
          </a:p>
          <a:p>
            <a:pPr>
              <a:spcBef>
                <a:spcPts val="350"/>
              </a:spcBef>
              <a:defRPr sz="1150">
                <a:solidFill>
                  <a:srgbClr val="0F172A"/>
                </a:solidFill>
                <a:latin typeface="Calibri"/>
              </a:defRPr>
            </a:pPr>
            <a:r>
              <a:t>•  Quy trình tái lập an toàn: Mọi kịch bản kiểm thử bắt buộc chạy qua runner offline scripts/run_offline_tests.py, can thiệp socket Python để chặn kết nối ngoài ý muốn.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10. Khả Năng Tái Lập Độc Lập &amp; Đóng Góp Khoa Học</a:t>
            </a:r>
          </a:p>
          <a:p>
            <a:pPr>
              <a:defRPr sz="1300">
                <a:solidFill>
                  <a:srgbClr val="06B6D4"/>
                </a:solidFill>
                <a:latin typeface="Calibri"/>
              </a:defRPr>
            </a:pPr>
            <a:r>
              <a:t>Toàn bộ nghiên cứu có thể kiểm chứng ngoại tuyến với chi phí 0 đồng  |  [CANONICAL CANDIDATE — PENDING ROOT FINAL REVIEW]</a:t>
            </a:r>
          </a:p>
        </p:txBody>
      </p:sp>
      <p:sp>
        <p:nvSpPr>
          <p:cNvPr id="6" name="shape_slide_11_reproducibility_1"/>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hape_slide_11_reproducibility_1_textbox"/>
          <p:cNvSpPr txBox="1"/>
          <p:nvPr/>
        </p:nvSpPr>
        <p:spPr>
          <a:xfrm>
            <a:off x="914400" y="1344168"/>
            <a:ext cx="4846320" cy="4855464"/>
          </a:xfrm>
          <a:prstGeom prst="rect">
            <a:avLst/>
          </a:prstGeom>
          <a:noFill/>
        </p:spPr>
        <p:txBody>
          <a:bodyPr wrap="square">
            <a:spAutoFit/>
          </a:bodyPr>
          <a:lstStyle/>
          <a:p>
            <a:pPr>
              <a:defRPr sz="1600" b="1">
                <a:solidFill>
                  <a:srgbClr val="059669"/>
                </a:solidFill>
                <a:latin typeface="Calibri"/>
              </a:defRPr>
            </a:pPr>
            <a:r>
              <a:t>Tái Lập Ngoại Tuyến &amp; Phạm Vi Offline Guard</a:t>
            </a:r>
          </a:p>
          <a:p>
            <a:pPr>
              <a:spcBef>
                <a:spcPts val="250"/>
              </a:spcBef>
              <a:defRPr sz="1100">
                <a:solidFill>
                  <a:srgbClr val="0F172A"/>
                </a:solidFill>
                <a:latin typeface="Calibri"/>
              </a:defRPr>
            </a:pPr>
            <a:r>
              <a:t>•  Lệnh chuẩn tắc có bảo vệ ngoại tuyến:</a:t>
            </a:r>
          </a:p>
          <a:p>
            <a:pPr>
              <a:spcBef>
                <a:spcPts val="250"/>
              </a:spcBef>
              <a:defRPr sz="1100">
                <a:solidFill>
                  <a:srgbClr val="0F172A"/>
                </a:solidFill>
                <a:latin typeface="Calibri"/>
              </a:defRPr>
            </a:pPr>
            <a:r>
              <a:t>  python scripts/run_offline_tests.py -m pytest ... (hoặc cờ -c)</a:t>
            </a:r>
          </a:p>
          <a:p>
            <a:pPr>
              <a:spcBef>
                <a:spcPts val="250"/>
              </a:spcBef>
              <a:defRPr sz="1100">
                <a:solidFill>
                  <a:srgbClr val="0F172A"/>
                </a:solidFill>
                <a:latin typeface="Calibri"/>
              </a:defRPr>
            </a:pPr>
            <a:r>
              <a:t>•  Lệnh tái lập tự động toàn diện: python scripts/reproduce_study.py --all</a:t>
            </a:r>
          </a:p>
          <a:p>
            <a:pPr>
              <a:spcBef>
                <a:spcPts val="250"/>
              </a:spcBef>
              <a:defRPr sz="1100">
                <a:solidFill>
                  <a:srgbClr val="0F172A"/>
                </a:solidFill>
                <a:latin typeface="Calibri"/>
              </a:defRPr>
            </a:pPr>
            <a:r>
              <a:t>•  Phạm vi kỹ thuật của offline_guard:</a:t>
            </a:r>
          </a:p>
          <a:p>
            <a:pPr>
              <a:spcBef>
                <a:spcPts val="250"/>
              </a:spcBef>
              <a:defRPr sz="1100">
                <a:solidFill>
                  <a:srgbClr val="0F172A"/>
                </a:solidFill>
                <a:latin typeface="Calibri"/>
              </a:defRPr>
            </a:pPr>
            <a:r>
              <a:t>  • Can thiệp tầng socket Python (chặn kết nối mạng ngoài ý muốn) và lọc biến môi trường credentials.</a:t>
            </a:r>
          </a:p>
          <a:p>
            <a:pPr>
              <a:spcBef>
                <a:spcPts val="250"/>
              </a:spcBef>
              <a:defRPr sz="1100">
                <a:solidFill>
                  <a:srgbClr val="0F172A"/>
                </a:solidFill>
                <a:latin typeface="Calibri"/>
              </a:defRPr>
            </a:pPr>
            <a:r>
              <a:t>  • Không phải là sandbox cấp OS (không cô lập mã máy binary tùy ý ngoài Python runtime).</a:t>
            </a:r>
          </a:p>
          <a:p>
            <a:pPr>
              <a:spcBef>
                <a:spcPts val="250"/>
              </a:spcBef>
              <a:defRPr sz="1100">
                <a:solidFill>
                  <a:srgbClr val="0F172A"/>
                </a:solidFill>
                <a:latin typeface="Calibri"/>
              </a:defRPr>
            </a:pPr>
            <a:r>
              <a:t>  • Dependencies và artifact tiên quyết đã nạp sẵn cục bộ; lệnh uv run trần không có guard bảo vệ không tự động đảm bảo cách ly mạng nếu thiếu cờ offline.</a:t>
            </a:r>
          </a:p>
          <a:p>
            <a:pPr>
              <a:spcBef>
                <a:spcPts val="250"/>
              </a:spcBef>
              <a:defRPr sz="1100">
                <a:solidFill>
                  <a:srgbClr val="0F172A"/>
                </a:solidFill>
                <a:latin typeface="Calibri"/>
              </a:defRPr>
            </a:pPr>
            <a:r>
              <a:t>•  Điều kiện tái lập: Ngoại tuyến dùng 15 artifact đóng băng; luồng live provider cần credentials thực dưới budget guard trần $19.99 USD.</a:t>
            </a:r>
          </a:p>
        </p:txBody>
      </p:sp>
      <p:sp>
        <p:nvSpPr>
          <p:cNvPr id="8" name="shape_slide_11_reproducibility_2"/>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hape_slide_11_reproducibility_2_textbox"/>
          <p:cNvSpPr txBox="1"/>
          <p:nvPr/>
        </p:nvSpPr>
        <p:spPr>
          <a:xfrm>
            <a:off x="6430975" y="1344168"/>
            <a:ext cx="4846320" cy="4855464"/>
          </a:xfrm>
          <a:prstGeom prst="rect">
            <a:avLst/>
          </a:prstGeom>
          <a:noFill/>
        </p:spPr>
        <p:txBody>
          <a:bodyPr wrap="square">
            <a:spAutoFit/>
          </a:bodyPr>
          <a:lstStyle/>
          <a:p>
            <a:pPr>
              <a:defRPr sz="1600" b="1">
                <a:solidFill>
                  <a:srgbClr val="1E40AF"/>
                </a:solidFill>
                <a:latin typeface="Calibri"/>
              </a:defRPr>
            </a:pPr>
            <a:r>
              <a:t>Đóng Góp Khoa Học Cốt Lõi</a:t>
            </a:r>
          </a:p>
          <a:p>
            <a:pPr>
              <a:spcBef>
                <a:spcPts val="300"/>
              </a:spcBef>
              <a:defRPr sz="1150">
                <a:solidFill>
                  <a:srgbClr val="0F172A"/>
                </a:solidFill>
                <a:latin typeface="Calibri"/>
              </a:defRPr>
            </a:pPr>
            <a:r>
              <a:t>•  1. Quy trình thực nghiệm chuẩn hóa: Thiết lập giao thức thực nghiệm đối chứng khép kín trên tập dữ liệu đóng băng synthetic-paired-v1 cho bài toán Windows log attribution.</a:t>
            </a:r>
          </a:p>
          <a:p>
            <a:pPr>
              <a:spcBef>
                <a:spcPts val="300"/>
              </a:spcBef>
              <a:defRPr sz="1150">
                <a:solidFill>
                  <a:srgbClr val="0F172A"/>
                </a:solidFill>
                <a:latin typeface="Calibri"/>
              </a:defRPr>
            </a:pPr>
            <a:r>
              <a:t>•  2. Bóc tách độc lập các trục lỗi (RQ2 Failure Decomposition per D2i): Phân tích riêng biệt retrieval miss, downstream generation failure và joint overlap.</a:t>
            </a:r>
          </a:p>
          <a:p>
            <a:pPr>
              <a:spcBef>
                <a:spcPts val="300"/>
              </a:spcBef>
              <a:defRPr sz="1150">
                <a:solidFill>
                  <a:srgbClr val="0F172A"/>
                </a:solidFill>
                <a:latin typeface="Calibri"/>
              </a:defRPr>
            </a:pPr>
            <a:r>
              <a:t>•  3. Bằng chứng định lượng về khoảng cách từ vựng và giả thuyết pha loãng ngữ cảnh (Context Dilution Hypothesis).</a:t>
            </a:r>
          </a:p>
          <a:p>
            <a:pPr>
              <a:spcBef>
                <a:spcPts val="300"/>
              </a:spcBef>
              <a:defRPr sz="1150">
                <a:solidFill>
                  <a:srgbClr val="0F172A"/>
                </a:solidFill>
                <a:latin typeface="Calibri"/>
              </a:defRPr>
            </a:pPr>
            <a:r>
              <a:t>•  4. Bộ công cụ nghiên cứu mở: Cung cấp toàn bộ mã nguồn, benchmark, kịch bản tạo slide và dữ liệu chứng cứ nguyên vẹn.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371600"/>
            <a:ext cx="137160" cy="41148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hape_slide_12_conclusion"/>
          <p:cNvSpPr txBox="1"/>
          <p:nvPr/>
        </p:nvSpPr>
        <p:spPr>
          <a:xfrm>
            <a:off x="1371600" y="1280160"/>
            <a:ext cx="9601200" cy="4389120"/>
          </a:xfrm>
          <a:prstGeom prst="rect">
            <a:avLst/>
          </a:prstGeom>
          <a:noFill/>
        </p:spPr>
        <p:txBody>
          <a:bodyPr wrap="square">
            <a:spAutoFit/>
          </a:bodyPr>
          <a:lstStyle/>
          <a:p>
            <a:pPr>
              <a:defRPr sz="1400" b="1">
                <a:solidFill>
                  <a:srgbClr val="06B6D4"/>
                </a:solidFill>
                <a:latin typeface="Calibri"/>
              </a:defRPr>
            </a:pPr>
            <a:r>
              <a:t>TỔNG KẾT &amp; PHẦN HỎI ĐÁP (Q&amp;A)</a:t>
            </a:r>
          </a:p>
          <a:p>
            <a:pPr>
              <a:spcBef>
                <a:spcPts val="800"/>
              </a:spcBef>
              <a:defRPr sz="2600" b="1">
                <a:solidFill>
                  <a:srgbClr val="FFFFFF"/>
                </a:solidFill>
                <a:latin typeface="Calibri"/>
              </a:defRPr>
            </a:pPr>
            <a:r>
              <a:t>RAG2ATT&amp;CK: Đưa Tri Thức Thực Sự Vào Giám Sát An Ninh Mạng</a:t>
            </a:r>
          </a:p>
          <a:p>
            <a:pPr>
              <a:spcBef>
                <a:spcPts val="600"/>
              </a:spcBef>
              <a:defRPr sz="1250">
                <a:solidFill>
                  <a:srgbClr val="E2E8F0"/>
                </a:solidFill>
                <a:latin typeface="Calibri"/>
              </a:defRPr>
            </a:pPr>
            <a:r>
              <a:t>•  RAG cung cấp tri thức nền tảng quan trọng; kết quả đối chứng ghi nhận No-RAG đạt 77.99% (560/718) vs RAG k=10 quan sát thấy 79.53% (571/718, Delta = +1.532 pp, 95% CI [-2.355, +5.300] pp chứa 0, McNemar p = 0.4219 / 0.422 &gt; 0.05).</a:t>
            </a:r>
          </a:p>
          <a:p>
            <a:pPr>
              <a:spcBef>
                <a:spcPts val="600"/>
              </a:spcBef>
              <a:defRPr sz="1250">
                <a:solidFill>
                  <a:srgbClr val="E2E8F0"/>
                </a:solidFill>
                <a:latin typeface="Calibri"/>
              </a:defRPr>
            </a:pPr>
            <a:r>
              <a:t>•  Phân rã lỗi D2i theo 3 trục đo lường độc lập (retrieval miss, downstream generation failure, joint overlap), ghi nhận phần giao thoa khác 0; ghi nhận 0 terminal provider failures trên 3,590 scorable records.</a:t>
            </a:r>
          </a:p>
          <a:p>
            <a:pPr>
              <a:spcBef>
                <a:spcPts val="600"/>
              </a:spcBef>
              <a:defRPr sz="1250">
                <a:solidFill>
                  <a:srgbClr val="E2E8F0"/>
                </a:solidFill>
                <a:latin typeface="Calibri"/>
              </a:defRPr>
            </a:pPr>
            <a:r>
              <a:t>•  Quy trình tái lập ngoại tuyến: Sử dụng runner scripts/run_offline_tests.py can thiệp tầng socket và lọc biến môi trường nhằm giảm thiểu rủi ro rò rỉ credential và kết nối ngoài ý muốn.</a:t>
            </a:r>
          </a:p>
          <a:p>
            <a:pPr>
              <a:spcBef>
                <a:spcPts val="600"/>
              </a:spcBef>
              <a:defRPr sz="1250">
                <a:solidFill>
                  <a:srgbClr val="E2E8F0"/>
                </a:solidFill>
                <a:latin typeface="Calibri"/>
              </a:defRPr>
            </a:pPr>
            <a:r>
              <a:t>•  Định hướng tiếp theo: Triển khai Hybrid Retrieval (Dense + BM25) và kiểm nghiệm mở rộng trên telemetry thực tế.</a:t>
            </a:r>
          </a:p>
          <a:p>
            <a:pPr>
              <a:spcBef>
                <a:spcPts val="600"/>
              </a:spcBef>
              <a:defRPr sz="1250">
                <a:solidFill>
                  <a:srgbClr val="E2E8F0"/>
                </a:solidFill>
                <a:latin typeface="Calibri"/>
              </a:defRPr>
            </a:pPr>
            <a:r>
              <a:t>•  Mã nguồn, dữ liệu và báo cáo tái lập sẵn sàng tại: https://github.com/habachcp6/RAG2ATTCK</a:t>
            </a:r>
          </a:p>
          <a:p>
            <a:pPr>
              <a:spcBef>
                <a:spcPts val="1600"/>
              </a:spcBef>
              <a:defRPr sz="1500" b="1">
                <a:solidFill>
                  <a:srgbClr val="06B6D4"/>
                </a:solidFill>
                <a:latin typeface="Calibri"/>
              </a:defRPr>
            </a:pPr>
            <a:r>
              <a:t>Xin trân trọng cảm ơn Quý Thầy Cô và Hội Đồng! Kính mời đặt câu hỏi thảo luận.</a:t>
            </a:r>
          </a:p>
          <a:p>
            <a:pPr>
              <a:spcBef>
                <a:spcPts val="800"/>
              </a:spcBef>
              <a:defRPr sz="1300" b="1">
                <a:solidFill>
                  <a:srgbClr val="DC2626"/>
                </a:solidFill>
                <a:latin typeface="Calibri"/>
              </a:defRPr>
            </a:pPr>
            <a:r>
              <a:t>[CANONICAL CANDIDATE — PENDING ROOT FINAL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