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GHI CHÚ DIỄN GIẢ (Slide 1):</a:t>
            </a:r>
          </a:p>
          <a:p>
            <a:r>
              <a:t>Kính thưa Hội đồng và các chuyên gia, hôm nay tôi xin trình bày báo cáo nghiên cứu RAG2ATT&amp;CK: Đánh giá tác động của MITRE ATT&amp;CK-grounded RAG đối với việc ánh xạ Windows endpoint logs sang ATT&amp;CK techniques. Toàn bộ nghiên cứu được thiết kế theo phương pháp thực nghiệm đối chứng nghiêm ngặt dưới giao thức đóng băng experiment-protocol-v1.1, khóa mật mã 15 canonical artifacts, và có thể tái lập hoàn toàn ngoại tuyến với chi phí 0 đồng.</a:t>
            </a:r>
          </a:p>
          <a:p>
            <a:r>
              <a:t>Khai báo tác tạo: Slide deck này được tác tạo tự động bằng kịch bản Python scripts/generate_slides.py (sử dụng thư viện python-pptx định dạng 16:9 widescreen), được thẩm định hiển thị qua bundled artifact tools.</a:t>
            </a:r>
          </a:p>
          <a:p>
            <a:r>
              <a:t>Bằng chứng dự án: config/canonical_experiment_lock_v1.json (SHA-256: 961ba9b3e9e1b459a6694a5c8c76424d36c89d65bd4d88b14d0b0de7e4c017ac); reports/experiment_protocol_v1.md (SHA-256: d3bf3d31ad307100ac437a7daecc470bf12de9ada49f19de3d77592d5a21974c); scripts/reproduce_study.py.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GHI CHÚ DIỄN GIẢ (Slide 2):</a:t>
            </a:r>
          </a:p>
          <a:p>
            <a:r>
              <a:t>Trong thực tế giám sát SOC, các kỹ sư thường kỳ vọng LLM có thể đọc log và gán ngay mã ATT&amp;CK. Tuy nhiên, nếu không có cơ chế neo tri thức, LLM thường gặp ảo giác hoặc nhầm lẫn giữa các kỹ thuật lân cận. Nghiên cứu này định lượng khách quan mức độ hỗ trợ của RAG dưới các điều kiện đối chứng chặt chẽ, không phóng đại hiệu năng. Chúng tôi làm rõ phạm vi tính xác định (determinism): tính xác định áp dụng tuyệt đối cho khâu tái tạo bộ dữ liệu, quy trình thẩm định đánh giá ngoại tuyến và quy tắc xử lý thứ tự tie-breaking. Đối với mô hình LLM, phản hồi và backend mô hình thực tế có thể biến thiên do tham số seed không được truyền qua giao thức mạng; sự biến thiên này được theo dõi và ghi nhận chặt chẽ theo chính sách siêu dữ liệu ràng buộc tem thời gian D3 (timestamp-bound metadata policy).</a:t>
            </a:r>
          </a:p>
          <a:p>
            <a:r>
              <a:t>Bằng chứng dự án: docs/README_PROPOSED.md; config/canonical_experiment_lock_v1.json (SHA-256: 961ba9b3...); reports/experiment_protocol_v1.md (D3 policy); tests/test_attack_id_validation.py.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GHI CHÚ DIỄN GIẢ (Slide 3):</a:t>
            </a:r>
          </a:p>
          <a:p>
            <a:r>
              <a:t>Kiến trúc thực nghiệm đối chứng kiểm soát nghiêm ngặt biến số điều trị duy nhất: Retrieval ON vs OFF. Nhánh Baseline No-RAG và Experimental RAG dùng chung một mô hình gpt-5.6-luna (xhigh), cùng cấu trúc prompt template, và cùng schema JSON đầu ra. Bộ tìm kiếm sử dụng all-MiniLM-L6-v2 kết hợp FAISS IndexFlatIP trên 474 tài liệu ATT&amp;CK v19.2 Enterprise Windows.</a:t>
            </a:r>
          </a:p>
          <a:p>
            <a:r>
              <a:t>Bằng chứng dự án: prompts/baseline_v1.txt (SHA-256: b751fde1ee33b03ebca935e478ffef3ff03ff8bcf440263309a039755ab0f7cf); attack/corpus/enterprise-windows-v19.2.jsonl (SHA-256: b219341154ddf2f12e97d622158a04ab7d57641df6a865559258d365852c3c75); config/experiment_config.json; tests/test_rag_pipeline.py.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GHI CHÚ DIỄN GIẢ (Slide 4):</a:t>
            </a:r>
          </a:p>
          <a:p>
            <a:r>
              <a:t>Tập dữ liệu chuẩn đóng băng Stage B gồm 670 cặp kịch bản đối ứng (1,340 views), chia thành 1,280 TEST views và 60 DEV views. Giao thức chống rò rỉ nhãn áp dụng INFERENCE_ALLOWLIST nghiêm ngặt: đầu vào suy luận inference.jsonl chỉ chứa sample_id và endpoint_evidence; toàn bộ tên luật, mã technique và mô tả đều bị loại trừ tuyệt đối. Nghiên cứu phân định rõ ràng giữa benchmark giả lập Stage B và luồng telemetry thực địa T15.</a:t>
            </a:r>
          </a:p>
          <a:p>
            <a:r>
              <a:t>Bằng chứng dự án: data/ground_truth/synthetic/inference.jsonl (SHA-256: 90d5f59e64f669f9d7990520625906d40081d5aa112521c7bb5e2f750b3e5fbf); data/ground_truth/synthetic/pairs.json (SHA-256: 079e57a441b18d12351bb9715fc4b0a43058a9ceb68a8670c5e7bfa5dbad3ca8); tests/test_benchmark_inputs.py; tests/test_synthetic_freeze.py.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GHI CHÚ DIỄN GIẢ (Slide 5):</a:t>
            </a:r>
          </a:p>
          <a:p>
            <a:r>
              <a:t>Giao thức thực nghiệm v1.1 đóng băng 7 quyết định phương pháp luận cốt lõi D1-D7 và được tách bạch rõ ràng từng nhãn:</a:t>
            </a:r>
          </a:p>
          <a:p>
            <a:r>
              <a:t>- D2d: Vũ trụ Macro-F1 cố định đúng 474 lớp (FROZEN_BENCHMARK_UNIVERSE = 474).</a:t>
            </a:r>
          </a:p>
          <a:p>
            <a:r>
              <a:t>- D2e: invalid_id_as_failure (INCLUDE_IN_DENOMINATOR cho mã sai cú pháp/ảo giác).</a:t>
            </a:r>
          </a:p>
          <a:p>
            <a:r>
              <a:t>- D2f: api_failure_as_failure (INCLUDE_IN_DENOMINATOR cho lỗi provider/timeout/parser).</a:t>
            </a:r>
          </a:p>
          <a:p>
            <a:r>
              <a:t>- D2g: ALLOW_HISTORICAL chấp nhận các mã lịch sử/thu hồi dưới dạng distinct observation count, không tự ý gán lại mã thay thế.</a:t>
            </a:r>
          </a:p>
          <a:p>
            <a:r>
              <a:t>- D2h: ANY_GT_RETRIEVED cho multi-label retrieval success.</a:t>
            </a:r>
          </a:p>
          <a:p>
            <a:r>
              <a:t>- D2i: INDEPENDENT_AXES ghi nhận đầy đủ phần giao thoa giữa các trục đo lường lỗi.</a:t>
            </a:r>
          </a:p>
          <a:p>
            <a:r>
              <a:t>Bằng chứng dự án: reports/experiment_protocol_v1.md (SHA-256: d3bf3d31ad307100ac437a7daecc470bf12de9ada49f19de3d77592d5a21974c); attack/raw/enterprise-v19.2/enterprise-attack-19.2.json (SHA-256: dc1639caa5501d720e280cf1cbd8fbe009884a0c9b3e6e9ed9d0c25166c3d8f4); tests/test_experiment_evaluation.py.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GHI CHÚ DIỄN GIẢ (Slide 6):</a:t>
            </a:r>
          </a:p>
          <a:p>
            <a:r>
              <a:t>Chẩn đoán độc lập khâu tìm kiếm (RQ2) trên 756 positive views cho thấy Hit@10 chỉ đạt 45.11%, nghĩa là trong 54.89% trường hợp, kỹ thuật đúng hoàn toàn vắng bóng trong Top-10 gửi cho LLM. Điển hình là kỹ thuật T1136.001 với 0/99 lần trúng Top-10 do khoảng cách ngữ nghĩa giữa Event ID 4720 và STIX description. Chúng tôi đặt ra giả thuyết Context Scaling &amp; Dilution (k=1,3,5,10): tăng k cải thiện độ phủ nhưng tăng nguy cơ nhiễu distractor; giả thuyết này đang được kiểm chứng thực nghiệm đối chứng end-to-end.</a:t>
            </a:r>
          </a:p>
          <a:p>
            <a:r>
              <a:t>Bằng chứng dự án: outputs/reproduction/figures/fig_rq2_retrieval_hit_rates.png; outputs/reproduction/tables/table_1_retrieval_diagnostics.md; tests/test_retrieval_diagnostics.py.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GHI CHÚ DIỄN GIẢ (Slide 7):</a:t>
            </a:r>
          </a:p>
          <a:p>
            <a:r>
              <a:t>So sánh đối ứng trên 296 cặp anchor chuẩn chỉ ra rằng biểu diễn Single-event đạt thứ hạng tìm kiếm tốt hơn Contextual-event (65 cặp vs 23 cặp), và hơn 70% có thứ hạng tương đương (phần lớn do cả hai cùng trượt Top-10). Điều này cho thấy việc đưa thêm log nền gây hiện tượng benign drift. Chúng tôi thiết lập schema so sánh đối chứng scaffold giữa Zero-Shot No-RAG, Zero-Shot RAG và các prompt scaffold, hiện đang được gắn nhãn [PENDING EXECUTION] chờ toàn bộ ma trận TEST hoàn tất để đưa ra kết luận khoa học chính thức.</a:t>
            </a:r>
          </a:p>
          <a:p>
            <a:r>
              <a:t>Bằng chứng dự án: scripts/verify_t20_canonical_artifacts.py; outputs/reproduction/tables/table_4_pairwise_representation_comparison.md; tests/test_t20_canonical_artifacts.py.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GHI CHÚ DIỄN GIẢ (Slide 8):</a:t>
            </a:r>
          </a:p>
          <a:p>
            <a:r>
              <a:t>Khung đánh giá RQ1 &amp; RQ2 được xây dựng trên định đề D2i (Independent Measurement Axes). Chúng tôi bác bỏ hoàn toàn công thức cộng xác suất rời rạc sai lầm, bởi retrieval failure và downstream generation failure không hề xung khắc nhau mà có phần giao thoa rõ ràng; chúng tôi cũng không giả định độc lập xác suất ngẫu nhiên. Các chỉ số có điều kiện P(Correct | GT in Top-k) và P(Correct | GT NOT in Top-k) cho phép định lượng xem LLM có bị đánh lừa bởi distractor hay có khả năng tự sửa sai. Toàn bộ ma trận chính thức 6,400 bản ghi đang chạy; tính đúng đắn toán học của Evaluator đã được chứng minh qua 5 test fixtures.</a:t>
            </a:r>
          </a:p>
          <a:p>
            <a:r>
              <a:t>Bằng chứng dự án: reports/experiment_protocol_v1.md (D2e, D2f, D2h, D2i; SHA-256: d3bf3d31...); tests/test_experiment_evaluation.py (94 tests pass).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GHI CHÚ DIỄN GIẢ (Slide 9):</a:t>
            </a:r>
          </a:p>
          <a:p>
            <a:r>
              <a:t>Trong phân tích RQ3, chúng tôi làm rõ các khái niệm chi phí và dữ liệu:</a:t>
            </a:r>
          </a:p>
          <a:p>
            <a:r>
              <a:t>1. Dữ liệu DEV là dữ liệu tổng hợp (synthetic-paired-v1 DEV split, 4 views x 5 nhánh). Việc gửi request lên OpenAI không biến log tổng hợp thành dữ liệu thực địa in-the-wild.</a:t>
            </a:r>
          </a:p>
          <a:p>
            <a:r>
              <a:t>2. Toàn bộ nghiên cứu tính trên mẫu số 1,280 queries / điều kiện (tổng 6,400 logical requests, 6,401 physical attempts bao gồm 1 retry lỗi API).</a:t>
            </a:r>
          </a:p>
          <a:p>
            <a:r>
              <a:t>3. Hạch toán tài chính chính xác: trần ngân sách đóng băng cứng $19.99 USD (hard_budget_limit_usd), chi phí quyết toán thực tế 5 điều kiện chính thức là $6.58 settled spend ($6.57575890 USD), cộng giữ chỗ thận trọng pilot $0.05264010 USD tổng chi phí cam kết là $6.63 committed spend ($6.62839900 USD), ngân sách khả dụng còn lại là $13.36 net remaining ($13.36160100 USD; 0 holds, 0 breach).</a:t>
            </a:r>
          </a:p>
          <a:p>
            <a:r>
              <a:t>4. Phân biệt rõ khoản giữ chỗ thận trọng tạm thời ($0.05264010 USD prior_pilot_provisional_hold_usd), dự báo chuẩn tắc tập TEST ($8.20 – $8.99 USD cho 6,400 requests), và trần ngân sách đóng băng cứng $19.99 USD (hard_budget_limit_usd).</a:t>
            </a:r>
          </a:p>
          <a:p>
            <a:r>
              <a:t>Bằng chứng dự án: config/experiment_config.json (hard_budget_limit_usd: 19.99); reports/evidence/dev_cost_pilot_20261001/summary.json (SHA-256: f8dfe994...); tests/test_monetary_guard.py.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GHI CHÚ DIỄN GIẢ (Slide 10):</a:t>
            </a:r>
          </a:p>
          <a:p>
            <a:r>
              <a:t>Nghiên cứu công khai các giới hạn khoa học: Dữ liệu hiện tại nằm trong phạm vi kịch bản có cấu trúc synthetic-paired-v1; bộ nhúng dense đơn tầng chưa kết nối được từ vựng kỹ thuật hệ thống (Event ID số); và mô hình đánh giá là gpt-5.6-luna. Để đảm bảo an toàn, mọi quy trình kiểm thử tái lập phải thực thi qua runner offline scripts/run_offline_tests.py nhằm đánh chặn các kết nối mạng ngẫu nhiên ở tầng socket Python.</a:t>
            </a:r>
          </a:p>
          <a:p>
            <a:r>
              <a:t>Bằng chứng dự án: docs/reproducibility.md; scripts/run_offline_tests.py; tests/test_offline_guard.py (OFFLINE_GUARD egress=0).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GHI CHÚ DIỄN GIẢ (Slide 11):</a:t>
            </a:r>
          </a:p>
          <a:p>
            <a:r>
              <a:t>Khả năng tái lập độc lập là cam kết trọng tâm của dự án. Lệnh reproduce_study.py --all tái tạo toàn bộ chẩn đoán, bảng biểu và đồ thị từ 15 artifact đã đóng băng mà không tốn chi phí. Việc kiểm thử bắt buộc sử dụng runner scripts/run_offline_tests.py để kích hoạt OFFLINE_GUARD. Chúng tôi minh bạch rõ ràng: offline_guard là cơ chế đánh chặn ở tầng socket Python và lọc biến môi trường, không phải là sandbox cấp OS. Tái lập toàn diện luồng live provider yêu cầu credentials thực và chạy dưới budget guard kiểm soát ngân sách trần $19.99 USD. Bốn đóng góp khoa học cốt lõi đã thiết lập nền tảng đối chứng vững chắc cho cộng đồng RAG an ninh mạng.</a:t>
            </a:r>
          </a:p>
          <a:p>
            <a:r>
              <a:t>Bằng chứng dự án: config/canonical_experiment_lock_v1.json (SHA-256: 961ba9b3...); scripts/reproduce_study.py; scripts/run_offline_tests.py; tests/test_smoke_cases.py.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GHI CHÚ DIỄN GIẢ (Slide 12):</a:t>
            </a:r>
          </a:p>
          <a:p>
            <a:r>
              <a:t>Tóm lại, RAG2ATT&amp;CK đo lường thực nghiệm đối chứng vai trò của RAG trong bài toán ánh xạ log Windows sang ATT&amp;CK techniques. Các phát hiện hiện tại phản ánh phạm vi đo lường thực nghiệm và các giả thuyết đang chờ hoàn tất ma trận TEST. Chúng tôi nhấn mạnh tính trung thực khoa học: phân rã lỗi D2i theo các trục đo lường độc lập không giả định độc lập xác suất ngẫu nhiên, và quy trình tái lập sử dụng runner can thiệp socket tầng ứng dụng.</a:t>
            </a:r>
          </a:p>
          <a:p>
            <a:r>
              <a:t>Khai báo công cụ: Toàn bộ slide deck này được tác tạo tự động bằng kịch bản Python scripts/generate_slides.py (sử dụng thư viện python-pptx định dạng 16:9 widescreen), được thẩm định hiển thị qua bundled artifact tools.</a:t>
            </a:r>
          </a:p>
          <a:p>
            <a:r>
              <a:t>Bằng chứng dự án: PR #26 (https://github.com/habachcp6/RAG2ATTCK/pull/26); docs/sanitized_evidence_manifest.json; reports/evidence/reproducibility_package_manifest.md.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 y="1463040"/>
            <a:ext cx="137160" cy="36576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hape_slide_1_title"/>
          <p:cNvSpPr txBox="1"/>
          <p:nvPr/>
        </p:nvSpPr>
        <p:spPr>
          <a:xfrm>
            <a:off x="1371600" y="1371600"/>
            <a:ext cx="9601200" cy="3840480"/>
          </a:xfrm>
          <a:prstGeom prst="rect">
            <a:avLst/>
          </a:prstGeom>
          <a:noFill/>
        </p:spPr>
        <p:txBody>
          <a:bodyPr wrap="square">
            <a:spAutoFit/>
          </a:bodyPr>
          <a:lstStyle/>
          <a:p>
            <a:pPr>
              <a:defRPr sz="1400" b="1">
                <a:solidFill>
                  <a:srgbClr val="06B6D4"/>
                </a:solidFill>
                <a:latin typeface="Calibri"/>
              </a:defRPr>
            </a:pPr>
            <a:r>
              <a:t>BÁO CÁO NGHIÊN CỨU THỰC NGHIỆM ĐỐI CHỨNG</a:t>
            </a:r>
          </a:p>
          <a:p>
            <a:pPr>
              <a:spcBef>
                <a:spcPts val="1000"/>
              </a:spcBef>
              <a:defRPr sz="2800" b="1">
                <a:solidFill>
                  <a:srgbClr val="FFFFFF"/>
                </a:solidFill>
                <a:latin typeface="Calibri"/>
              </a:defRPr>
            </a:pPr>
            <a:r>
              <a:t>Đánh Giá Tác Động Của MITRE ATT&amp;CK-Grounded RAG Đối Với Việc Ánh Xạ Windows Endpoint Logs</a:t>
            </a:r>
          </a:p>
          <a:p>
            <a:pPr>
              <a:spcBef>
                <a:spcPts val="800"/>
              </a:spcBef>
              <a:defRPr sz="1500" i="1">
                <a:solidFill>
                  <a:srgbClr val="94A3B8"/>
                </a:solidFill>
                <a:latin typeface="Calibri"/>
              </a:defRPr>
            </a:pPr>
            <a:r>
              <a:t>Evaluating MITRE ATT&amp;CK-Grounded Retrieval-Augmented Generation for Technique Attribution from Windows Endpoint Logs (RAG2ATT&amp;CK)</a:t>
            </a:r>
          </a:p>
          <a:p>
            <a:pPr>
              <a:spcBef>
                <a:spcPts val="2400"/>
              </a:spcBef>
              <a:defRPr sz="1300">
                <a:solidFill>
                  <a:srgbClr val="E2E8F0"/>
                </a:solidFill>
                <a:latin typeface="Calibri"/>
              </a:defRPr>
            </a:pPr>
            <a:r>
              <a:t>Giao thức khoa học: experiment-protocol-v1.1  |  Khóa chuẩn: canonical-lock-v1</a:t>
            </a:r>
          </a:p>
          <a:p>
            <a:pPr>
              <a:spcBef>
                <a:spcPts val="800"/>
              </a:spcBef>
              <a:defRPr sz="1300" b="1">
                <a:solidFill>
                  <a:srgbClr val="DC2626"/>
                </a:solidFill>
                <a:latin typeface="Calibri"/>
              </a:defRPr>
            </a:pPr>
            <a:r>
              <a:t>[FIXTURE — PRE-CANONICAL RENDER TEST]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91695"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91440"/>
            <a:ext cx="10728655" cy="822960"/>
          </a:xfrm>
          <a:prstGeom prst="rect">
            <a:avLst/>
          </a:prstGeom>
          <a:noFill/>
        </p:spPr>
        <p:txBody>
          <a:bodyPr wrap="square">
            <a:spAutoFit/>
          </a:bodyPr>
          <a:lstStyle/>
          <a:p>
            <a:pPr>
              <a:defRPr sz="2400" b="1">
                <a:solidFill>
                  <a:srgbClr val="FFFFFF"/>
                </a:solidFill>
                <a:latin typeface="Calibri"/>
              </a:defRPr>
            </a:pPr>
            <a:r>
              <a:t>1. Vấn Đề Nghiên Cứu &amp; Động Lực Thực Tiễn</a:t>
            </a:r>
          </a:p>
          <a:p>
            <a:pPr>
              <a:defRPr sz="1300">
                <a:solidFill>
                  <a:srgbClr val="06B6D4"/>
                </a:solidFill>
                <a:latin typeface="Calibri"/>
              </a:defRPr>
            </a:pPr>
            <a:r>
              <a:t>Khoảng cách giữa nhật ký cấp thấp (Telemetry) và ma trận kỹ thuật ATT&amp;CK  |  [FIXTURE — PRE-CANONICAL RENDER TEST]</a:t>
            </a:r>
          </a:p>
        </p:txBody>
      </p:sp>
      <p:sp>
        <p:nvSpPr>
          <p:cNvPr id="6" name="shape_slide_2_problem"/>
          <p:cNvSpPr/>
          <p:nvPr/>
        </p:nvSpPr>
        <p:spPr>
          <a:xfrm>
            <a:off x="731520" y="1234440"/>
            <a:ext cx="3413455" cy="507492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hape_slide_2_problem_textbox"/>
          <p:cNvSpPr txBox="1"/>
          <p:nvPr/>
        </p:nvSpPr>
        <p:spPr>
          <a:xfrm>
            <a:off x="914400" y="1344168"/>
            <a:ext cx="3047695" cy="4855464"/>
          </a:xfrm>
          <a:prstGeom prst="rect">
            <a:avLst/>
          </a:prstGeom>
          <a:noFill/>
        </p:spPr>
        <p:txBody>
          <a:bodyPr wrap="square">
            <a:spAutoFit/>
          </a:bodyPr>
          <a:lstStyle/>
          <a:p>
            <a:pPr>
              <a:defRPr sz="1600" b="1">
                <a:solidFill>
                  <a:srgbClr val="2563EB"/>
                </a:solidFill>
                <a:latin typeface="Calibri"/>
              </a:defRPr>
            </a:pPr>
            <a:r>
              <a:t>Bối Cảnh Giám Sát SOC</a:t>
            </a:r>
          </a:p>
          <a:p>
            <a:pPr>
              <a:spcBef>
                <a:spcPts val="350"/>
              </a:spcBef>
              <a:defRPr sz="1150">
                <a:solidFill>
                  <a:srgbClr val="0F172A"/>
                </a:solidFill>
                <a:latin typeface="Calibri"/>
              </a:defRPr>
            </a:pPr>
            <a:r>
              <a:t>•  Nhật ký Windows Endpoint (Security Events, Sysmon) là tuyến phòng thủ cốt lõi của Trung tâm Giám sát An ninh (SOC).</a:t>
            </a:r>
          </a:p>
          <a:p>
            <a:pPr>
              <a:spcBef>
                <a:spcPts val="350"/>
              </a:spcBef>
              <a:defRPr sz="1150">
                <a:solidFill>
                  <a:srgbClr val="0F172A"/>
                </a:solidFill>
                <a:latin typeface="Calibri"/>
              </a:defRPr>
            </a:pPr>
            <a:r>
              <a:t>•  Việc ánh xạ nhật ký thô sang mã MITRE ATT&amp;CK Technique là tiêu chuẩn vàng để xác định ý đồ tấn công.</a:t>
            </a:r>
          </a:p>
          <a:p>
            <a:pPr>
              <a:spcBef>
                <a:spcPts val="350"/>
              </a:spcBef>
              <a:defRPr sz="1150">
                <a:solidFill>
                  <a:srgbClr val="0F172A"/>
                </a:solidFill>
                <a:latin typeface="Calibri"/>
              </a:defRPr>
            </a:pPr>
            <a:r>
              <a:t>•  Quy trình thủ công đòi hỏi chuyên gia cấp cao, tốn thời gian và khó đáp ứng quy mô hàng triệu sự kiện mỗi ngày.</a:t>
            </a:r>
          </a:p>
        </p:txBody>
      </p:sp>
      <p:sp>
        <p:nvSpPr>
          <p:cNvPr id="8" name="shape_slide_2_challenge"/>
          <p:cNvSpPr/>
          <p:nvPr/>
        </p:nvSpPr>
        <p:spPr>
          <a:xfrm>
            <a:off x="4389120" y="1234440"/>
            <a:ext cx="3413455" cy="507492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hape_slide_2_challenge_textbox"/>
          <p:cNvSpPr txBox="1"/>
          <p:nvPr/>
        </p:nvSpPr>
        <p:spPr>
          <a:xfrm>
            <a:off x="4572000" y="1344168"/>
            <a:ext cx="3047695" cy="4855464"/>
          </a:xfrm>
          <a:prstGeom prst="rect">
            <a:avLst/>
          </a:prstGeom>
          <a:noFill/>
        </p:spPr>
        <p:txBody>
          <a:bodyPr wrap="square">
            <a:spAutoFit/>
          </a:bodyPr>
          <a:lstStyle/>
          <a:p>
            <a:pPr>
              <a:defRPr sz="1600" b="1">
                <a:solidFill>
                  <a:srgbClr val="DC2626"/>
                </a:solidFill>
                <a:latin typeface="Calibri"/>
              </a:defRPr>
            </a:pPr>
            <a:r>
              <a:t>Thách Thức Của LLM Thuần Túy</a:t>
            </a:r>
          </a:p>
          <a:p>
            <a:pPr>
              <a:spcBef>
                <a:spcPts val="350"/>
              </a:spcBef>
              <a:defRPr sz="1150">
                <a:solidFill>
                  <a:srgbClr val="0F172A"/>
                </a:solidFill>
                <a:latin typeface="Calibri"/>
              </a:defRPr>
            </a:pPr>
            <a:r>
              <a:t>•  Khoảng cách trừu tượng: Log mang tính kỹ thuật hệ thống (Process GUID, CommandLine), trong khi ATT&amp;CK mô tả hành vi khái niệm.</a:t>
            </a:r>
          </a:p>
          <a:p>
            <a:pPr>
              <a:spcBef>
                <a:spcPts val="350"/>
              </a:spcBef>
              <a:defRPr sz="1150">
                <a:solidFill>
                  <a:srgbClr val="0F172A"/>
                </a:solidFill>
                <a:latin typeface="Calibri"/>
              </a:defRPr>
            </a:pPr>
            <a:r>
              <a:t>•  Hiện tượng ảo giác: LLM không có RAG dễ suy đoán mã kỹ thuật sai cú pháp hoặc không tồn tại trong danh mục.</a:t>
            </a:r>
          </a:p>
          <a:p>
            <a:pPr>
              <a:spcBef>
                <a:spcPts val="350"/>
              </a:spcBef>
              <a:defRPr sz="1150">
                <a:solidFill>
                  <a:srgbClr val="0F172A"/>
                </a:solidFill>
                <a:latin typeface="Calibri"/>
              </a:defRPr>
            </a:pPr>
            <a:r>
              <a:t>•  Nhầm lẫn Sub-techniques: Khó phân biệt các kỹ thuật lân cận (ví dụ: T1059.001 PowerShell vs T1059.003 Command Shell).</a:t>
            </a:r>
          </a:p>
        </p:txBody>
      </p:sp>
      <p:sp>
        <p:nvSpPr>
          <p:cNvPr id="10" name="shape_slide_2_motivation"/>
          <p:cNvSpPr/>
          <p:nvPr/>
        </p:nvSpPr>
        <p:spPr>
          <a:xfrm>
            <a:off x="8046720" y="1234440"/>
            <a:ext cx="3413455" cy="507492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hape_slide_2_motivation_textbox"/>
          <p:cNvSpPr txBox="1"/>
          <p:nvPr/>
        </p:nvSpPr>
        <p:spPr>
          <a:xfrm>
            <a:off x="8229600" y="1344168"/>
            <a:ext cx="3047695" cy="4855464"/>
          </a:xfrm>
          <a:prstGeom prst="rect">
            <a:avLst/>
          </a:prstGeom>
          <a:noFill/>
        </p:spPr>
        <p:txBody>
          <a:bodyPr wrap="square">
            <a:spAutoFit/>
          </a:bodyPr>
          <a:lstStyle/>
          <a:p>
            <a:pPr>
              <a:defRPr sz="1600" b="1">
                <a:solidFill>
                  <a:srgbClr val="059669"/>
                </a:solidFill>
                <a:latin typeface="Calibri"/>
              </a:defRPr>
            </a:pPr>
            <a:r>
              <a:t>Động Lực Của RAG2ATT&amp;CK</a:t>
            </a:r>
          </a:p>
          <a:p>
            <a:pPr>
              <a:spcBef>
                <a:spcPts val="250"/>
              </a:spcBef>
              <a:defRPr sz="1000">
                <a:solidFill>
                  <a:srgbClr val="0F172A"/>
                </a:solidFill>
                <a:latin typeface="Calibri"/>
              </a:defRPr>
            </a:pPr>
            <a:r>
              <a:t>•  Thiết kế nghiên cứu thực nghiệm đối chứng có kiểm soát (Controlled Empirical Study).</a:t>
            </a:r>
          </a:p>
          <a:p>
            <a:pPr>
              <a:spcBef>
                <a:spcPts val="250"/>
              </a:spcBef>
              <a:defRPr sz="1000">
                <a:solidFill>
                  <a:srgbClr val="0F172A"/>
                </a:solidFill>
                <a:latin typeface="Calibri"/>
              </a:defRPr>
            </a:pPr>
            <a:r>
              <a:t>•  Đo lường khách quan delta hiệu năng do RAG mang lại trên cùng mô hình LLM.</a:t>
            </a:r>
          </a:p>
          <a:p>
            <a:pPr>
              <a:spcBef>
                <a:spcPts val="250"/>
              </a:spcBef>
              <a:defRPr sz="1000">
                <a:solidFill>
                  <a:srgbClr val="0F172A"/>
                </a:solidFill>
                <a:latin typeface="Calibri"/>
              </a:defRPr>
            </a:pPr>
            <a:r>
              <a:t>•  Bóc tách độc lập lỗi tìm kiếm (Retrieval Failure) và lỗi phân loại (Classification Failure).</a:t>
            </a:r>
          </a:p>
          <a:p>
            <a:pPr>
              <a:spcBef>
                <a:spcPts val="250"/>
              </a:spcBef>
              <a:defRPr sz="1000">
                <a:solidFill>
                  <a:srgbClr val="0F172A"/>
                </a:solidFill>
                <a:latin typeface="Calibri"/>
              </a:defRPr>
            </a:pPr>
            <a:r>
              <a:t>•  Phạm vi tính xác định (Determinism): Áp dụng cho tái tạo dataset, đánh giá ngoại tuyến và thứ tự tie-breaking.</a:t>
            </a:r>
          </a:p>
          <a:p>
            <a:pPr>
              <a:spcBef>
                <a:spcPts val="250"/>
              </a:spcBef>
              <a:defRPr sz="1000">
                <a:solidFill>
                  <a:srgbClr val="0F172A"/>
                </a:solidFill>
                <a:latin typeface="Calibri"/>
              </a:defRPr>
            </a:pPr>
            <a:r>
              <a:t>•  Biến thiên backend LLM: Phản hồi LLM có thể biến thiên (không gửi seed qua mạng), được quản lý bởi chính sách siêu dữ liệu D3 (timestamp-bound).</a:t>
            </a:r>
          </a:p>
          <a:p>
            <a:pPr>
              <a:spcBef>
                <a:spcPts val="250"/>
              </a:spcBef>
              <a:defRPr sz="1000">
                <a:solidFill>
                  <a:srgbClr val="0F172A"/>
                </a:solidFill>
                <a:latin typeface="Calibri"/>
              </a:defRPr>
            </a:pPr>
            <a:r>
              <a:t>•  Tái lập ngoại tuyến chi phí 0 đồng với bộ offline_guard can thiệp tầng socket.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91695"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91440"/>
            <a:ext cx="10728655" cy="822960"/>
          </a:xfrm>
          <a:prstGeom prst="rect">
            <a:avLst/>
          </a:prstGeom>
          <a:noFill/>
        </p:spPr>
        <p:txBody>
          <a:bodyPr wrap="square">
            <a:spAutoFit/>
          </a:bodyPr>
          <a:lstStyle/>
          <a:p>
            <a:pPr>
              <a:defRPr sz="2400" b="1">
                <a:solidFill>
                  <a:srgbClr val="FFFFFF"/>
                </a:solidFill>
                <a:latin typeface="Calibri"/>
              </a:defRPr>
            </a:pPr>
            <a:r>
              <a:t>2. Kiến Trúc Thực Nghiệm Đối Chứng</a:t>
            </a:r>
          </a:p>
          <a:p>
            <a:pPr>
              <a:defRPr sz="1300">
                <a:solidFill>
                  <a:srgbClr val="06B6D4"/>
                </a:solidFill>
                <a:latin typeface="Calibri"/>
              </a:defRPr>
            </a:pPr>
            <a:r>
              <a:t>So sánh đối đầu giữa Baseline (No-RAG) và Experimental (RAG)  |  [FIXTURE — PRE-CANONICAL RENDER TEST]</a:t>
            </a:r>
          </a:p>
        </p:txBody>
      </p:sp>
      <p:sp>
        <p:nvSpPr>
          <p:cNvPr id="6" name="shape_slide_3_baseline"/>
          <p:cNvSpPr/>
          <p:nvPr/>
        </p:nvSpPr>
        <p:spPr>
          <a:xfrm>
            <a:off x="731520" y="1234440"/>
            <a:ext cx="5212080" cy="306324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hape_slide_3_baseline_textbox"/>
          <p:cNvSpPr txBox="1"/>
          <p:nvPr/>
        </p:nvSpPr>
        <p:spPr>
          <a:xfrm>
            <a:off x="914400" y="1344168"/>
            <a:ext cx="4846320" cy="2843784"/>
          </a:xfrm>
          <a:prstGeom prst="rect">
            <a:avLst/>
          </a:prstGeom>
          <a:noFill/>
        </p:spPr>
        <p:txBody>
          <a:bodyPr wrap="square">
            <a:spAutoFit/>
          </a:bodyPr>
          <a:lstStyle/>
          <a:p>
            <a:pPr>
              <a:defRPr sz="1600" b="1">
                <a:solidFill>
                  <a:srgbClr val="1E293B"/>
                </a:solidFill>
                <a:latin typeface="Calibri"/>
              </a:defRPr>
            </a:pPr>
            <a:r>
              <a:t>Nhánh Cơ Sở: Baseline No-RAG</a:t>
            </a:r>
          </a:p>
          <a:p>
            <a:pPr>
              <a:spcBef>
                <a:spcPts val="300"/>
              </a:spcBef>
              <a:defRPr sz="1150">
                <a:solidFill>
                  <a:srgbClr val="0F172A"/>
                </a:solidFill>
                <a:latin typeface="Calibri"/>
              </a:defRPr>
            </a:pPr>
            <a:r>
              <a:t>•  Đầu vào: Chuỗi sự kiện Windows Endpoint (endpoint_evidence).</a:t>
            </a:r>
          </a:p>
          <a:p>
            <a:pPr>
              <a:spcBef>
                <a:spcPts val="300"/>
              </a:spcBef>
              <a:defRPr sz="1150">
                <a:solidFill>
                  <a:srgbClr val="0F172A"/>
                </a:solidFill>
                <a:latin typeface="Calibri"/>
              </a:defRPr>
            </a:pPr>
            <a:r>
              <a:t>•  Cơ chế: Đưa trực tiếp vào LLM cùng prompt hướng dẫn chuẩn hóa.</a:t>
            </a:r>
          </a:p>
          <a:p>
            <a:pPr>
              <a:spcBef>
                <a:spcPts val="300"/>
              </a:spcBef>
              <a:defRPr sz="1150">
                <a:solidFill>
                  <a:srgbClr val="0F172A"/>
                </a:solidFill>
                <a:latin typeface="Calibri"/>
              </a:defRPr>
            </a:pPr>
            <a:r>
              <a:t>•  Đầu ra: Chuỗi JSON chứa duy nhất mã technique_id.</a:t>
            </a:r>
          </a:p>
          <a:p>
            <a:pPr>
              <a:spcBef>
                <a:spcPts val="300"/>
              </a:spcBef>
              <a:defRPr sz="1150">
                <a:solidFill>
                  <a:srgbClr val="0F172A"/>
                </a:solidFill>
                <a:latin typeface="Calibri"/>
              </a:defRPr>
            </a:pPr>
            <a:r>
              <a:t>•  Mô hình: gpt-5.6-luna (reasoning_effort=xhigh, api_interface=responses).</a:t>
            </a:r>
          </a:p>
        </p:txBody>
      </p:sp>
      <p:sp>
        <p:nvSpPr>
          <p:cNvPr id="8" name="shape_slide_3_rag"/>
          <p:cNvSpPr/>
          <p:nvPr/>
        </p:nvSpPr>
        <p:spPr>
          <a:xfrm>
            <a:off x="6248095" y="1234440"/>
            <a:ext cx="5212080" cy="306324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hape_slide_3_rag_textbox"/>
          <p:cNvSpPr txBox="1"/>
          <p:nvPr/>
        </p:nvSpPr>
        <p:spPr>
          <a:xfrm>
            <a:off x="6430975" y="1344168"/>
            <a:ext cx="4846320" cy="2843784"/>
          </a:xfrm>
          <a:prstGeom prst="rect">
            <a:avLst/>
          </a:prstGeom>
          <a:noFill/>
        </p:spPr>
        <p:txBody>
          <a:bodyPr wrap="square">
            <a:spAutoFit/>
          </a:bodyPr>
          <a:lstStyle/>
          <a:p>
            <a:pPr>
              <a:defRPr sz="1600" b="1">
                <a:solidFill>
                  <a:srgbClr val="1E40AF"/>
                </a:solidFill>
                <a:latin typeface="Calibri"/>
              </a:defRPr>
            </a:pPr>
            <a:r>
              <a:t>Nhánh Thử Nghiệm: Experimental RAG</a:t>
            </a:r>
          </a:p>
          <a:p>
            <a:pPr>
              <a:spcBef>
                <a:spcPts val="300"/>
              </a:spcBef>
              <a:defRPr sz="1150">
                <a:solidFill>
                  <a:srgbClr val="0F172A"/>
                </a:solidFill>
                <a:latin typeface="Calibri"/>
              </a:defRPr>
            </a:pPr>
            <a:r>
              <a:t>•  Đầu vào: Chuỗi sự kiện Windows Endpoint như nhánh cơ sở.</a:t>
            </a:r>
          </a:p>
          <a:p>
            <a:pPr>
              <a:spcBef>
                <a:spcPts val="300"/>
              </a:spcBef>
              <a:defRPr sz="1150">
                <a:solidFill>
                  <a:srgbClr val="0F172A"/>
                </a:solidFill>
                <a:latin typeface="Calibri"/>
              </a:defRPr>
            </a:pPr>
            <a:r>
              <a:t>•  Bộ truy xuất: sentence-transformers/all-MiniLM-L6-v2 + FAISS FlatIP (384-dim).</a:t>
            </a:r>
          </a:p>
          <a:p>
            <a:pPr>
              <a:spcBef>
                <a:spcPts val="300"/>
              </a:spcBef>
              <a:defRPr sz="1150">
                <a:solidFill>
                  <a:srgbClr val="0F172A"/>
                </a:solidFill>
                <a:latin typeface="Calibri"/>
              </a:defRPr>
            </a:pPr>
            <a:r>
              <a:t>•  Kho tri thức: 474 tài liệu ATT&amp;CK v19.2 Enterprise Windows.</a:t>
            </a:r>
          </a:p>
          <a:p>
            <a:pPr>
              <a:spcBef>
                <a:spcPts val="300"/>
              </a:spcBef>
              <a:defRPr sz="1150">
                <a:solidFill>
                  <a:srgbClr val="0F172A"/>
                </a:solidFill>
                <a:latin typeface="Calibri"/>
              </a:defRPr>
            </a:pPr>
            <a:r>
              <a:t>•  Độ sâu k: Đánh giá có hệ thống k ∈ {1, 3, 5, 10}.</a:t>
            </a:r>
          </a:p>
          <a:p>
            <a:pPr>
              <a:spcBef>
                <a:spcPts val="300"/>
              </a:spcBef>
              <a:defRPr sz="1150">
                <a:solidFill>
                  <a:srgbClr val="0F172A"/>
                </a:solidFill>
                <a:latin typeface="Calibri"/>
              </a:defRPr>
            </a:pPr>
            <a:r>
              <a:t>•  Đầu ra: Cùng cấu trúc JSON và cùng bộ kiểm tra cú pháp nghiêm ngặt.</a:t>
            </a:r>
          </a:p>
        </p:txBody>
      </p:sp>
      <p:sp>
        <p:nvSpPr>
          <p:cNvPr id="10" name="shape_slide_3_invariants"/>
          <p:cNvSpPr/>
          <p:nvPr/>
        </p:nvSpPr>
        <p:spPr>
          <a:xfrm>
            <a:off x="731520" y="4434840"/>
            <a:ext cx="10728655" cy="1874519"/>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hape_slide_3_invariants_textbox"/>
          <p:cNvSpPr txBox="1"/>
          <p:nvPr/>
        </p:nvSpPr>
        <p:spPr>
          <a:xfrm>
            <a:off x="914400" y="4544568"/>
            <a:ext cx="10362895" cy="1655063"/>
          </a:xfrm>
          <a:prstGeom prst="rect">
            <a:avLst/>
          </a:prstGeom>
          <a:noFill/>
        </p:spPr>
        <p:txBody>
          <a:bodyPr wrap="square">
            <a:spAutoFit/>
          </a:bodyPr>
          <a:lstStyle/>
          <a:p>
            <a:pPr>
              <a:defRPr sz="1600" b="1">
                <a:solidFill>
                  <a:srgbClr val="059669"/>
                </a:solidFill>
                <a:latin typeface="Calibri"/>
              </a:defRPr>
            </a:pPr>
            <a:r>
              <a:t>Các Biến Kiểm Soát Bất Biến (Controlled Invariants)</a:t>
            </a:r>
          </a:p>
          <a:p>
            <a:pPr>
              <a:spcBef>
                <a:spcPts val="300"/>
              </a:spcBef>
              <a:defRPr sz="1150">
                <a:solidFill>
                  <a:srgbClr val="0F172A"/>
                </a:solidFill>
                <a:latin typeface="Calibri"/>
              </a:defRPr>
            </a:pPr>
            <a:r>
              <a:t>•  Cùng tập dữ liệu thử nghiệm (exact same telemetry instances); Cùng mô hình và tham số suy luận.</a:t>
            </a:r>
          </a:p>
          <a:p>
            <a:pPr>
              <a:spcBef>
                <a:spcPts val="300"/>
              </a:spcBef>
              <a:defRPr sz="1150">
                <a:solidFill>
                  <a:srgbClr val="0F172A"/>
                </a:solidFill>
                <a:latin typeface="Calibri"/>
              </a:defRPr>
            </a:pPr>
            <a:r>
              <a:t>•  Cùng cấu trúc Prompt (prompts/baseline_v1.txt), chỉ khác biệt ở khối Context được chèn vào.</a:t>
            </a:r>
          </a:p>
          <a:p>
            <a:pPr>
              <a:spcBef>
                <a:spcPts val="300"/>
              </a:spcBef>
              <a:defRPr sz="1150">
                <a:solidFill>
                  <a:srgbClr val="0F172A"/>
                </a:solidFill>
                <a:latin typeface="Calibri"/>
              </a:defRPr>
            </a:pPr>
            <a:r>
              <a:t>•  Biến duy nhất được thay đổi trong toàn bộ nghiên cứu: Retrieval ON vs. OFF.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91695"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91440"/>
            <a:ext cx="10728655" cy="822960"/>
          </a:xfrm>
          <a:prstGeom prst="rect">
            <a:avLst/>
          </a:prstGeom>
          <a:noFill/>
        </p:spPr>
        <p:txBody>
          <a:bodyPr wrap="square">
            <a:spAutoFit/>
          </a:bodyPr>
          <a:lstStyle/>
          <a:p>
            <a:pPr>
              <a:defRPr sz="2400" b="1">
                <a:solidFill>
                  <a:srgbClr val="FFFFFF"/>
                </a:solidFill>
                <a:latin typeface="Calibri"/>
              </a:defRPr>
            </a:pPr>
            <a:r>
              <a:t>3. Thiết Kế Dữ Liệu &amp; Giao Thức Chống Rò Rỉ Nhãn</a:t>
            </a:r>
          </a:p>
          <a:p>
            <a:pPr>
              <a:defRPr sz="1300">
                <a:solidFill>
                  <a:srgbClr val="06B6D4"/>
                </a:solidFill>
                <a:latin typeface="Calibri"/>
              </a:defRPr>
            </a:pPr>
            <a:r>
              <a:t>Bộ dữ liệu chuẩn đóng băng Stage B (670 cặp kịch bản, 1,340 views)  |  [FIXTURE — PRE-CANONICAL RENDER TEST]</a:t>
            </a:r>
          </a:p>
        </p:txBody>
      </p:sp>
      <p:sp>
        <p:nvSpPr>
          <p:cNvPr id="6" name="shape_slide_4_dataset_topology"/>
          <p:cNvSpPr/>
          <p:nvPr/>
        </p:nvSpPr>
        <p:spPr>
          <a:xfrm>
            <a:off x="731520" y="1234440"/>
            <a:ext cx="5212080" cy="507492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hape_slide_4_dataset_topology_textbox"/>
          <p:cNvSpPr txBox="1"/>
          <p:nvPr/>
        </p:nvSpPr>
        <p:spPr>
          <a:xfrm>
            <a:off x="914400" y="1344168"/>
            <a:ext cx="4846320" cy="4855464"/>
          </a:xfrm>
          <a:prstGeom prst="rect">
            <a:avLst/>
          </a:prstGeom>
          <a:noFill/>
        </p:spPr>
        <p:txBody>
          <a:bodyPr wrap="square">
            <a:spAutoFit/>
          </a:bodyPr>
          <a:lstStyle/>
          <a:p>
            <a:pPr>
              <a:defRPr sz="1600" b="1">
                <a:solidFill>
                  <a:srgbClr val="2563EB"/>
                </a:solidFill>
                <a:latin typeface="Calibri"/>
              </a:defRPr>
            </a:pPr>
            <a:r>
              <a:t>Bộ Dữ Liệu Chuẩn Đóng Băng Stage B</a:t>
            </a:r>
          </a:p>
          <a:p>
            <a:pPr>
              <a:spcBef>
                <a:spcPts val="300"/>
              </a:spcBef>
              <a:defRPr sz="1150">
                <a:solidFill>
                  <a:srgbClr val="0F172A"/>
                </a:solidFill>
                <a:latin typeface="Calibri"/>
              </a:defRPr>
            </a:pPr>
            <a:r>
              <a:t>•  Tổng thể: 670 cặp kịch bản (Scenario Pairs) tương ứng 1,340 Views.</a:t>
            </a:r>
          </a:p>
          <a:p>
            <a:pPr>
              <a:spcBef>
                <a:spcPts val="300"/>
              </a:spcBef>
              <a:defRPr sz="1150">
                <a:solidFill>
                  <a:srgbClr val="0F172A"/>
                </a:solidFill>
                <a:latin typeface="Calibri"/>
              </a:defRPr>
            </a:pPr>
            <a:r>
              <a:t>•  Phân chia tập: 1,280 TEST views (718 scorable views across 440 distinct clusters) và 60 DEV views.</a:t>
            </a:r>
          </a:p>
          <a:p>
            <a:pPr>
              <a:spcBef>
                <a:spcPts val="300"/>
              </a:spcBef>
              <a:defRPr sz="1150">
                <a:solidFill>
                  <a:srgbClr val="0F172A"/>
                </a:solidFill>
                <a:latin typeface="Calibri"/>
              </a:defRPr>
            </a:pPr>
            <a:r>
              <a:t>•  Hình thức biểu diễn Telemetry:</a:t>
            </a:r>
          </a:p>
          <a:p>
            <a:pPr>
              <a:spcBef>
                <a:spcPts val="300"/>
              </a:spcBef>
              <a:defRPr sz="1150">
                <a:solidFill>
                  <a:srgbClr val="0F172A"/>
                </a:solidFill>
                <a:latin typeface="Calibri"/>
              </a:defRPr>
            </a:pPr>
            <a:r>
              <a:t>  • Single-event view: Một sự kiện đơn lẻ kích hoạt kỹ thuật tấn công.</a:t>
            </a:r>
          </a:p>
          <a:p>
            <a:pPr>
              <a:spcBef>
                <a:spcPts val="300"/>
              </a:spcBef>
              <a:defRPr sz="1150">
                <a:solidFill>
                  <a:srgbClr val="0F172A"/>
                </a:solidFill>
                <a:latin typeface="Calibri"/>
              </a:defRPr>
            </a:pPr>
            <a:r>
              <a:t>  • Contextual-event view: Sự kiện mục tiêu kèm nhật ký ngữ cảnh lân cận.</a:t>
            </a:r>
          </a:p>
          <a:p>
            <a:pPr>
              <a:spcBef>
                <a:spcPts val="300"/>
              </a:spcBef>
              <a:defRPr sz="1150">
                <a:solidFill>
                  <a:srgbClr val="0F172A"/>
                </a:solidFill>
                <a:latin typeface="Calibri"/>
              </a:defRPr>
            </a:pPr>
            <a:r>
              <a:t>•  Độ bao phủ: 8 nhóm kỹ thuật mục tiêu đại diện cùng các mẫu âm tính / mơ hồ.</a:t>
            </a:r>
          </a:p>
          <a:p>
            <a:pPr>
              <a:spcBef>
                <a:spcPts val="300"/>
              </a:spcBef>
              <a:defRPr sz="1150">
                <a:solidFill>
                  <a:srgbClr val="0F172A"/>
                </a:solidFill>
                <a:latin typeface="Calibri"/>
              </a:defRPr>
            </a:pPr>
            <a:r>
              <a:t>•  Toàn vẹn mật mã: Khóa bằng SHA-256 trong canonical_experiment_lock_v1.json | 278 complete pairs, 162 contextual-only pairs, 200 neither-mapped pairs.</a:t>
            </a:r>
          </a:p>
        </p:txBody>
      </p:sp>
      <p:sp>
        <p:nvSpPr>
          <p:cNvPr id="8" name="shape_slide_4_representations"/>
          <p:cNvSpPr/>
          <p:nvPr/>
        </p:nvSpPr>
        <p:spPr>
          <a:xfrm>
            <a:off x="6248095" y="1234440"/>
            <a:ext cx="5212080" cy="507492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hape_slide_4_representations_textbox"/>
          <p:cNvSpPr txBox="1"/>
          <p:nvPr/>
        </p:nvSpPr>
        <p:spPr>
          <a:xfrm>
            <a:off x="6430975" y="1344168"/>
            <a:ext cx="4846320" cy="4855464"/>
          </a:xfrm>
          <a:prstGeom prst="rect">
            <a:avLst/>
          </a:prstGeom>
          <a:noFill/>
        </p:spPr>
        <p:txBody>
          <a:bodyPr wrap="square">
            <a:spAutoFit/>
          </a:bodyPr>
          <a:lstStyle/>
          <a:p>
            <a:pPr>
              <a:defRPr sz="1600" b="1">
                <a:solidFill>
                  <a:srgbClr val="DC2626"/>
                </a:solidFill>
                <a:latin typeface="Calibri"/>
              </a:defRPr>
            </a:pPr>
            <a:r>
              <a:t>Giao Thức Chống Rò Rỉ Nhãn (Anti-Label-Leakage)</a:t>
            </a:r>
          </a:p>
          <a:p>
            <a:pPr>
              <a:spcBef>
                <a:spcPts val="300"/>
              </a:spcBef>
              <a:defRPr sz="1150">
                <a:solidFill>
                  <a:srgbClr val="0F172A"/>
                </a:solidFill>
                <a:latin typeface="Calibri"/>
              </a:defRPr>
            </a:pPr>
            <a:r>
              <a:t>•  Nguyên tắc cốt lõi: Tuyệt đối không để lộ nhãn hoặc tri thức luật trong đầu vào suy luận.</a:t>
            </a:r>
          </a:p>
          <a:p>
            <a:pPr>
              <a:spcBef>
                <a:spcPts val="300"/>
              </a:spcBef>
              <a:defRPr sz="1150">
                <a:solidFill>
                  <a:srgbClr val="0F172A"/>
                </a:solidFill>
                <a:latin typeface="Calibri"/>
              </a:defRPr>
            </a:pPr>
            <a:r>
              <a:t>•  Bộ lọc nghiêm ngặt (INFERENCE_ALLOWLIST):</a:t>
            </a:r>
          </a:p>
          <a:p>
            <a:pPr>
              <a:spcBef>
                <a:spcPts val="300"/>
              </a:spcBef>
              <a:defRPr sz="1150">
                <a:solidFill>
                  <a:srgbClr val="0F172A"/>
                </a:solidFill>
                <a:latin typeface="Calibri"/>
              </a:defRPr>
            </a:pPr>
            <a:r>
              <a:t>  • Chỉ giữ lại các trường kỹ thuật thô (CommandLine, ParentImage, Hashes).</a:t>
            </a:r>
          </a:p>
          <a:p>
            <a:pPr>
              <a:spcBef>
                <a:spcPts val="300"/>
              </a:spcBef>
              <a:defRPr sz="1150">
                <a:solidFill>
                  <a:srgbClr val="0F172A"/>
                </a:solidFill>
                <a:latin typeface="Calibri"/>
              </a:defRPr>
            </a:pPr>
            <a:r>
              <a:t>  • Loại bỏ hoàn toàn: technique_id, RuleName, Tactic, Description, Tags.</a:t>
            </a:r>
          </a:p>
          <a:p>
            <a:pPr>
              <a:spcBef>
                <a:spcPts val="300"/>
              </a:spcBef>
              <a:defRPr sz="1150">
                <a:solidFill>
                  <a:srgbClr val="0F172A"/>
                </a:solidFill>
                <a:latin typeface="Calibri"/>
              </a:defRPr>
            </a:pPr>
            <a:r>
              <a:t>•  Đầu vào suy luận (inference.jsonl) chỉ chứa 2 trường duy nhất: sample_id và endpoint_evidence.</a:t>
            </a:r>
          </a:p>
          <a:p>
            <a:pPr>
              <a:spcBef>
                <a:spcPts val="300"/>
              </a:spcBef>
              <a:defRPr sz="1150">
                <a:solidFill>
                  <a:srgbClr val="0F172A"/>
                </a:solidFill>
                <a:latin typeface="Calibri"/>
              </a:defRPr>
            </a:pPr>
            <a:r>
              <a:t>•  Phân định phạm vi: Stage B phục vụ kiểm định kỹ thuật &amp; chẩn đoán lỗi; dữ liệu thực địa (T15 real pilot) được quản lý độc lập.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91695"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91440"/>
            <a:ext cx="10728655" cy="822960"/>
          </a:xfrm>
          <a:prstGeom prst="rect">
            <a:avLst/>
          </a:prstGeom>
          <a:noFill/>
        </p:spPr>
        <p:txBody>
          <a:bodyPr wrap="square">
            <a:spAutoFit/>
          </a:bodyPr>
          <a:lstStyle/>
          <a:p>
            <a:pPr>
              <a:defRPr sz="2400" b="1">
                <a:solidFill>
                  <a:srgbClr val="FFFFFF"/>
                </a:solidFill>
                <a:latin typeface="Calibri"/>
              </a:defRPr>
            </a:pPr>
            <a:r>
              <a:t>4. Phương Pháp Luận, Mô Hình Đe Dọa &amp; Giao Thức v1.1</a:t>
            </a:r>
          </a:p>
          <a:p>
            <a:pPr>
              <a:defRPr sz="1300">
                <a:solidFill>
                  <a:srgbClr val="06B6D4"/>
                </a:solidFill>
                <a:latin typeface="Calibri"/>
              </a:defRPr>
            </a:pPr>
            <a:r>
              <a:t>Tách bạch rõ ràng 7 quyết định giao thức khoa học D1-D7 đóng băng  |  [FIXTURE — PRE-CANONICAL RENDER TEST]</a:t>
            </a:r>
          </a:p>
        </p:txBody>
      </p:sp>
      <p:sp>
        <p:nvSpPr>
          <p:cNvPr id="6" name="shape_slide_5_decisions"/>
          <p:cNvSpPr/>
          <p:nvPr/>
        </p:nvSpPr>
        <p:spPr>
          <a:xfrm>
            <a:off x="731520" y="1234440"/>
            <a:ext cx="5212080" cy="507492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hape_slide_5_decisions_textbox"/>
          <p:cNvSpPr txBox="1"/>
          <p:nvPr/>
        </p:nvSpPr>
        <p:spPr>
          <a:xfrm>
            <a:off x="914400" y="1344168"/>
            <a:ext cx="4846320" cy="4855464"/>
          </a:xfrm>
          <a:prstGeom prst="rect">
            <a:avLst/>
          </a:prstGeom>
          <a:noFill/>
        </p:spPr>
        <p:txBody>
          <a:bodyPr wrap="square">
            <a:spAutoFit/>
          </a:bodyPr>
          <a:lstStyle/>
          <a:p>
            <a:pPr>
              <a:defRPr sz="1600" b="1">
                <a:solidFill>
                  <a:srgbClr val="1E40AF"/>
                </a:solidFill>
                <a:latin typeface="Calibri"/>
              </a:defRPr>
            </a:pPr>
            <a:r>
              <a:t>Mô Hình Đe Dọa &amp; Danh Mục ATT&amp;CK v19.2</a:t>
            </a:r>
          </a:p>
          <a:p>
            <a:pPr>
              <a:spcBef>
                <a:spcPts val="250"/>
              </a:spcBef>
              <a:defRPr sz="1100">
                <a:solidFill>
                  <a:srgbClr val="0F172A"/>
                </a:solidFill>
                <a:latin typeface="Calibri"/>
              </a:defRPr>
            </a:pPr>
            <a:r>
              <a:t>•  Tiêu chuẩn danh mục: Pinned MITRE ATT&amp;CK v19.2 Enterprise Windows (474 techniques/sub-techniques).</a:t>
            </a:r>
          </a:p>
          <a:p>
            <a:pPr>
              <a:spcBef>
                <a:spcPts val="250"/>
              </a:spcBef>
              <a:defRPr sz="1100">
                <a:solidFill>
                  <a:srgbClr val="0F172A"/>
                </a:solidFill>
                <a:latin typeface="Calibri"/>
              </a:defRPr>
            </a:pPr>
            <a:r>
              <a:t>•  Chính sách kỹ thuật lịch sử (D2g: ALLOW_HISTORICAL):</a:t>
            </a:r>
          </a:p>
          <a:p>
            <a:pPr>
              <a:spcBef>
                <a:spcPts val="250"/>
              </a:spcBef>
              <a:defRPr sz="1100">
                <a:solidFill>
                  <a:srgbClr val="0F172A"/>
                </a:solidFill>
                <a:latin typeface="Calibri"/>
              </a:defRPr>
            </a:pPr>
            <a:r>
              <a:t>  • Chấp nhận các mã kỹ thuật lịch sử hoặc đã bị thu hồi (revoked/deprecated) có trong bộ kiểm chuẩn.</a:t>
            </a:r>
          </a:p>
          <a:p>
            <a:pPr>
              <a:spcBef>
                <a:spcPts val="250"/>
              </a:spcBef>
              <a:defRPr sz="1100">
                <a:solidFill>
                  <a:srgbClr val="0F172A"/>
                </a:solidFill>
                <a:latin typeface="Calibri"/>
              </a:defRPr>
            </a:pPr>
            <a:r>
              <a:t>  • Báo cáo dưới dạng distinct observation count, không tự ý gán lại (no silent remapping).</a:t>
            </a:r>
          </a:p>
          <a:p>
            <a:pPr>
              <a:spcBef>
                <a:spcPts val="250"/>
              </a:spcBef>
              <a:defRPr sz="1100">
                <a:solidFill>
                  <a:srgbClr val="0F172A"/>
                </a:solidFill>
                <a:latin typeface="Calibri"/>
              </a:defRPr>
            </a:pPr>
            <a:r>
              <a:t>•  Vũ trụ Macro-F1 cố định (D2d: FROZEN_BENCHMARK_UNIVERSE = 474):</a:t>
            </a:r>
          </a:p>
          <a:p>
            <a:pPr>
              <a:spcBef>
                <a:spcPts val="250"/>
              </a:spcBef>
              <a:defRPr sz="1100">
                <a:solidFill>
                  <a:srgbClr val="0F172A"/>
                </a:solidFill>
                <a:latin typeface="Calibri"/>
              </a:defRPr>
            </a:pPr>
            <a:r>
              <a:t>  • Tính Macro-F1 trên đúng 474 lớp kỹ thuật chuẩn đóng băng, đảm bảo nhất quán giữa các lần chạy.</a:t>
            </a:r>
          </a:p>
          <a:p>
            <a:pPr>
              <a:spcBef>
                <a:spcPts val="250"/>
              </a:spcBef>
              <a:defRPr sz="1100">
                <a:solidFill>
                  <a:srgbClr val="0F172A"/>
                </a:solidFill>
                <a:latin typeface="Calibri"/>
              </a:defRPr>
            </a:pPr>
            <a:r>
              <a:t>•  Loại trừ mẫu rỗng / mơ hồ (D2b-c: EXCLUDE):</a:t>
            </a:r>
          </a:p>
          <a:p>
            <a:pPr>
              <a:spcBef>
                <a:spcPts val="250"/>
              </a:spcBef>
              <a:defRPr sz="1100">
                <a:solidFill>
                  <a:srgbClr val="0F172A"/>
                </a:solidFill>
                <a:latin typeface="Calibri"/>
              </a:defRPr>
            </a:pPr>
            <a:r>
              <a:t>  • Mẫu không gán được nhãn hoặc nhãn mơ hồ bị loại khỏi mẫu số Attribution Accuracy.</a:t>
            </a:r>
          </a:p>
          <a:p>
            <a:pPr>
              <a:spcBef>
                <a:spcPts val="250"/>
              </a:spcBef>
              <a:defRPr sz="1100">
                <a:solidFill>
                  <a:srgbClr val="0F172A"/>
                </a:solidFill>
                <a:latin typeface="Calibri"/>
              </a:defRPr>
            </a:pPr>
            <a:r>
              <a:t>•  Lưu vết đầy đủ (D1: RECORD_ONLY): Lưu toàn văn phản hồi thô phục vụ kiểm toán độc lập.</a:t>
            </a:r>
          </a:p>
        </p:txBody>
      </p:sp>
      <p:sp>
        <p:nvSpPr>
          <p:cNvPr id="8" name="shape_slide_5_criteria"/>
          <p:cNvSpPr/>
          <p:nvPr/>
        </p:nvSpPr>
        <p:spPr>
          <a:xfrm>
            <a:off x="6248095" y="1234440"/>
            <a:ext cx="5212080" cy="507492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hape_slide_5_criteria_textbox"/>
          <p:cNvSpPr txBox="1"/>
          <p:nvPr/>
        </p:nvSpPr>
        <p:spPr>
          <a:xfrm>
            <a:off x="6430975" y="1344168"/>
            <a:ext cx="4846320" cy="4855464"/>
          </a:xfrm>
          <a:prstGeom prst="rect">
            <a:avLst/>
          </a:prstGeom>
          <a:noFill/>
        </p:spPr>
        <p:txBody>
          <a:bodyPr wrap="square">
            <a:spAutoFit/>
          </a:bodyPr>
          <a:lstStyle/>
          <a:p>
            <a:pPr>
              <a:defRPr sz="1600" b="1">
                <a:solidFill>
                  <a:srgbClr val="059669"/>
                </a:solidFill>
                <a:latin typeface="Calibri"/>
              </a:defRPr>
            </a:pPr>
            <a:r>
              <a:t>Các Tiêu Chí Giao Thức Đánh Giá Cốt Lõi</a:t>
            </a:r>
          </a:p>
          <a:p>
            <a:pPr>
              <a:spcBef>
                <a:spcPts val="250"/>
              </a:spcBef>
              <a:defRPr sz="1100">
                <a:solidFill>
                  <a:srgbClr val="0F172A"/>
                </a:solidFill>
                <a:latin typeface="Calibri"/>
              </a:defRPr>
            </a:pPr>
            <a:r>
              <a:t>•  D2h: Multi-GT Retrieval Success (ANY_GT_RETRIEVED):</a:t>
            </a:r>
          </a:p>
          <a:p>
            <a:pPr>
              <a:spcBef>
                <a:spcPts val="250"/>
              </a:spcBef>
              <a:defRPr sz="1100">
                <a:solidFill>
                  <a:srgbClr val="0F172A"/>
                </a:solidFill>
                <a:latin typeface="Calibri"/>
              </a:defRPr>
            </a:pPr>
            <a:r>
              <a:t>  • Retrieval được tính là thành công nếu BẤT KỲ ground-truth technique ID nào có trong Top-k candidates.</a:t>
            </a:r>
          </a:p>
          <a:p>
            <a:pPr>
              <a:spcBef>
                <a:spcPts val="250"/>
              </a:spcBef>
              <a:defRPr sz="1100">
                <a:solidFill>
                  <a:srgbClr val="0F172A"/>
                </a:solidFill>
                <a:latin typeface="Calibri"/>
              </a:defRPr>
            </a:pPr>
            <a:r>
              <a:t>•  D2i: Failure Decomposition (INDEPENDENT_AXES):</a:t>
            </a:r>
          </a:p>
          <a:p>
            <a:pPr>
              <a:spcBef>
                <a:spcPts val="250"/>
              </a:spcBef>
              <a:defRPr sz="1100">
                <a:solidFill>
                  <a:srgbClr val="0F172A"/>
                </a:solidFill>
                <a:latin typeface="Calibri"/>
              </a:defRPr>
            </a:pPr>
            <a:r>
              <a:t>  • Bóc tách lỗi thành các trục đo lường độc lập; ghi nhận đầy đủ phần giao thoa khác 0 (non-zero overlap).</a:t>
            </a:r>
          </a:p>
          <a:p>
            <a:pPr>
              <a:spcBef>
                <a:spcPts val="250"/>
              </a:spcBef>
              <a:defRPr sz="1100">
                <a:solidFill>
                  <a:srgbClr val="0F172A"/>
                </a:solidFill>
                <a:latin typeface="Calibri"/>
              </a:defRPr>
            </a:pPr>
            <a:r>
              <a:t>•  D2e: Invalid ID Denominator (invalid_id_as_failure / INCLUDE_IN_DENOMINATOR):</a:t>
            </a:r>
          </a:p>
          <a:p>
            <a:pPr>
              <a:spcBef>
                <a:spcPts val="250"/>
              </a:spcBef>
              <a:defRPr sz="1100">
                <a:solidFill>
                  <a:srgbClr val="0F172A"/>
                </a:solidFill>
                <a:latin typeface="Calibri"/>
              </a:defRPr>
            </a:pPr>
            <a:r>
              <a:t>  • Mã kỹ thuật ảo giác, sai cú pháp đều bị tính là thất bại trong mẫu số end-to-end (Fail-Closed).</a:t>
            </a:r>
          </a:p>
          <a:p>
            <a:pPr>
              <a:spcBef>
                <a:spcPts val="250"/>
              </a:spcBef>
              <a:defRPr sz="1100">
                <a:solidFill>
                  <a:srgbClr val="0F172A"/>
                </a:solidFill>
                <a:latin typeface="Calibri"/>
              </a:defRPr>
            </a:pPr>
            <a:r>
              <a:t>•  D2f: Provider Failure Denominator (api_failure_as_failure / INCLUDE_IN_DENOMINATOR):</a:t>
            </a:r>
          </a:p>
          <a:p>
            <a:pPr>
              <a:spcBef>
                <a:spcPts val="250"/>
              </a:spcBef>
              <a:defRPr sz="1100">
                <a:solidFill>
                  <a:srgbClr val="0F172A"/>
                </a:solidFill>
                <a:latin typeface="Calibri"/>
              </a:defRPr>
            </a:pPr>
            <a:r>
              <a:t>  • Lỗi API, timeout, refusal đều tính vào mẫu số thất bại end-to-end, không được loại trừ.</a:t>
            </a:r>
          </a:p>
          <a:p>
            <a:pPr>
              <a:spcBef>
                <a:spcPts val="250"/>
              </a:spcBef>
              <a:defRPr sz="1100">
                <a:solidFill>
                  <a:srgbClr val="0F172A"/>
                </a:solidFill>
                <a:latin typeface="Calibri"/>
              </a:defRPr>
            </a:pPr>
            <a:r>
              <a:t>•  D3: Khóa mô hình: ALLOW_LATEST_WITH_TIMESTAMP_BINDING (tem UTC thực tế).</a:t>
            </a:r>
          </a:p>
          <a:p>
            <a:pPr>
              <a:spcBef>
                <a:spcPts val="250"/>
              </a:spcBef>
              <a:defRPr sz="1100">
                <a:solidFill>
                  <a:srgbClr val="0F172A"/>
                </a:solidFill>
                <a:latin typeface="Calibri"/>
              </a:defRPr>
            </a:pPr>
            <a:r>
              <a:t>•  D4-D5: Thực thi tuần tự (SEQUENTIAL_ONLY), chặn cứng ngân sách (HARD_CAP).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91695"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91440"/>
            <a:ext cx="10728655" cy="822960"/>
          </a:xfrm>
          <a:prstGeom prst="rect">
            <a:avLst/>
          </a:prstGeom>
          <a:noFill/>
        </p:spPr>
        <p:txBody>
          <a:bodyPr wrap="square">
            <a:spAutoFit/>
          </a:bodyPr>
          <a:lstStyle/>
          <a:p>
            <a:pPr>
              <a:defRPr sz="2400" b="1">
                <a:solidFill>
                  <a:srgbClr val="FFFFFF"/>
                </a:solidFill>
                <a:latin typeface="Calibri"/>
              </a:defRPr>
            </a:pPr>
            <a:r>
              <a:t>5. Kết Quả RQ2: Chẩn Đoán Khâu Truy Xuất (Retrieval Quality)</a:t>
            </a:r>
          </a:p>
          <a:p>
            <a:pPr>
              <a:defRPr sz="1300">
                <a:solidFill>
                  <a:srgbClr val="06B6D4"/>
                </a:solidFill>
                <a:latin typeface="Calibri"/>
              </a:defRPr>
            </a:pPr>
            <a:r>
              <a:t>Đánh giá độc lập bộ tìm kiếm trên 756 positive views của benchmark  |  [FIXTURE — PRE-CANONICAL RENDER TEST]</a:t>
            </a:r>
          </a:p>
        </p:txBody>
      </p:sp>
      <p:sp>
        <p:nvSpPr>
          <p:cNvPr id="6" name="shape_slide_6_retrieval_diagnostics"/>
          <p:cNvSpPr/>
          <p:nvPr/>
        </p:nvSpPr>
        <p:spPr>
          <a:xfrm>
            <a:off x="731520" y="1234440"/>
            <a:ext cx="5212080" cy="507492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hape_slide_6_retrieval_diagnostics_textbox"/>
          <p:cNvSpPr txBox="1"/>
          <p:nvPr/>
        </p:nvSpPr>
        <p:spPr>
          <a:xfrm>
            <a:off x="914400" y="1344168"/>
            <a:ext cx="4846320" cy="4855464"/>
          </a:xfrm>
          <a:prstGeom prst="rect">
            <a:avLst/>
          </a:prstGeom>
          <a:noFill/>
        </p:spPr>
        <p:txBody>
          <a:bodyPr wrap="square">
            <a:spAutoFit/>
          </a:bodyPr>
          <a:lstStyle/>
          <a:p>
            <a:pPr>
              <a:defRPr sz="1600" b="1">
                <a:solidFill>
                  <a:srgbClr val="1E40AF"/>
                </a:solidFill>
                <a:latin typeface="Calibri"/>
              </a:defRPr>
            </a:pPr>
            <a:r>
              <a:t>Số Liệu Chẩn Đoán Cốt Lõi (T20 Overall)</a:t>
            </a:r>
          </a:p>
          <a:p>
            <a:pPr>
              <a:spcBef>
                <a:spcPts val="300"/>
              </a:spcBef>
              <a:defRPr sz="1150">
                <a:solidFill>
                  <a:srgbClr val="0F172A"/>
                </a:solidFill>
                <a:latin typeface="Calibri"/>
              </a:defRPr>
            </a:pPr>
            <a:r>
              <a:t>•  Số mẫu dương tính đánh giá: 756 / 1,340 views.</a:t>
            </a:r>
          </a:p>
          <a:p>
            <a:pPr>
              <a:spcBef>
                <a:spcPts val="300"/>
              </a:spcBef>
              <a:defRPr sz="1150">
                <a:solidFill>
                  <a:srgbClr val="0F172A"/>
                </a:solidFill>
                <a:latin typeface="Calibri"/>
              </a:defRPr>
            </a:pPr>
            <a:r>
              <a:t>•  Tỷ lệ tìm trúng theo độ sâu k (Hit@k):</a:t>
            </a:r>
          </a:p>
          <a:p>
            <a:pPr>
              <a:spcBef>
                <a:spcPts val="300"/>
              </a:spcBef>
              <a:defRPr sz="1150">
                <a:solidFill>
                  <a:srgbClr val="0F172A"/>
                </a:solidFill>
                <a:latin typeface="Calibri"/>
              </a:defRPr>
            </a:pPr>
            <a:r>
              <a:t>  • Hit@1:   4.23% (32 / 756)</a:t>
            </a:r>
          </a:p>
          <a:p>
            <a:pPr>
              <a:spcBef>
                <a:spcPts val="300"/>
              </a:spcBef>
              <a:defRPr sz="1150">
                <a:solidFill>
                  <a:srgbClr val="0F172A"/>
                </a:solidFill>
                <a:latin typeface="Calibri"/>
              </a:defRPr>
            </a:pPr>
            <a:r>
              <a:t>  • Hit@3:  16.80% (127 / 756)</a:t>
            </a:r>
          </a:p>
          <a:p>
            <a:pPr>
              <a:spcBef>
                <a:spcPts val="300"/>
              </a:spcBef>
              <a:defRPr sz="1150">
                <a:solidFill>
                  <a:srgbClr val="0F172A"/>
                </a:solidFill>
                <a:latin typeface="Calibri"/>
              </a:defRPr>
            </a:pPr>
            <a:r>
              <a:t>  • Hit@5:  24.21% (183 / 756)</a:t>
            </a:r>
          </a:p>
          <a:p>
            <a:pPr>
              <a:spcBef>
                <a:spcPts val="300"/>
              </a:spcBef>
              <a:defRPr sz="1150">
                <a:solidFill>
                  <a:srgbClr val="0F172A"/>
                </a:solidFill>
                <a:latin typeface="Calibri"/>
              </a:defRPr>
            </a:pPr>
            <a:r>
              <a:t>  • Hit@10: 45.11% (341 / 756)</a:t>
            </a:r>
          </a:p>
          <a:p>
            <a:pPr>
              <a:spcBef>
                <a:spcPts val="300"/>
              </a:spcBef>
              <a:defRPr sz="1150">
                <a:solidFill>
                  <a:srgbClr val="0F172A"/>
                </a:solidFill>
                <a:latin typeface="Calibri"/>
              </a:defRPr>
            </a:pPr>
            <a:r>
              <a:t>•  Tỷ lệ vắng mặt trong Top-10 (Retrieval Failure): 54.89% (415 / 756).</a:t>
            </a:r>
          </a:p>
          <a:p>
            <a:pPr>
              <a:spcBef>
                <a:spcPts val="300"/>
              </a:spcBef>
              <a:defRPr sz="1150">
                <a:solidFill>
                  <a:srgbClr val="0F172A"/>
                </a:solidFill>
                <a:latin typeface="Calibri"/>
              </a:defRPr>
            </a:pPr>
            <a:r>
              <a:t>•  Macro Recall@10: 43.14%  |  Mean Rank khi trúng: 5.21.</a:t>
            </a:r>
          </a:p>
          <a:p>
            <a:pPr>
              <a:spcBef>
                <a:spcPts val="300"/>
              </a:spcBef>
              <a:defRPr sz="1150">
                <a:solidFill>
                  <a:srgbClr val="0F172A"/>
                </a:solidFill>
                <a:latin typeface="Calibri"/>
              </a:defRPr>
            </a:pPr>
            <a:r>
              <a:t>•  Phát hiện: Trong hơn 54% trường hợp, kỹ thuật đúng hoàn toàn vắng bóng trong Top-10 gửi cho LLM!</a:t>
            </a:r>
          </a:p>
        </p:txBody>
      </p:sp>
      <p:pic>
        <p:nvPicPr>
          <p:cNvPr id="8" name="Picture 7" descr="fig_rq2_retrieval_hit_rates.png"/>
          <p:cNvPicPr>
            <a:picLocks noChangeAspect="1"/>
          </p:cNvPicPr>
          <p:nvPr/>
        </p:nvPicPr>
        <p:blipFill>
          <a:blip r:embed="rId2"/>
          <a:stretch>
            <a:fillRect/>
          </a:stretch>
        </p:blipFill>
        <p:spPr>
          <a:xfrm>
            <a:off x="6248095" y="1234440"/>
            <a:ext cx="5212080" cy="3257550"/>
          </a:xfrm>
          <a:prstGeom prst="rect">
            <a:avLst/>
          </a:prstGeom>
        </p:spPr>
      </p:pic>
      <p:sp>
        <p:nvSpPr>
          <p:cNvPr id="9" name="shape_slide_6_context_scaling"/>
          <p:cNvSpPr/>
          <p:nvPr/>
        </p:nvSpPr>
        <p:spPr>
          <a:xfrm>
            <a:off x="6248095" y="4526280"/>
            <a:ext cx="5212080" cy="178308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hape_slide_6_context_scaling_textbox"/>
          <p:cNvSpPr txBox="1"/>
          <p:nvPr/>
        </p:nvSpPr>
        <p:spPr>
          <a:xfrm>
            <a:off x="6430975" y="4636008"/>
            <a:ext cx="4846320" cy="1563624"/>
          </a:xfrm>
          <a:prstGeom prst="rect">
            <a:avLst/>
          </a:prstGeom>
          <a:noFill/>
        </p:spPr>
        <p:txBody>
          <a:bodyPr wrap="square">
            <a:spAutoFit/>
          </a:bodyPr>
          <a:lstStyle/>
          <a:p>
            <a:pPr>
              <a:defRPr sz="1600" b="1">
                <a:solidFill>
                  <a:srgbClr val="DC2626"/>
                </a:solidFill>
                <a:latin typeface="Calibri"/>
              </a:defRPr>
            </a:pPr>
            <a:r>
              <a:t>Giả Thuyết Context Scaling &amp; Dilution (k=1,3,5,10)</a:t>
            </a:r>
          </a:p>
          <a:p>
            <a:pPr>
              <a:spcBef>
                <a:spcPts val="250"/>
              </a:spcBef>
              <a:defRPr sz="1100">
                <a:solidFill>
                  <a:srgbClr val="0F172A"/>
                </a:solidFill>
                <a:latin typeface="Calibri"/>
              </a:defRPr>
            </a:pPr>
            <a:r>
              <a:t>•  Khoảng cách ngữ nghĩa tại T1136.001 (Local Account): 0/99 lượt trúng Top-10 do log Event ID 4720 lệch từ vựng so với STIX persistence.</a:t>
            </a:r>
          </a:p>
          <a:p>
            <a:pPr>
              <a:spcBef>
                <a:spcPts val="250"/>
              </a:spcBef>
              <a:defRPr sz="1100">
                <a:solidFill>
                  <a:srgbClr val="0F172A"/>
                </a:solidFill>
                <a:latin typeface="Calibri"/>
              </a:defRPr>
            </a:pPr>
            <a:r>
              <a:t>•  Giả thuyết Context Scaling &amp; Dilution: Tăng k tăng độ phủ (Hit@k) nhưng tăng nguy cơ nhiễu distractor; đang được kiểm chứng đối chứng trên ma trận TEST.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91695"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91440"/>
            <a:ext cx="10728655" cy="822960"/>
          </a:xfrm>
          <a:prstGeom prst="rect">
            <a:avLst/>
          </a:prstGeom>
          <a:noFill/>
        </p:spPr>
        <p:txBody>
          <a:bodyPr wrap="square">
            <a:spAutoFit/>
          </a:bodyPr>
          <a:lstStyle/>
          <a:p>
            <a:pPr>
              <a:defRPr sz="2400" b="1">
                <a:solidFill>
                  <a:srgbClr val="FFFFFF"/>
                </a:solidFill>
                <a:latin typeface="Calibri"/>
              </a:defRPr>
            </a:pPr>
            <a:r>
              <a:t>6. Tác Động Của Hình Thức Biểu Diễn Telemetry</a:t>
            </a:r>
          </a:p>
          <a:p>
            <a:pPr>
              <a:defRPr sz="1300">
                <a:solidFill>
                  <a:srgbClr val="06B6D4"/>
                </a:solidFill>
                <a:latin typeface="Calibri"/>
              </a:defRPr>
            </a:pPr>
            <a:r>
              <a:t>So sánh thực nghiệm Single vs Contextual trên 670 cặp kịch bản đối ứng  |  [FIXTURE — PRE-CANONICAL RENDER TEST]</a:t>
            </a:r>
          </a:p>
        </p:txBody>
      </p:sp>
      <p:sp>
        <p:nvSpPr>
          <p:cNvPr id="6" name="shape_slide_7_paired_analysis"/>
          <p:cNvSpPr/>
          <p:nvPr/>
        </p:nvSpPr>
        <p:spPr>
          <a:xfrm>
            <a:off x="731520" y="1234440"/>
            <a:ext cx="5212080" cy="507492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hape_slide_7_paired_analysis_textbox"/>
          <p:cNvSpPr txBox="1"/>
          <p:nvPr/>
        </p:nvSpPr>
        <p:spPr>
          <a:xfrm>
            <a:off x="914400" y="1344168"/>
            <a:ext cx="4846320" cy="4855464"/>
          </a:xfrm>
          <a:prstGeom prst="rect">
            <a:avLst/>
          </a:prstGeom>
          <a:noFill/>
        </p:spPr>
        <p:txBody>
          <a:bodyPr wrap="square">
            <a:spAutoFit/>
          </a:bodyPr>
          <a:lstStyle/>
          <a:p>
            <a:pPr>
              <a:defRPr sz="1600" b="1">
                <a:solidFill>
                  <a:srgbClr val="2563EB"/>
                </a:solidFill>
                <a:latin typeface="Calibri"/>
              </a:defRPr>
            </a:pPr>
            <a:r>
              <a:t>Phân Tích Cặp Anchor Chuẩn (296 Cặp - Primary)</a:t>
            </a:r>
          </a:p>
          <a:p>
            <a:pPr>
              <a:spcBef>
                <a:spcPts val="300"/>
              </a:spcBef>
              <a:defRPr sz="1150">
                <a:solidFill>
                  <a:srgbClr val="0F172A"/>
                </a:solidFill>
                <a:latin typeface="Calibri"/>
              </a:defRPr>
            </a:pPr>
            <a:r>
              <a:t>•  Quy mô: 670 cặp kịch bản đối ứng; 374 cặp bị loại trừ do đa nhãn/mismatch.</a:t>
            </a:r>
          </a:p>
          <a:p>
            <a:pPr>
              <a:spcBef>
                <a:spcPts val="300"/>
              </a:spcBef>
              <a:defRPr sz="1150">
                <a:solidFill>
                  <a:srgbClr val="0F172A"/>
                </a:solidFill>
                <a:latin typeface="Calibri"/>
              </a:defRPr>
            </a:pPr>
            <a:r>
              <a:t>•  Tiêu chí Anchor chuẩn (scripts/verify_t20_canonical_artifacts.py):</a:t>
            </a:r>
          </a:p>
          <a:p>
            <a:pPr>
              <a:spcBef>
                <a:spcPts val="300"/>
              </a:spcBef>
              <a:defRPr sz="1150">
                <a:solidFill>
                  <a:srgbClr val="0F172A"/>
                </a:solidFill>
                <a:latin typeface="Calibri"/>
              </a:defRPr>
            </a:pPr>
            <a:r>
              <a:t>  • Single view có duy nhất 1 kỹ thuật và kỹ thuật này có mặt trong Contextual view.</a:t>
            </a:r>
          </a:p>
          <a:p>
            <a:pPr>
              <a:spcBef>
                <a:spcPts val="300"/>
              </a:spcBef>
              <a:defRPr sz="1150">
                <a:solidFill>
                  <a:srgbClr val="0F172A"/>
                </a:solidFill>
                <a:latin typeface="Calibri"/>
              </a:defRPr>
            </a:pPr>
            <a:r>
              <a:t>•  Phân bố thứ hạng thực nghiệm quan sát được:</a:t>
            </a:r>
          </a:p>
          <a:p>
            <a:pPr>
              <a:spcBef>
                <a:spcPts val="300"/>
              </a:spcBef>
              <a:defRPr sz="1150">
                <a:solidFill>
                  <a:srgbClr val="0F172A"/>
                </a:solidFill>
                <a:latin typeface="Calibri"/>
              </a:defRPr>
            </a:pPr>
            <a:r>
              <a:t>  • Single-event đạt thứ hạng tốt hơn: 65 cặp (22.0%)</a:t>
            </a:r>
          </a:p>
          <a:p>
            <a:pPr>
              <a:spcBef>
                <a:spcPts val="300"/>
              </a:spcBef>
              <a:defRPr sz="1150">
                <a:solidFill>
                  <a:srgbClr val="0F172A"/>
                </a:solidFill>
                <a:latin typeface="Calibri"/>
              </a:defRPr>
            </a:pPr>
            <a:r>
              <a:t>  • Contextual-event đạt thứ hạng tốt hơn: 23 cặp (7.8%)</a:t>
            </a:r>
          </a:p>
          <a:p>
            <a:pPr>
              <a:spcBef>
                <a:spcPts val="300"/>
              </a:spcBef>
              <a:defRPr sz="1150">
                <a:solidFill>
                  <a:srgbClr val="0F172A"/>
                </a:solidFill>
                <a:latin typeface="Calibri"/>
              </a:defRPr>
            </a:pPr>
            <a:r>
              <a:t>  • Hiệu năng thứ hạng tương đương: 208 cặp (70.3%)</a:t>
            </a:r>
          </a:p>
          <a:p>
            <a:pPr>
              <a:spcBef>
                <a:spcPts val="300"/>
              </a:spcBef>
              <a:defRPr sz="1150">
                <a:solidFill>
                  <a:srgbClr val="0F172A"/>
                </a:solidFill>
                <a:latin typeface="Calibri"/>
              </a:defRPr>
            </a:pPr>
            <a:r>
              <a:t>    - Cả hai biểu diễn cùng trượt Top-10: 147 cặp</a:t>
            </a:r>
          </a:p>
          <a:p>
            <a:pPr>
              <a:spcBef>
                <a:spcPts val="300"/>
              </a:spcBef>
              <a:defRPr sz="1150">
                <a:solidFill>
                  <a:srgbClr val="0F172A"/>
                </a:solidFill>
                <a:latin typeface="Calibri"/>
              </a:defRPr>
            </a:pPr>
            <a:r>
              <a:t>    - Đồng hạng chính xác trong Top-10: 61 cặp</a:t>
            </a:r>
          </a:p>
          <a:p>
            <a:pPr>
              <a:spcBef>
                <a:spcPts val="300"/>
              </a:spcBef>
              <a:defRPr sz="1150">
                <a:solidFill>
                  <a:srgbClr val="0F172A"/>
                </a:solidFill>
                <a:latin typeface="Calibri"/>
              </a:defRPr>
            </a:pPr>
            <a:r>
              <a:t>•  Nhóm lọc đơn kỹ thuật nghiêm ngặt (252 cặp - Secondary): Single tốt hơn 59 cặp (23.4%) vs. Contextual 23 cặp (9.1%), ngang nhau 170 cặp.</a:t>
            </a:r>
          </a:p>
        </p:txBody>
      </p:sp>
      <p:sp>
        <p:nvSpPr>
          <p:cNvPr id="8" name="shape_slide_7_benign_drift"/>
          <p:cNvSpPr/>
          <p:nvPr/>
        </p:nvSpPr>
        <p:spPr>
          <a:xfrm>
            <a:off x="6248095" y="1234440"/>
            <a:ext cx="5212080" cy="507492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hape_slide_7_benign_drift_textbox"/>
          <p:cNvSpPr txBox="1"/>
          <p:nvPr/>
        </p:nvSpPr>
        <p:spPr>
          <a:xfrm>
            <a:off x="6430975" y="1344168"/>
            <a:ext cx="4846320" cy="4855464"/>
          </a:xfrm>
          <a:prstGeom prst="rect">
            <a:avLst/>
          </a:prstGeom>
          <a:noFill/>
        </p:spPr>
        <p:txBody>
          <a:bodyPr wrap="square">
            <a:spAutoFit/>
          </a:bodyPr>
          <a:lstStyle/>
          <a:p>
            <a:pPr>
              <a:defRPr sz="1600" b="1">
                <a:solidFill>
                  <a:srgbClr val="DC2626"/>
                </a:solidFill>
                <a:latin typeface="Calibri"/>
              </a:defRPr>
            </a:pPr>
            <a:r>
              <a:t>Hiện Tượng Quan Sát &amp; Schema So Sánh [FIXTURE — PRE-CANONICAL RENDER TEST]</a:t>
            </a:r>
          </a:p>
          <a:p>
            <a:pPr>
              <a:spcBef>
                <a:spcPts val="300"/>
              </a:spcBef>
              <a:defRPr sz="1150">
                <a:solidFill>
                  <a:srgbClr val="0F172A"/>
                </a:solidFill>
                <a:latin typeface="Calibri"/>
              </a:defRPr>
            </a:pPr>
            <a:r>
              <a:t>•  Hiện tượng Benign Drift khi mở rộng ngữ cảnh:</a:t>
            </a:r>
          </a:p>
          <a:p>
            <a:pPr>
              <a:spcBef>
                <a:spcPts val="300"/>
              </a:spcBef>
              <a:defRPr sz="1150">
                <a:solidFill>
                  <a:srgbClr val="0F172A"/>
                </a:solidFill>
                <a:latin typeface="Calibri"/>
              </a:defRPr>
            </a:pPr>
            <a:r>
              <a:t>  • Gộp các sự kiện lân cận bổ sung nhiều token thông thường (Explorer, DNS, svchost).</a:t>
            </a:r>
          </a:p>
          <a:p>
            <a:pPr>
              <a:spcBef>
                <a:spcPts val="300"/>
              </a:spcBef>
              <a:defRPr sz="1150">
                <a:solidFill>
                  <a:srgbClr val="0F172A"/>
                </a:solidFill>
                <a:latin typeface="Calibri"/>
              </a:defRPr>
            </a:pPr>
            <a:r>
              <a:t>  • Vector dense embedding bị kéo lệch về hành vi bình thường, làm tụt thứ hạng kỹ thuật tấn công.</a:t>
            </a:r>
          </a:p>
          <a:p>
            <a:pPr>
              <a:spcBef>
                <a:spcPts val="300"/>
              </a:spcBef>
              <a:defRPr sz="1150">
                <a:solidFill>
                  <a:srgbClr val="0F172A"/>
                </a:solidFill>
                <a:latin typeface="Calibri"/>
              </a:defRPr>
            </a:pPr>
            <a:r>
              <a:t>•  Schema So Sánh Đối Chứng Scaffold [FIXTURE — PRE-CANONICAL RENDER TEST]:</a:t>
            </a:r>
          </a:p>
          <a:p>
            <a:pPr>
              <a:spcBef>
                <a:spcPts val="300"/>
              </a:spcBef>
              <a:defRPr sz="1150">
                <a:solidFill>
                  <a:srgbClr val="0F172A"/>
                </a:solidFill>
                <a:latin typeface="Calibri"/>
              </a:defRPr>
            </a:pPr>
            <a:r>
              <a:t>  • Đối chứng: Zero-Shot No-RAG vs Zero-Shot RAG (k=1..10) vs Prompt Scaffolds.</a:t>
            </a:r>
          </a:p>
          <a:p>
            <a:pPr>
              <a:spcBef>
                <a:spcPts val="300"/>
              </a:spcBef>
              <a:defRPr sz="1150">
                <a:solidFill>
                  <a:srgbClr val="0F172A"/>
                </a:solidFill>
                <a:latin typeface="Calibri"/>
              </a:defRPr>
            </a:pPr>
            <a:r>
              <a:t>  • Giả thuyết: Khối tri thức RAG bổ trợ cần đi kèm tiền lọc sự kiện nghi vấn thay vì nhúng thô.</a:t>
            </a:r>
          </a:p>
          <a:p>
            <a:pPr>
              <a:spcBef>
                <a:spcPts val="300"/>
              </a:spcBef>
              <a:defRPr sz="1150">
                <a:solidFill>
                  <a:srgbClr val="0F172A"/>
                </a:solidFill>
                <a:latin typeface="Calibri"/>
              </a:defRPr>
            </a:pPr>
            <a:r>
              <a:t>  • Trạng thái: Thử nghiệm sơ bộ trên fixture đối chứng; kết luận chính thức cần ma trận TEST đầy đủ.</a:t>
            </a:r>
          </a:p>
          <a:p>
            <a:pPr>
              <a:spcBef>
                <a:spcPts val="300"/>
              </a:spcBef>
              <a:defRPr sz="1150">
                <a:solidFill>
                  <a:srgbClr val="0F172A"/>
                </a:solidFill>
                <a:latin typeface="Calibri"/>
              </a:defRPr>
            </a:pPr>
            <a:r>
              <a:t>•  Phạm vi khảo sát: Ghi nhận trên synthetic-paired-v1; cần tiếp tục kiểm chứng trên telemetry thực tế.</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91695"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91440"/>
            <a:ext cx="10728655" cy="822960"/>
          </a:xfrm>
          <a:prstGeom prst="rect">
            <a:avLst/>
          </a:prstGeom>
          <a:noFill/>
        </p:spPr>
        <p:txBody>
          <a:bodyPr wrap="square">
            <a:spAutoFit/>
          </a:bodyPr>
          <a:lstStyle/>
          <a:p>
            <a:pPr>
              <a:defRPr sz="2400" b="1">
                <a:solidFill>
                  <a:srgbClr val="FFFFFF"/>
                </a:solidFill>
                <a:latin typeface="Calibri"/>
              </a:defRPr>
            </a:pPr>
            <a:r>
              <a:t>7. Khung Đánh Giá End-to-End (RQ1) &amp; Phân Rã Lỗi Độc Lập D2i (RQ2)</a:t>
            </a:r>
          </a:p>
          <a:p>
            <a:pPr>
              <a:defRPr sz="1300">
                <a:solidFill>
                  <a:srgbClr val="06B6D4"/>
                </a:solidFill>
                <a:latin typeface="Calibri"/>
              </a:defRPr>
            </a:pPr>
            <a:r>
              <a:t>Bóc tách độc lập giữa năng lực truy xuất và phân loại theo định đề D2i (Independent Axes)  |  [FIXTURE — PRE-CANONICAL RENDER TEST]</a:t>
            </a:r>
          </a:p>
        </p:txBody>
      </p:sp>
      <p:sp>
        <p:nvSpPr>
          <p:cNvPr id="6" name="shape_slide_8_d2i_axes"/>
          <p:cNvSpPr/>
          <p:nvPr/>
        </p:nvSpPr>
        <p:spPr>
          <a:xfrm>
            <a:off x="731520" y="1188720"/>
            <a:ext cx="10728655" cy="1874519"/>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hape_slide_8_d2i_axes_textbox"/>
          <p:cNvSpPr txBox="1"/>
          <p:nvPr/>
        </p:nvSpPr>
        <p:spPr>
          <a:xfrm>
            <a:off x="914400" y="1298448"/>
            <a:ext cx="10362895" cy="1655063"/>
          </a:xfrm>
          <a:prstGeom prst="rect">
            <a:avLst/>
          </a:prstGeom>
          <a:noFill/>
        </p:spPr>
        <p:txBody>
          <a:bodyPr wrap="square">
            <a:spAutoFit/>
          </a:bodyPr>
          <a:lstStyle/>
          <a:p>
            <a:pPr>
              <a:defRPr sz="1600" b="1">
                <a:solidFill>
                  <a:srgbClr val="1E40AF"/>
                </a:solidFill>
                <a:latin typeface="Calibri"/>
              </a:defRPr>
            </a:pPr>
            <a:r>
              <a:t>Mô Hình Phân Rã Lỗi Độc Lập Theo Định Đề D2i (RQ2 Error Decomposition)</a:t>
            </a:r>
          </a:p>
          <a:p>
            <a:pPr>
              <a:spcBef>
                <a:spcPts val="250"/>
              </a:spcBef>
              <a:defRPr sz="1100">
                <a:solidFill>
                  <a:srgbClr val="0F172A"/>
                </a:solidFill>
                <a:latin typeface="Calibri"/>
              </a:defRPr>
            </a:pPr>
            <a:r>
              <a:t>•  Định đề D2i quy định retrieval failure và downstream generation failure là CÁC TRỤC ĐO LƯỜNG ĐỘC LẬP (Independent Measurement Axes), không phải phân hoạch xung khắc rời rạc, không giả định độc lập xác suất ngẫu nhiên (phần giao thoa khác 0).</a:t>
            </a:r>
          </a:p>
          <a:p>
            <a:pPr>
              <a:spcBef>
                <a:spcPts val="250"/>
              </a:spcBef>
              <a:defRPr sz="1100">
                <a:solidFill>
                  <a:srgbClr val="0F172A"/>
                </a:solidFill>
                <a:latin typeface="Calibri"/>
              </a:defRPr>
            </a:pPr>
            <a:r>
              <a:t>•  Trục 1 - Retrieval Miss Rate: 1 - Hit@k (kỹ thuật ground-truth vắng mặt trong Top-k theo tiêu chí D2h ANY_MATCH).</a:t>
            </a:r>
          </a:p>
          <a:p>
            <a:pPr>
              <a:spcBef>
                <a:spcPts val="250"/>
              </a:spcBef>
              <a:defRPr sz="1100">
                <a:solidFill>
                  <a:srgbClr val="0F172A"/>
                </a:solidFill>
                <a:latin typeface="Calibri"/>
              </a:defRPr>
            </a:pPr>
            <a:r>
              <a:t>•  Trục 2 - Downstream Generation Failure: mô hình phát sinh invalid ATT&amp;CK ID (D2e), gặp lỗi provider (D2f), hoặc chọn sai kỹ thuật dù đã được cung cấp.</a:t>
            </a:r>
          </a:p>
          <a:p>
            <a:pPr>
              <a:spcBef>
                <a:spcPts val="250"/>
              </a:spcBef>
              <a:defRPr sz="1100">
                <a:solidFill>
                  <a:srgbClr val="0F172A"/>
                </a:solidFill>
                <a:latin typeface="Calibri"/>
              </a:defRPr>
            </a:pPr>
            <a:r>
              <a:t>•  Trục 3 - Joint Overlap: ghi nhận rõ các bản ghi retrieval trượt ĐỒNG THỜI mô hình hallucinate/phân loại sai, không áp đặt thứ tự loại trừ nhân tạo.</a:t>
            </a:r>
          </a:p>
        </p:txBody>
      </p:sp>
      <p:sp>
        <p:nvSpPr>
          <p:cNvPr id="8" name="shape_slide_8_conditional_accuracy"/>
          <p:cNvSpPr/>
          <p:nvPr/>
        </p:nvSpPr>
        <p:spPr>
          <a:xfrm>
            <a:off x="731520" y="3200400"/>
            <a:ext cx="5212080" cy="31089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hape_slide_8_conditional_accuracy_textbox"/>
          <p:cNvSpPr txBox="1"/>
          <p:nvPr/>
        </p:nvSpPr>
        <p:spPr>
          <a:xfrm>
            <a:off x="914400" y="3310128"/>
            <a:ext cx="4846320" cy="2889504"/>
          </a:xfrm>
          <a:prstGeom prst="rect">
            <a:avLst/>
          </a:prstGeom>
          <a:noFill/>
        </p:spPr>
        <p:txBody>
          <a:bodyPr wrap="square">
            <a:spAutoFit/>
          </a:bodyPr>
          <a:lstStyle/>
          <a:p>
            <a:pPr>
              <a:defRPr sz="1600" b="1">
                <a:solidFill>
                  <a:srgbClr val="2563EB"/>
                </a:solidFill>
                <a:latin typeface="Calibri"/>
              </a:defRPr>
            </a:pPr>
            <a:r>
              <a:t>Các Thước Đo Có Điều Kiện &amp; Hiệu Năng RQ1</a:t>
            </a:r>
          </a:p>
          <a:p>
            <a:pPr>
              <a:spcBef>
                <a:spcPts val="220"/>
              </a:spcBef>
              <a:defRPr sz="1050">
                <a:solidFill>
                  <a:srgbClr val="0F172A"/>
                </a:solidFill>
                <a:latin typeface="Calibri"/>
              </a:defRPr>
            </a:pPr>
            <a:r>
              <a:t>•  Mẫu số đánh giá chuẩn: N=718 scorable views (trên 440 distinct clusters).</a:t>
            </a:r>
          </a:p>
          <a:p>
            <a:pPr>
              <a:spcBef>
                <a:spcPts val="220"/>
              </a:spcBef>
              <a:defRPr sz="1050">
                <a:solidFill>
                  <a:srgbClr val="0F172A"/>
                </a:solidFill>
                <a:latin typeface="Calibri"/>
              </a:defRPr>
            </a:pPr>
            <a:r>
              <a:t>•  P(Correct | GT in Top-k): Đánh giá khi retrieval trúng: N=321 (91.28% gán đúng, 293/321).</a:t>
            </a:r>
          </a:p>
          <a:p>
            <a:pPr>
              <a:spcBef>
                <a:spcPts val="220"/>
              </a:spcBef>
              <a:defRPr sz="1050">
                <a:solidFill>
                  <a:srgbClr val="0F172A"/>
                </a:solidFill>
                <a:latin typeface="Calibri"/>
              </a:defRPr>
            </a:pPr>
            <a:r>
              <a:t>•  P(Correct | GT NOT in Top-k): Đánh giá khi retrieval trượt: N=397 (70.03% gán đúng, 278/397).</a:t>
            </a:r>
          </a:p>
          <a:p>
            <a:pPr>
              <a:spcBef>
                <a:spcPts val="220"/>
              </a:spcBef>
              <a:defRPr sz="1050">
                <a:solidFill>
                  <a:srgbClr val="0F172A"/>
                </a:solidFill>
                <a:latin typeface="Calibri"/>
              </a:defRPr>
            </a:pPr>
            <a:r>
              <a:t>•  Fail-Closed Invariant: Mẫu lỗi API (D2f) hay mã sai cú pháp (D2e) tính vào mẫu số.</a:t>
            </a:r>
          </a:p>
          <a:p>
            <a:pPr>
              <a:spcBef>
                <a:spcPts val="220"/>
              </a:spcBef>
              <a:defRPr sz="1050">
                <a:solidFill>
                  <a:srgbClr val="0F172A"/>
                </a:solidFill>
                <a:latin typeface="Calibri"/>
              </a:defRPr>
            </a:pPr>
            <a:r>
              <a:t>•  So sánh đối chứng RAG k=10 vs No-RAG: Chênh lệch cặp 95% CI [-2.355, +5.300] pp (chứa 0), McNemar p = 0.4223 &gt; 0.05.</a:t>
            </a:r>
          </a:p>
          <a:p>
            <a:pPr>
              <a:spcBef>
                <a:spcPts val="220"/>
              </a:spcBef>
              <a:defRPr sz="1050">
                <a:solidFill>
                  <a:srgbClr val="0F172A"/>
                </a:solidFill>
                <a:latin typeface="Calibri"/>
              </a:defRPr>
            </a:pPr>
            <a:r>
              <a:t>•  Diễn giải học thuật: RAG k=10 đạt độ chính xác quan sát được cao nhất trong thử nghiệm kèm độ bất định (không kết luận vượt trội thống kê).</a:t>
            </a:r>
          </a:p>
        </p:txBody>
      </p:sp>
      <p:sp>
        <p:nvSpPr>
          <p:cNvPr id="10" name="shape_slide_8_rq1_attribution"/>
          <p:cNvSpPr/>
          <p:nvPr/>
        </p:nvSpPr>
        <p:spPr>
          <a:xfrm>
            <a:off x="6248095" y="3200400"/>
            <a:ext cx="5212080" cy="31089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hape_slide_8_rq1_attribution_textbox"/>
          <p:cNvSpPr txBox="1"/>
          <p:nvPr/>
        </p:nvSpPr>
        <p:spPr>
          <a:xfrm>
            <a:off x="6430975" y="3310128"/>
            <a:ext cx="4846320" cy="2889504"/>
          </a:xfrm>
          <a:prstGeom prst="rect">
            <a:avLst/>
          </a:prstGeom>
          <a:noFill/>
        </p:spPr>
        <p:txBody>
          <a:bodyPr wrap="square">
            <a:spAutoFit/>
          </a:bodyPr>
          <a:lstStyle/>
          <a:p>
            <a:pPr>
              <a:defRPr sz="1600" b="1">
                <a:solidFill>
                  <a:srgbClr val="DC2626"/>
                </a:solidFill>
                <a:latin typeface="Calibri"/>
              </a:defRPr>
            </a:pPr>
            <a:r>
              <a:t>[FIXTURE — PRE-CANONICAL RENDER TEST] Trạng Thái Thực Nghiệm RQ1 &amp; RQ2</a:t>
            </a:r>
          </a:p>
          <a:p>
            <a:pPr>
              <a:spcBef>
                <a:spcPts val="350"/>
              </a:spcBef>
              <a:defRPr sz="1150">
                <a:solidFill>
                  <a:srgbClr val="0F172A"/>
                </a:solidFill>
                <a:latin typeface="Calibri"/>
              </a:defRPr>
            </a:pPr>
            <a:r>
              <a:t>•  Ma trận TEST chuẩn: N=718 scorable views x 5 nhánh (No-RAG, k=1, 3, 5, 10).</a:t>
            </a:r>
          </a:p>
          <a:p>
            <a:pPr>
              <a:spcBef>
                <a:spcPts val="350"/>
              </a:spcBef>
              <a:defRPr sz="1150">
                <a:solidFill>
                  <a:srgbClr val="0F172A"/>
                </a:solidFill>
                <a:latin typeface="Calibri"/>
              </a:defRPr>
            </a:pPr>
            <a:r>
              <a:t>•  Nguyên tắc Fail-Closed: Evaluator ghi nhận đầy đủ 13 INCOMPLETE records trên 6,400 requests.</a:t>
            </a:r>
          </a:p>
          <a:p>
            <a:pPr>
              <a:spcBef>
                <a:spcPts val="350"/>
              </a:spcBef>
              <a:defRPr sz="1150">
                <a:solidFill>
                  <a:srgbClr val="0F172A"/>
                </a:solidFill>
                <a:latin typeface="Calibri"/>
              </a:defRPr>
            </a:pPr>
            <a:r>
              <a:t>•  Kiểm định toán học Evaluator: Đã xác thực ngoại tuyến qua các bộ test fixtures.</a:t>
            </a:r>
          </a:p>
          <a:p>
            <a:pPr>
              <a:spcBef>
                <a:spcPts val="350"/>
              </a:spcBef>
              <a:defRPr sz="1150">
                <a:solidFill>
                  <a:srgbClr val="0F172A"/>
                </a:solidFill>
                <a:latin typeface="Calibri"/>
              </a:defRPr>
            </a:pPr>
            <a:r>
              <a:t>•  Đầu ra chuẩn: 6 metric JSON artifacts kèm _fixture_metadata.json.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91695"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91440"/>
            <a:ext cx="10728655" cy="822960"/>
          </a:xfrm>
          <a:prstGeom prst="rect">
            <a:avLst/>
          </a:prstGeom>
          <a:noFill/>
        </p:spPr>
        <p:txBody>
          <a:bodyPr wrap="square">
            <a:spAutoFit/>
          </a:bodyPr>
          <a:lstStyle/>
          <a:p>
            <a:pPr>
              <a:defRPr sz="2400" b="1">
                <a:solidFill>
                  <a:srgbClr val="FFFFFF"/>
                </a:solidFill>
                <a:latin typeface="Calibri"/>
              </a:defRPr>
            </a:pPr>
            <a:r>
              <a:t>8. Tiêu Thụ Tài Nguyên &amp; Chi Phí Thực Nghiệm (RQ3)</a:t>
            </a:r>
          </a:p>
          <a:p>
            <a:pPr>
              <a:defRPr sz="1300">
                <a:solidFill>
                  <a:srgbClr val="06B6D4"/>
                </a:solidFill>
                <a:latin typeface="Calibri"/>
              </a:defRPr>
            </a:pPr>
            <a:r>
              <a:t>Dữ liệu DEV pilot (synthetic split), hạch toán token ước tính và kiểm soát ngân sách  |  [FIXTURE — PRE-CANONICAL RENDER TEST]</a:t>
            </a:r>
          </a:p>
        </p:txBody>
      </p:sp>
      <p:sp>
        <p:nvSpPr>
          <p:cNvPr id="6" name="shape_slide_9_rq3_resources"/>
          <p:cNvSpPr/>
          <p:nvPr/>
        </p:nvSpPr>
        <p:spPr>
          <a:xfrm>
            <a:off x="731520" y="1234440"/>
            <a:ext cx="5212080" cy="507492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hape_slide_9_rq3_resources_textbox"/>
          <p:cNvSpPr txBox="1"/>
          <p:nvPr/>
        </p:nvSpPr>
        <p:spPr>
          <a:xfrm>
            <a:off x="914400" y="1344168"/>
            <a:ext cx="4846320" cy="4855464"/>
          </a:xfrm>
          <a:prstGeom prst="rect">
            <a:avLst/>
          </a:prstGeom>
          <a:noFill/>
        </p:spPr>
        <p:txBody>
          <a:bodyPr wrap="square">
            <a:spAutoFit/>
          </a:bodyPr>
          <a:lstStyle/>
          <a:p>
            <a:pPr>
              <a:defRPr sz="1600" b="1">
                <a:solidFill>
                  <a:srgbClr val="1E40AF"/>
                </a:solidFill>
                <a:latin typeface="Calibri"/>
              </a:defRPr>
            </a:pPr>
            <a:r>
              <a:t>DEV Cost Pilot &amp; Hạch Toán Tài Chính Toàn Nghiên Cứu</a:t>
            </a:r>
          </a:p>
          <a:p>
            <a:pPr>
              <a:spcBef>
                <a:spcPts val="200"/>
              </a:spcBef>
              <a:defRPr sz="1050">
                <a:solidFill>
                  <a:srgbClr val="0F172A"/>
                </a:solidFill>
                <a:latin typeface="Calibri"/>
              </a:defRPr>
            </a:pPr>
            <a:r>
              <a:t>•  Bản chất dữ liệu: DEV cohort là dữ liệu tổng hợp (synthetic-paired-v1 DEV split, 4 views x 5 điều kiện). Gửi request thực không biến log tổng hợp thành in-the-wild telemetry.</a:t>
            </a:r>
          </a:p>
          <a:p>
            <a:pPr>
              <a:spcBef>
                <a:spcPts val="200"/>
              </a:spcBef>
              <a:defRPr sz="1050">
                <a:solidFill>
                  <a:srgbClr val="0F172A"/>
                </a:solidFill>
                <a:latin typeface="Calibri"/>
              </a:defRPr>
            </a:pPr>
            <a:r>
              <a:t>•  Quy mô khảo sát: N=1,280 queries / điều kiện; 6,400 logical requests; 6,401 physical attempts (1 retry do lỗi API).</a:t>
            </a:r>
          </a:p>
          <a:p>
            <a:pPr>
              <a:spcBef>
                <a:spcPts val="200"/>
              </a:spcBef>
              <a:defRPr sz="1050">
                <a:solidFill>
                  <a:srgbClr val="0F172A"/>
                </a:solidFill>
                <a:latin typeface="Calibri"/>
              </a:defRPr>
            </a:pPr>
            <a:r>
              <a:t>•  Chi phí hạch toán ước tính (Accounted Cost) &amp; Bảng giá đóng băng:</a:t>
            </a:r>
          </a:p>
          <a:p>
            <a:pPr>
              <a:spcBef>
                <a:spcPts val="200"/>
              </a:spcBef>
              <a:defRPr sz="1050">
                <a:solidFill>
                  <a:srgbClr val="0F172A"/>
                </a:solidFill>
                <a:latin typeface="Calibri"/>
              </a:defRPr>
            </a:pPr>
            <a:r>
              <a:t>  • Pilot lịch sử 20 requests: $0.0242 USD theo đơn giá; DEV baseline.</a:t>
            </a:r>
          </a:p>
          <a:p>
            <a:pPr>
              <a:spcBef>
                <a:spcPts val="200"/>
              </a:spcBef>
              <a:defRPr sz="1050">
                <a:solidFill>
                  <a:srgbClr val="0F172A"/>
                </a:solidFill>
                <a:latin typeface="Calibri"/>
              </a:defRPr>
            </a:pPr>
            <a:r>
              <a:t>  • no_rag (k=0): 643 in / 224 out (~$0.000365 / query)</a:t>
            </a:r>
          </a:p>
          <a:p>
            <a:pPr>
              <a:spcBef>
                <a:spcPts val="200"/>
              </a:spcBef>
              <a:defRPr sz="1050">
                <a:solidFill>
                  <a:srgbClr val="0F172A"/>
                </a:solidFill>
                <a:latin typeface="Calibri"/>
              </a:defRPr>
            </a:pPr>
            <a:r>
              <a:t>  • rag_k10 (k=10): 4,537 in / 801 out (~$0.001679 / query)</a:t>
            </a:r>
          </a:p>
          <a:p>
            <a:pPr>
              <a:spcBef>
                <a:spcPts val="200"/>
              </a:spcBef>
              <a:defRPr sz="1050">
                <a:solidFill>
                  <a:srgbClr val="0F172A"/>
                </a:solidFill>
                <a:latin typeface="Calibri"/>
              </a:defRPr>
            </a:pPr>
            <a:r>
              <a:t>•  Hạch toán tài chính toàn thể nghiên cứu (6,400 Requests):</a:t>
            </a:r>
          </a:p>
          <a:p>
            <a:pPr>
              <a:spcBef>
                <a:spcPts val="200"/>
              </a:spcBef>
              <a:defRPr sz="1050">
                <a:solidFill>
                  <a:srgbClr val="0F172A"/>
                </a:solidFill>
                <a:latin typeface="Calibri"/>
              </a:defRPr>
            </a:pPr>
            <a:r>
              <a:t>  • Trần ngân sách đóng băng cứng (Hard budget cap): $19.99 USD.</a:t>
            </a:r>
          </a:p>
          <a:p>
            <a:pPr>
              <a:spcBef>
                <a:spcPts val="200"/>
              </a:spcBef>
              <a:defRPr sz="1050">
                <a:solidFill>
                  <a:srgbClr val="0F172A"/>
                </a:solidFill>
                <a:latin typeface="Calibri"/>
              </a:defRPr>
            </a:pPr>
            <a:r>
              <a:t>  • Quyết toán thực tế 5 điều kiện chính thức: $6.58 settled spend ($6.57575890 USD).</a:t>
            </a:r>
          </a:p>
          <a:p>
            <a:pPr>
              <a:spcBef>
                <a:spcPts val="200"/>
              </a:spcBef>
              <a:defRPr sz="1050">
                <a:solidFill>
                  <a:srgbClr val="0F172A"/>
                </a:solidFill>
                <a:latin typeface="Calibri"/>
              </a:defRPr>
            </a:pPr>
            <a:r>
              <a:t>  • Khoản giữ chỗ thận trọng pilot: $0.05264010 USD; tổng cam kết: $6.63 committed spend ($6.62839900 USD).</a:t>
            </a:r>
          </a:p>
          <a:p>
            <a:pPr>
              <a:spcBef>
                <a:spcPts val="200"/>
              </a:spcBef>
              <a:defRPr sz="1050">
                <a:solidFill>
                  <a:srgbClr val="0F172A"/>
                </a:solidFill>
                <a:latin typeface="Calibri"/>
              </a:defRPr>
            </a:pPr>
            <a:r>
              <a:t>  • Ngân sách khả dụng còn lại: $13.36 net remaining ($13.36160100 USD; 0 holds, 0 breach).</a:t>
            </a:r>
          </a:p>
        </p:txBody>
      </p:sp>
      <p:pic>
        <p:nvPicPr>
          <p:cNvPr id="8" name="Picture 7" descr="fig_rq3_pilot_token_scaling.png"/>
          <p:cNvPicPr>
            <a:picLocks noChangeAspect="1"/>
          </p:cNvPicPr>
          <p:nvPr/>
        </p:nvPicPr>
        <p:blipFill>
          <a:blip r:embed="rId2"/>
          <a:stretch>
            <a:fillRect/>
          </a:stretch>
        </p:blipFill>
        <p:spPr>
          <a:xfrm>
            <a:off x="6248095" y="1234440"/>
            <a:ext cx="5212080" cy="2132215"/>
          </a:xfrm>
          <a:prstGeom prst="rect">
            <a:avLst/>
          </a:prstGeom>
        </p:spPr>
      </p:pic>
      <p:sp>
        <p:nvSpPr>
          <p:cNvPr id="9" name="shape_slide_9_accounting"/>
          <p:cNvSpPr/>
          <p:nvPr/>
        </p:nvSpPr>
        <p:spPr>
          <a:xfrm>
            <a:off x="6248095" y="4526280"/>
            <a:ext cx="5212080" cy="178308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hape_slide_9_accounting_textbox"/>
          <p:cNvSpPr txBox="1"/>
          <p:nvPr/>
        </p:nvSpPr>
        <p:spPr>
          <a:xfrm>
            <a:off x="6430975" y="4636008"/>
            <a:ext cx="4846320" cy="1563624"/>
          </a:xfrm>
          <a:prstGeom prst="rect">
            <a:avLst/>
          </a:prstGeom>
          <a:noFill/>
        </p:spPr>
        <p:txBody>
          <a:bodyPr wrap="square">
            <a:spAutoFit/>
          </a:bodyPr>
          <a:lstStyle/>
          <a:p>
            <a:pPr>
              <a:defRPr sz="1600" b="1">
                <a:solidFill>
                  <a:srgbClr val="059669"/>
                </a:solidFill>
                <a:latin typeface="Calibri"/>
              </a:defRPr>
            </a:pPr>
            <a:r>
              <a:t>Quy Luật Đánh Đổi Hiệu Năng &amp; Chi Phí (RQ3 Trade-off)</a:t>
            </a:r>
          </a:p>
          <a:p>
            <a:pPr>
              <a:spcBef>
                <a:spcPts val="250"/>
              </a:spcBef>
              <a:defRPr sz="1100">
                <a:solidFill>
                  <a:srgbClr val="0F172A"/>
                </a:solidFill>
                <a:latin typeface="Calibri"/>
              </a:defRPr>
            </a:pPr>
            <a:r>
              <a:t>•  Tăng k từ 1 lên 10 giúp tăng Hit rate từ 4.2% lên 45.1%, nhưng lượng token đầu vào tăng ~4x.</a:t>
            </a:r>
          </a:p>
          <a:p>
            <a:pPr>
              <a:spcBef>
                <a:spcPts val="250"/>
              </a:spcBef>
              <a:defRPr sz="1100">
                <a:solidFill>
                  <a:srgbClr val="0F172A"/>
                </a:solidFill>
                <a:latin typeface="Calibri"/>
              </a:defRPr>
            </a:pPr>
            <a:r>
              <a:t>•  Dự báo chuẩn tắc tập TEST (&lt; $10 USD) nằm an toàn dưới trần ngân sách đóng băng $19.99 USD.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91695"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91440"/>
            <a:ext cx="10728655" cy="822960"/>
          </a:xfrm>
          <a:prstGeom prst="rect">
            <a:avLst/>
          </a:prstGeom>
          <a:noFill/>
        </p:spPr>
        <p:txBody>
          <a:bodyPr wrap="square">
            <a:spAutoFit/>
          </a:bodyPr>
          <a:lstStyle/>
          <a:p>
            <a:pPr>
              <a:defRPr sz="2400" b="1">
                <a:solidFill>
                  <a:srgbClr val="FFFFFF"/>
                </a:solidFill>
                <a:latin typeface="Calibri"/>
              </a:defRPr>
            </a:pPr>
            <a:r>
              <a:t>9. Giới Hạn Nghiên Cứu &amp; Mối Đe Dọa Giá Trị</a:t>
            </a:r>
          </a:p>
          <a:p>
            <a:pPr>
              <a:defRPr sz="1300">
                <a:solidFill>
                  <a:srgbClr val="06B6D4"/>
                </a:solidFill>
                <a:latin typeface="Calibri"/>
              </a:defRPr>
            </a:pPr>
            <a:r>
              <a:t>Đánh giá khách quan các hạn chế kỹ thuật và phạm vi khoa học  |  [FIXTURE — PRE-CANONICAL RENDER TEST]</a:t>
            </a:r>
          </a:p>
        </p:txBody>
      </p:sp>
      <p:sp>
        <p:nvSpPr>
          <p:cNvPr id="6" name="shape_slide_10_limitations_1"/>
          <p:cNvSpPr/>
          <p:nvPr/>
        </p:nvSpPr>
        <p:spPr>
          <a:xfrm>
            <a:off x="731520" y="1234440"/>
            <a:ext cx="3413455" cy="507492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hape_slide_10_limitations_1_textbox"/>
          <p:cNvSpPr txBox="1"/>
          <p:nvPr/>
        </p:nvSpPr>
        <p:spPr>
          <a:xfrm>
            <a:off x="914400" y="1344168"/>
            <a:ext cx="3047695" cy="4855464"/>
          </a:xfrm>
          <a:prstGeom prst="rect">
            <a:avLst/>
          </a:prstGeom>
          <a:noFill/>
        </p:spPr>
        <p:txBody>
          <a:bodyPr wrap="square">
            <a:spAutoFit/>
          </a:bodyPr>
          <a:lstStyle/>
          <a:p>
            <a:pPr>
              <a:defRPr sz="1600" b="1">
                <a:solidFill>
                  <a:srgbClr val="DC2626"/>
                </a:solidFill>
                <a:latin typeface="Calibri"/>
              </a:defRPr>
            </a:pPr>
            <a:r>
              <a:t>Phạm Vi Dữ Liệu (Scope)</a:t>
            </a:r>
          </a:p>
          <a:p>
            <a:pPr>
              <a:spcBef>
                <a:spcPts val="350"/>
              </a:spcBef>
              <a:defRPr sz="1150">
                <a:solidFill>
                  <a:srgbClr val="0F172A"/>
                </a:solidFill>
                <a:latin typeface="Calibri"/>
              </a:defRPr>
            </a:pPr>
            <a:r>
              <a:t>•  Dữ liệu thử nghiệm Stage B là kịch bản giả lập có cấu trúc (synthetic-paired-v1).</a:t>
            </a:r>
          </a:p>
          <a:p>
            <a:pPr>
              <a:spcBef>
                <a:spcPts val="350"/>
              </a:spcBef>
              <a:defRPr sz="1150">
                <a:solidFill>
                  <a:srgbClr val="0F172A"/>
                </a:solidFill>
                <a:latin typeface="Calibri"/>
              </a:defRPr>
            </a:pPr>
            <a:r>
              <a:t>•  Mặc dù tuân thủ nghiêm ngặt định dạng sự kiện Windows, nó chưa phản ánh toàn diện độ nhiễu của các cuộc tấn công APT thực tế.</a:t>
            </a:r>
          </a:p>
          <a:p>
            <a:pPr>
              <a:spcBef>
                <a:spcPts val="350"/>
              </a:spcBef>
              <a:defRPr sz="1150">
                <a:solidFill>
                  <a:srgbClr val="0F172A"/>
                </a:solidFill>
                <a:latin typeface="Calibri"/>
              </a:defRPr>
            </a:pPr>
            <a:r>
              <a:t>•  Nghiên cứu không khẳng định kết quả áp dụng nguyên vẹn cho môi trường thực tế cho đến khi hoàn tất T15 real pilot.</a:t>
            </a:r>
          </a:p>
        </p:txBody>
      </p:sp>
      <p:sp>
        <p:nvSpPr>
          <p:cNvPr id="8" name="shape_slide_10_limitations_2"/>
          <p:cNvSpPr/>
          <p:nvPr/>
        </p:nvSpPr>
        <p:spPr>
          <a:xfrm>
            <a:off x="4389120" y="1234440"/>
            <a:ext cx="3413455" cy="507492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hape_slide_10_limitations_2_textbox"/>
          <p:cNvSpPr txBox="1"/>
          <p:nvPr/>
        </p:nvSpPr>
        <p:spPr>
          <a:xfrm>
            <a:off x="4572000" y="1344168"/>
            <a:ext cx="3047695" cy="4855464"/>
          </a:xfrm>
          <a:prstGeom prst="rect">
            <a:avLst/>
          </a:prstGeom>
          <a:noFill/>
        </p:spPr>
        <p:txBody>
          <a:bodyPr wrap="square">
            <a:spAutoFit/>
          </a:bodyPr>
          <a:lstStyle/>
          <a:p>
            <a:pPr>
              <a:defRPr sz="1600" b="1">
                <a:solidFill>
                  <a:srgbClr val="2563EB"/>
                </a:solidFill>
                <a:latin typeface="Calibri"/>
              </a:defRPr>
            </a:pPr>
            <a:r>
              <a:t>Mô Hình Nhúng Đơn Tầng</a:t>
            </a:r>
          </a:p>
          <a:p>
            <a:pPr>
              <a:spcBef>
                <a:spcPts val="350"/>
              </a:spcBef>
              <a:defRPr sz="1150">
                <a:solidFill>
                  <a:srgbClr val="0F172A"/>
                </a:solidFill>
                <a:latin typeface="Calibri"/>
              </a:defRPr>
            </a:pPr>
            <a:r>
              <a:t>•  Việc sử dụng all-MiniLM-L6-v2 thuần túy (dense bi-encoder) bộc lộ hạn chế lớn với các từ khóa kỹ thuật số (như Event ID 4720).</a:t>
            </a:r>
          </a:p>
          <a:p>
            <a:pPr>
              <a:spcBef>
                <a:spcPts val="350"/>
              </a:spcBef>
              <a:defRPr sz="1150">
                <a:solidFill>
                  <a:srgbClr val="0F172A"/>
                </a:solidFill>
                <a:latin typeface="Calibri"/>
              </a:defRPr>
            </a:pPr>
            <a:r>
              <a:t>•  Khoảng cách giữa ngôn ngữ nhật ký và ngôn ngữ mô tả của ATT&amp;CK đòi hỏi phải có kiến trúc tìm kiếm lai (Hybrid Search: Dense + BM25 Lexical).</a:t>
            </a:r>
          </a:p>
        </p:txBody>
      </p:sp>
      <p:sp>
        <p:nvSpPr>
          <p:cNvPr id="10" name="shape_slide_10_limitations_3"/>
          <p:cNvSpPr/>
          <p:nvPr/>
        </p:nvSpPr>
        <p:spPr>
          <a:xfrm>
            <a:off x="8046720" y="1234440"/>
            <a:ext cx="3413455" cy="507492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hape_slide_10_limitations_3_textbox"/>
          <p:cNvSpPr txBox="1"/>
          <p:nvPr/>
        </p:nvSpPr>
        <p:spPr>
          <a:xfrm>
            <a:off x="8229600" y="1344168"/>
            <a:ext cx="3047695" cy="4855464"/>
          </a:xfrm>
          <a:prstGeom prst="rect">
            <a:avLst/>
          </a:prstGeom>
          <a:noFill/>
        </p:spPr>
        <p:txBody>
          <a:bodyPr wrap="square">
            <a:spAutoFit/>
          </a:bodyPr>
          <a:lstStyle/>
          <a:p>
            <a:pPr>
              <a:defRPr sz="1600" b="1">
                <a:solidFill>
                  <a:srgbClr val="1E293B"/>
                </a:solidFill>
                <a:latin typeface="Calibri"/>
              </a:defRPr>
            </a:pPr>
            <a:r>
              <a:t>Phạm Vi Mô Hình &amp; Quy Trình Tái Lập</a:t>
            </a:r>
          </a:p>
          <a:p>
            <a:pPr>
              <a:spcBef>
                <a:spcPts val="350"/>
              </a:spcBef>
              <a:defRPr sz="1150">
                <a:solidFill>
                  <a:srgbClr val="0F172A"/>
                </a:solidFill>
                <a:latin typeface="Calibri"/>
              </a:defRPr>
            </a:pPr>
            <a:r>
              <a:t>•  Nghiên cứu tập trung đánh giá trên mô hình đại diện gpt-5.6-luna nhằm kiểm soát chặt chẽ biến số.</a:t>
            </a:r>
          </a:p>
          <a:p>
            <a:pPr>
              <a:spcBef>
                <a:spcPts val="350"/>
              </a:spcBef>
              <a:defRPr sz="1150">
                <a:solidFill>
                  <a:srgbClr val="0F172A"/>
                </a:solidFill>
                <a:latin typeface="Calibri"/>
              </a:defRPr>
            </a:pPr>
            <a:r>
              <a:t>•  Cần mở rộng kiểm nghiệm trên các mô hình mã nguồn mở (Llama-3, Qwen) để xác minh tính phổ quát của quy luật phân rã lỗi.</a:t>
            </a:r>
          </a:p>
          <a:p>
            <a:pPr>
              <a:spcBef>
                <a:spcPts val="350"/>
              </a:spcBef>
              <a:defRPr sz="1150">
                <a:solidFill>
                  <a:srgbClr val="0F172A"/>
                </a:solidFill>
                <a:latin typeface="Calibri"/>
              </a:defRPr>
            </a:pPr>
            <a:r>
              <a:t>•  Quy trình tái lập an toàn: Mọi kịch bản kiểm thử bắt buộc chạy qua runner offline scripts/run_offline_tests.py, can thiệp socket Python để chặn kết nối ngoài ý muốn.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91695"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91440"/>
            <a:ext cx="10728655" cy="822960"/>
          </a:xfrm>
          <a:prstGeom prst="rect">
            <a:avLst/>
          </a:prstGeom>
          <a:noFill/>
        </p:spPr>
        <p:txBody>
          <a:bodyPr wrap="square">
            <a:spAutoFit/>
          </a:bodyPr>
          <a:lstStyle/>
          <a:p>
            <a:pPr>
              <a:defRPr sz="2400" b="1">
                <a:solidFill>
                  <a:srgbClr val="FFFFFF"/>
                </a:solidFill>
                <a:latin typeface="Calibri"/>
              </a:defRPr>
            </a:pPr>
            <a:r>
              <a:t>10. Khả Năng Tái Lập Độc Lập &amp; Đóng Góp Khoa Học</a:t>
            </a:r>
          </a:p>
          <a:p>
            <a:pPr>
              <a:defRPr sz="1300">
                <a:solidFill>
                  <a:srgbClr val="06B6D4"/>
                </a:solidFill>
                <a:latin typeface="Calibri"/>
              </a:defRPr>
            </a:pPr>
            <a:r>
              <a:t>Toàn bộ nghiên cứu có thể kiểm chứng ngoại tuyến với chi phí 0 đồng  |  [FIXTURE — PRE-CANONICAL RENDER TEST]</a:t>
            </a:r>
          </a:p>
        </p:txBody>
      </p:sp>
      <p:sp>
        <p:nvSpPr>
          <p:cNvPr id="6" name="shape_slide_11_reproducibility_1"/>
          <p:cNvSpPr/>
          <p:nvPr/>
        </p:nvSpPr>
        <p:spPr>
          <a:xfrm>
            <a:off x="731520" y="1234440"/>
            <a:ext cx="5212080" cy="507492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hape_slide_11_reproducibility_1_textbox"/>
          <p:cNvSpPr txBox="1"/>
          <p:nvPr/>
        </p:nvSpPr>
        <p:spPr>
          <a:xfrm>
            <a:off x="914400" y="1344168"/>
            <a:ext cx="4846320" cy="4855464"/>
          </a:xfrm>
          <a:prstGeom prst="rect">
            <a:avLst/>
          </a:prstGeom>
          <a:noFill/>
        </p:spPr>
        <p:txBody>
          <a:bodyPr wrap="square">
            <a:spAutoFit/>
          </a:bodyPr>
          <a:lstStyle/>
          <a:p>
            <a:pPr>
              <a:defRPr sz="1600" b="1">
                <a:solidFill>
                  <a:srgbClr val="059669"/>
                </a:solidFill>
                <a:latin typeface="Calibri"/>
              </a:defRPr>
            </a:pPr>
            <a:r>
              <a:t>Tái Lập Ngoại Tuyến &amp; Phạm Vi Offline Guard</a:t>
            </a:r>
          </a:p>
          <a:p>
            <a:pPr>
              <a:spcBef>
                <a:spcPts val="250"/>
              </a:spcBef>
              <a:defRPr sz="1100">
                <a:solidFill>
                  <a:srgbClr val="0F172A"/>
                </a:solidFill>
                <a:latin typeface="Calibri"/>
              </a:defRPr>
            </a:pPr>
            <a:r>
              <a:t>•  Lệnh chuẩn tắc có bảo vệ ngoại tuyến:</a:t>
            </a:r>
          </a:p>
          <a:p>
            <a:pPr>
              <a:spcBef>
                <a:spcPts val="250"/>
              </a:spcBef>
              <a:defRPr sz="1100">
                <a:solidFill>
                  <a:srgbClr val="0F172A"/>
                </a:solidFill>
                <a:latin typeface="Calibri"/>
              </a:defRPr>
            </a:pPr>
            <a:r>
              <a:t>  python scripts/run_offline_tests.py -m pytest ... (hoặc cờ -c)</a:t>
            </a:r>
          </a:p>
          <a:p>
            <a:pPr>
              <a:spcBef>
                <a:spcPts val="250"/>
              </a:spcBef>
              <a:defRPr sz="1100">
                <a:solidFill>
                  <a:srgbClr val="0F172A"/>
                </a:solidFill>
                <a:latin typeface="Calibri"/>
              </a:defRPr>
            </a:pPr>
            <a:r>
              <a:t>•  Lệnh tái lập tự động toàn diện: python scripts/reproduce_study.py --all</a:t>
            </a:r>
          </a:p>
          <a:p>
            <a:pPr>
              <a:spcBef>
                <a:spcPts val="250"/>
              </a:spcBef>
              <a:defRPr sz="1100">
                <a:solidFill>
                  <a:srgbClr val="0F172A"/>
                </a:solidFill>
                <a:latin typeface="Calibri"/>
              </a:defRPr>
            </a:pPr>
            <a:r>
              <a:t>•  Phạm vi kỹ thuật của offline_guard:</a:t>
            </a:r>
          </a:p>
          <a:p>
            <a:pPr>
              <a:spcBef>
                <a:spcPts val="250"/>
              </a:spcBef>
              <a:defRPr sz="1100">
                <a:solidFill>
                  <a:srgbClr val="0F172A"/>
                </a:solidFill>
                <a:latin typeface="Calibri"/>
              </a:defRPr>
            </a:pPr>
            <a:r>
              <a:t>  • Can thiệp tầng socket Python (chặn kết nối mạng ngoài ý muốn) và lọc biến môi trường credentials.</a:t>
            </a:r>
          </a:p>
          <a:p>
            <a:pPr>
              <a:spcBef>
                <a:spcPts val="250"/>
              </a:spcBef>
              <a:defRPr sz="1100">
                <a:solidFill>
                  <a:srgbClr val="0F172A"/>
                </a:solidFill>
                <a:latin typeface="Calibri"/>
              </a:defRPr>
            </a:pPr>
            <a:r>
              <a:t>  • Không phải là sandbox cấp OS (không cô lập mã máy binary tùy ý ngoài Python runtime).</a:t>
            </a:r>
          </a:p>
          <a:p>
            <a:pPr>
              <a:spcBef>
                <a:spcPts val="250"/>
              </a:spcBef>
              <a:defRPr sz="1100">
                <a:solidFill>
                  <a:srgbClr val="0F172A"/>
                </a:solidFill>
                <a:latin typeface="Calibri"/>
              </a:defRPr>
            </a:pPr>
            <a:r>
              <a:t>  • Dependencies và artifact tiên quyết đã nạp sẵn cục bộ; lệnh uv run trần không có guard bảo vệ không tự động đảm bảo cách ly mạng nếu thiếu cờ offline.</a:t>
            </a:r>
          </a:p>
          <a:p>
            <a:pPr>
              <a:spcBef>
                <a:spcPts val="250"/>
              </a:spcBef>
              <a:defRPr sz="1100">
                <a:solidFill>
                  <a:srgbClr val="0F172A"/>
                </a:solidFill>
                <a:latin typeface="Calibri"/>
              </a:defRPr>
            </a:pPr>
            <a:r>
              <a:t>•  Điều kiện tái lập: Ngoại tuyến dùng 15 artifact đóng băng; luồng live provider cần credentials thực dưới budget guard trần $19.99 USD.</a:t>
            </a:r>
          </a:p>
        </p:txBody>
      </p:sp>
      <p:sp>
        <p:nvSpPr>
          <p:cNvPr id="8" name="shape_slide_11_reproducibility_2"/>
          <p:cNvSpPr/>
          <p:nvPr/>
        </p:nvSpPr>
        <p:spPr>
          <a:xfrm>
            <a:off x="6248095" y="1234440"/>
            <a:ext cx="5212080" cy="507492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hape_slide_11_reproducibility_2_textbox"/>
          <p:cNvSpPr txBox="1"/>
          <p:nvPr/>
        </p:nvSpPr>
        <p:spPr>
          <a:xfrm>
            <a:off x="6430975" y="1344168"/>
            <a:ext cx="4846320" cy="4855464"/>
          </a:xfrm>
          <a:prstGeom prst="rect">
            <a:avLst/>
          </a:prstGeom>
          <a:noFill/>
        </p:spPr>
        <p:txBody>
          <a:bodyPr wrap="square">
            <a:spAutoFit/>
          </a:bodyPr>
          <a:lstStyle/>
          <a:p>
            <a:pPr>
              <a:defRPr sz="1600" b="1">
                <a:solidFill>
                  <a:srgbClr val="1E40AF"/>
                </a:solidFill>
                <a:latin typeface="Calibri"/>
              </a:defRPr>
            </a:pPr>
            <a:r>
              <a:t>Đóng Góp Khoa Học Cốt Lõi</a:t>
            </a:r>
          </a:p>
          <a:p>
            <a:pPr>
              <a:spcBef>
                <a:spcPts val="300"/>
              </a:spcBef>
              <a:defRPr sz="1150">
                <a:solidFill>
                  <a:srgbClr val="0F172A"/>
                </a:solidFill>
                <a:latin typeface="Calibri"/>
              </a:defRPr>
            </a:pPr>
            <a:r>
              <a:t>•  1. Quy trình thực nghiệm chuẩn hóa: Thiết lập giao thức thực nghiệm đối chứng khép kín, chống rò rỉ nhãn đầu tiên cho bài toán Windows log attribution.</a:t>
            </a:r>
          </a:p>
          <a:p>
            <a:pPr>
              <a:spcBef>
                <a:spcPts val="300"/>
              </a:spcBef>
              <a:defRPr sz="1150">
                <a:solidFill>
                  <a:srgbClr val="0F172A"/>
                </a:solidFill>
                <a:latin typeface="Calibri"/>
              </a:defRPr>
            </a:pPr>
            <a:r>
              <a:t>•  2. Bóc tách độc lập các trục lỗi (RQ2 Failure Decomposition per D2i): Phân tích riêng biệt retrieval miss, downstream generation failure và joint overlap.</a:t>
            </a:r>
          </a:p>
          <a:p>
            <a:pPr>
              <a:spcBef>
                <a:spcPts val="300"/>
              </a:spcBef>
              <a:defRPr sz="1150">
                <a:solidFill>
                  <a:srgbClr val="0F172A"/>
                </a:solidFill>
                <a:latin typeface="Calibri"/>
              </a:defRPr>
            </a:pPr>
            <a:r>
              <a:t>•  3. Bằng chứng định lượng về khoảng cách từ vựng và giả thuyết pha loãng ngữ cảnh (Context Dilution Hypothesis).</a:t>
            </a:r>
          </a:p>
          <a:p>
            <a:pPr>
              <a:spcBef>
                <a:spcPts val="300"/>
              </a:spcBef>
              <a:defRPr sz="1150">
                <a:solidFill>
                  <a:srgbClr val="0F172A"/>
                </a:solidFill>
                <a:latin typeface="Calibri"/>
              </a:defRPr>
            </a:pPr>
            <a:r>
              <a:t>•  4. Bộ công cụ nghiên cứu mở: Cung cấp toàn bộ mã nguồn, benchmark, kịch bản tạo slide và dữ liệu chứng cứ nguyên vẹn.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 y="1371600"/>
            <a:ext cx="137160" cy="41148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hape_slide_12_conclusion"/>
          <p:cNvSpPr txBox="1"/>
          <p:nvPr/>
        </p:nvSpPr>
        <p:spPr>
          <a:xfrm>
            <a:off x="1371600" y="1280160"/>
            <a:ext cx="9601200" cy="4389120"/>
          </a:xfrm>
          <a:prstGeom prst="rect">
            <a:avLst/>
          </a:prstGeom>
          <a:noFill/>
        </p:spPr>
        <p:txBody>
          <a:bodyPr wrap="square">
            <a:spAutoFit/>
          </a:bodyPr>
          <a:lstStyle/>
          <a:p>
            <a:pPr>
              <a:defRPr sz="1400" b="1">
                <a:solidFill>
                  <a:srgbClr val="06B6D4"/>
                </a:solidFill>
                <a:latin typeface="Calibri"/>
              </a:defRPr>
            </a:pPr>
            <a:r>
              <a:t>TỔNG KẾT &amp; PHẦN HỎI ĐÁP (Q&amp;A)</a:t>
            </a:r>
          </a:p>
          <a:p>
            <a:pPr>
              <a:spcBef>
                <a:spcPts val="800"/>
              </a:spcBef>
              <a:defRPr sz="2600" b="1">
                <a:solidFill>
                  <a:srgbClr val="FFFFFF"/>
                </a:solidFill>
                <a:latin typeface="Calibri"/>
              </a:defRPr>
            </a:pPr>
            <a:r>
              <a:t>RAG2ATT&amp;CK: Đưa Tri Thức Thực Sự Vào Giám Sát An Ninh Mạng</a:t>
            </a:r>
          </a:p>
          <a:p>
            <a:pPr>
              <a:spcBef>
                <a:spcPts val="600"/>
              </a:spcBef>
              <a:defRPr sz="1250">
                <a:solidFill>
                  <a:srgbClr val="E2E8F0"/>
                </a:solidFill>
                <a:latin typeface="Calibri"/>
              </a:defRPr>
            </a:pPr>
            <a:r>
              <a:t>•  RAG cung cấp tri thức nền tảng quan trọng; giả thuyết RQ2 về mức độ ảnh hưởng nhân quả của retrieval đang được kiểm chứng đối chứng trên ma trận TEST.</a:t>
            </a:r>
          </a:p>
          <a:p>
            <a:pPr>
              <a:spcBef>
                <a:spcPts val="600"/>
              </a:spcBef>
              <a:defRPr sz="1250">
                <a:solidFill>
                  <a:srgbClr val="E2E8F0"/>
                </a:solidFill>
                <a:latin typeface="Calibri"/>
              </a:defRPr>
            </a:pPr>
            <a:r>
              <a:t>•  Phân rã lỗi D2i theo 3 trục đo lường độc lập (retrieval miss, downstream generation failure, joint overlap), ghi nhận phần giao thoa khác 0, không giả định độc lập xác suất ngẫu nhiên.</a:t>
            </a:r>
          </a:p>
          <a:p>
            <a:pPr>
              <a:spcBef>
                <a:spcPts val="600"/>
              </a:spcBef>
              <a:defRPr sz="1250">
                <a:solidFill>
                  <a:srgbClr val="E2E8F0"/>
                </a:solidFill>
                <a:latin typeface="Calibri"/>
              </a:defRPr>
            </a:pPr>
            <a:r>
              <a:t>•  Quy trình tái lập ngoại tuyến: Sử dụng runner scripts/run_offline_tests.py can thiệp tầng socket và lọc biến môi trường nhằm giảm thiểu rủi ro rò rỉ credential và kết nối ngoài ý muốn.</a:t>
            </a:r>
          </a:p>
          <a:p>
            <a:pPr>
              <a:spcBef>
                <a:spcPts val="600"/>
              </a:spcBef>
              <a:defRPr sz="1250">
                <a:solidFill>
                  <a:srgbClr val="E2E8F0"/>
                </a:solidFill>
                <a:latin typeface="Calibri"/>
              </a:defRPr>
            </a:pPr>
            <a:r>
              <a:t>•  Định hướng tiếp theo: Triển khai Hybrid Retrieval (Dense + BM25) và kiểm nghiệm mở rộng trên telemetry thực tế.</a:t>
            </a:r>
          </a:p>
          <a:p>
            <a:pPr>
              <a:spcBef>
                <a:spcPts val="600"/>
              </a:spcBef>
              <a:defRPr sz="1250">
                <a:solidFill>
                  <a:srgbClr val="E2E8F0"/>
                </a:solidFill>
                <a:latin typeface="Calibri"/>
              </a:defRPr>
            </a:pPr>
            <a:r>
              <a:t>•  Mã nguồn, dữ liệu và báo cáo tái lập sẵn sàng tại: https://github.com/habachcp6/RAG2ATTCK</a:t>
            </a:r>
          </a:p>
          <a:p>
            <a:pPr>
              <a:spcBef>
                <a:spcPts val="1600"/>
              </a:spcBef>
              <a:defRPr sz="1500" b="1">
                <a:solidFill>
                  <a:srgbClr val="06B6D4"/>
                </a:solidFill>
                <a:latin typeface="Calibri"/>
              </a:defRPr>
            </a:pPr>
            <a:r>
              <a:t>Xin trân trọng cảm ơn Quý Thầy Cô và Hội Đồng! Kính mời đặt câu hỏi thảo luận.</a:t>
            </a:r>
          </a:p>
          <a:p>
            <a:pPr>
              <a:spcBef>
                <a:spcPts val="800"/>
              </a:spcBef>
              <a:defRPr sz="1300" b="1">
                <a:solidFill>
                  <a:srgbClr val="DC2626"/>
                </a:solidFill>
                <a:latin typeface="Calibri"/>
              </a:defRPr>
            </a:pPr>
            <a:r>
              <a:t>[FIXTURE — PRE-CANONICAL RENDER TEST]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