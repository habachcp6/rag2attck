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a:t>
            </a:r>
          </a:p>
          <a:p>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2):</a:t>
            </a:r>
          </a:p>
          <a:p>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đo lường khoa học mức độ hỗ trợ của RAG dưới các điều kiện đối chứng chặt chẽ. Toàn bộ thực thi đạt tính xác định (Deterministic Execution under Frozen Environment &amp; Seeds), loại trừ hoàn toàn tính tùy tiện trong diễn giải số liệu.</a:t>
            </a:r>
          </a:p>
          <a:p>
            <a:r>
              <a:t>Bằng chứng dự án: docs/README_PROPOSED.md; config/canonical_experiment_lock_v1.json (SHA-256: 961ba9b3...); tests/test_attack_id_validation.py.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3):</a:t>
            </a:r>
          </a:p>
          <a:p>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4):</a:t>
            </a:r>
          </a:p>
          <a:p>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5):</a:t>
            </a:r>
          </a:p>
          <a:p>
            <a:r>
              <a:t>Giao thức thực nghiệm v1.1 đóng băng 7 quyết định phương pháp luận cốt lõi D1-D7. Về mô hình đe dọa, danh mục kỹ thuật được neo tại STIX ATT&amp;CK v19.2 Enterprise Windows (474 techniques). Điểm đặc biệt quan trọng là chính sách D2g ALLOW_HISTORICAL: các mã kỹ thuật lịch sử hoặc đã bị thu hồi có trong benchmark được chấp nhận và báo cáo dạng distinct observation count, không tự ý gán lại mã thay thế. Bốn tiêu chí đánh giá cốt lõi gồm D2h (ANY_GT_RETRIEVED cho multi-label), D2i (INDEPENDENT_AXES ghi nhận đầy đủ overlap), D2e (invalid ID tính vào mẫu số), và D2f (lỗi mạng tính vào mẫu số) thiết lập nguyên tắc fail-closed nghiêm ngặt.</a:t>
            </a:r>
          </a:p>
          <a:p>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6):</a:t>
            </a:r>
          </a:p>
          <a:p>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a:r>
              <a:t>Bằng chứng dự án: outputs/reproduction/figures/fig_rq2_retrieval_hit_rates.png; outputs/reproduction/tables/table_1_retrieval_diagnostics.md; tests/test_retrieval_diagnostics.py.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7):</a:t>
            </a:r>
          </a:p>
          <a:p>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[PENDING EXECUTION] chờ toàn bộ ma trận TEST hoàn tất để đưa ra kết luận khoa học chính thức.</a:t>
            </a:r>
          </a:p>
          <a:p>
            <a:r>
              <a:t>Bằng chứng dự án: scripts/verify_t20_canonical_artifacts.py; outputs/reproduction/tables/table_4_pairwise_representation_comparison.md; tests/test_t20_canonical_artifacts.py.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8):</a:t>
            </a:r>
          </a:p>
          <a:p>
            <a:r>
              <a:t>Khung đánh giá RQ1 &amp; RQ2 được xây dựng trên định đề D2i (Independent Axes). Chúng tôi bác bỏ hoàn toàn công thức cộng xác suất rời rạc sai lầm, bởi retrieval failure và downstream generation failure không hề xung khắc nhau mà có phần giao thoa rõ ràng. Các chỉ số có điều kiện P(Correct | GT in Top-k) và P(Correct | GT NOT in Top-k) cho phép định lượng chính xác xem LLM có bị đánh lừa bởi distractor hay có khả năng tự sửa sai. Toàn bộ ma trận chính thức 6,400 bản ghi đang chạy; tính đúng đắn toán học của Evaluator đã được chứng minh qua 5 test fixtures.</a:t>
            </a:r>
          </a:p>
          <a:p>
            <a:r>
              <a:t>Bằng chứng dự án: reports/experiment_protocol_v1.md (D2e, D2f, D2h, D2i; SHA-256: d3bf3d31ad307100ac437a7daecc470bf12de9ada49f19de3d77592d5a21974c); tests/test_experiment_evaluation.py (94 tests pass).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9):</a:t>
            </a:r>
          </a:p>
          <a:p>
            <a:r>
              <a:t>Trong phân tích RQ3, chúng tôi làm rõ số liệu chi phí từ DEV Cost Pilot (20 requests thực tế trên gpt-5.6-luna). Con số ~$0.00165/query là ước tính từ telemetry pilot ban đầu tại nhánh k=3 do độ dài reasoning output. Chi phí quyết toán thực tế (verified spend) là $0.024209 USD (conservative rate: $0.026320 USD). Chi phí dự phóng cho toàn bộ 6,400 requests của tập TEST là $8.20 – $8.99 USD. Toàn bộ tiến trình được kiểm soát bởi trần ngân sách đóng băng $19.99 USD và khoản giữ chỗ conservative pilot $0.05264010 USD, bảo đảm không bao giờ vượt ngân sách.</a:t>
            </a:r>
          </a:p>
          <a:p>
            <a:r>
              <a:t>Bằng chứng dự án: config/experiment_config.json (hard_budget_limit_usd: 19.99); reports/evidence/dev_cost_pilot_20261001/summary.json (SHA-256: f8dfe99479346dbbeff94d6e9dc7d11019623e5932ef27a00f1c3222e4c92b23); tests/test_monetary_guard.py.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10):</a:t>
            </a:r>
          </a:p>
          <a:p>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tuyệt đối, mọi quy trình kiểm thử tái lập phải thực thi qua runner offline scripts/run_offline_tests.py nhằm bảo đảm không phát sinh bất kỳ kết nối mạng ngoài nào.</a:t>
            </a:r>
          </a:p>
          <a:p>
            <a:r>
              <a:t>Bằng chứng dự án: docs/reproducibility.md; scripts/run_offline_tests.py; tests/test_offline_guard.py (OFFLINE_GUARD egress=0).</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11):</a:t>
            </a:r>
          </a:p>
          <a:p>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a:r>
              <a:t>Bằng chứng dự án: config/canonical_experiment_lock_v1.json (SHA-256: 961ba9b3...); scripts/reproduce_study.py; scripts/run_offline_tests.py; tests/test_smoke_cases.py.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GHI CHÚ DIỄN GIẢ (Slide 12):</a:t>
            </a:r>
          </a:p>
          <a:p>
            <a:r>
              <a:t>Tóm lại, RAG2ATT&amp;CK đã chứng minh rằng để ứng dụng RAG thành công trong SOC, chúng ta không thể chỉ kỳ vọng vào mô hình ngôn ngữ lớn, mà phải giải quyết bài toán cốt lõi là tối ưu hóa bộ truy xuất và cấu trúc hóa biểu diễn log. Toàn bộ mã nguồn, dữ liệu thực nghiệm và gói tái lập đã được công bố tại PR #26. Tôi xin chân thành cảm ơn sự lắng nghe của Quý Thầy Cô và kính mời Hội đồng đặt câu hỏi thảo luận.</a:t>
            </a:r>
          </a:p>
          <a:p>
            <a:r>
              <a:t>Bằng chứng dự án: PR #26 (https://github.com/habachcp6/RAG2ATTCK/pull/26); docs/sanitized_evidence_manifest.json; reports/evidence/reproducibility_package_manifest.md.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463040"/>
            <a:ext cx="137160" cy="36576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371600"/>
            <a:ext cx="9601200" cy="3840480"/>
          </a:xfrm>
          <a:prstGeom prst="rect">
            <a:avLst/>
          </a:prstGeom>
          <a:noFill/>
        </p:spPr>
        <p:txBody>
          <a:bodyPr wrap="square">
            <a:spAutoFit/>
          </a:bodyPr>
          <a:lstStyle/>
          <a:p>
            <a:pPr>
              <a:defRPr sz="1400" b="1">
                <a:solidFill>
                  <a:srgbClr val="06B6D4"/>
                </a:solidFill>
                <a:latin typeface="Calibri"/>
              </a:defRPr>
            </a:pPr>
            <a:r>
              <a:t>BÁO CÁO NGHIÊN CỨU THỰC NGHIỆM ĐỐI CHỨNG</a:t>
            </a:r>
          </a:p>
          <a:p>
            <a:pPr>
              <a:spcBef>
                <a:spcPts val="1000"/>
              </a:spcBef>
              <a:defRPr sz="2800" b="1">
                <a:solidFill>
                  <a:srgbClr val="FFFFFF"/>
                </a:solidFill>
                <a:latin typeface="Calibri"/>
              </a:defRPr>
            </a:pPr>
            <a:r>
              <a:t>Đánh Giá Tác Động Của MITRE ATT&amp;CK-Grounded RAG Đối Với Việc Ánh Xạ Windows Endpoint Logs</a:t>
            </a:r>
          </a:p>
          <a:p>
            <a:pPr>
              <a:spcBef>
                <a:spcPts val="800"/>
              </a:spcBef>
              <a:defRPr sz="1500" i="1">
                <a:solidFill>
                  <a:srgbClr val="94A3B8"/>
                </a:solidFill>
                <a:latin typeface="Calibri"/>
              </a:defRPr>
            </a:pPr>
            <a:r>
              <a:t>Evaluating MITRE ATT&amp;CK-Grounded Retrieval-Augmented Generation for Technique Attribution from Windows Endpoint Logs (RAG2ATT&amp;CK)</a:t>
            </a:r>
          </a:p>
          <a:p>
            <a:pPr>
              <a:spcBef>
                <a:spcPts val="2400"/>
              </a:spcBef>
              <a:defRPr sz="1300">
                <a:solidFill>
                  <a:srgbClr val="E2E8F0"/>
                </a:solidFill>
                <a:latin typeface="Calibri"/>
              </a:defRPr>
            </a:pPr>
            <a:r>
              <a:t>Giao thức khoa học: experiment-protocol-v1.1  |  Khóa chuẩn: canonical-lock-v1  |  Tái lập: 100% Offline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 Vấn Đề Nghiên Cứu &amp; Động Lực Thực Tiễn</a:t>
            </a:r>
          </a:p>
          <a:p>
            <a:pPr>
              <a:defRPr sz="1300">
                <a:solidFill>
                  <a:srgbClr val="06B6D4"/>
                </a:solidFill>
                <a:latin typeface="Calibri"/>
              </a:defRPr>
            </a:pPr>
            <a:r>
              <a:t>Khoảng cách giữa nhật ký cấp thấp (Telemetry) và ma trận kỹ thuật ATT&amp;CK</a:t>
            </a:r>
          </a:p>
        </p:txBody>
      </p:sp>
      <p:sp>
        <p:nvSpPr>
          <p:cNvPr id="6" name="Rounded Rectangle 5"/>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3047695" cy="4855464"/>
          </a:xfrm>
          <a:prstGeom prst="rect">
            <a:avLst/>
          </a:prstGeom>
          <a:noFill/>
        </p:spPr>
        <p:txBody>
          <a:bodyPr wrap="square">
            <a:spAutoFit/>
          </a:bodyPr>
          <a:lstStyle/>
          <a:p>
            <a:pPr>
              <a:defRPr sz="1600" b="1">
                <a:solidFill>
                  <a:srgbClr val="2563EB"/>
                </a:solidFill>
                <a:latin typeface="Calibri"/>
              </a:defRPr>
            </a:pPr>
            <a:r>
              <a:t>Bối Cảnh Giám Sát SOC</a:t>
            </a:r>
          </a:p>
          <a:p>
            <a:pPr>
              <a:spcBef>
                <a:spcPts val="400"/>
              </a:spcBef>
              <a:defRPr sz="1200">
                <a:solidFill>
                  <a:srgbClr val="0F172A"/>
                </a:solidFill>
                <a:latin typeface="Calibri"/>
              </a:defRPr>
            </a:pPr>
            <a:r>
              <a:t>•  Nhật ký Windows Endpoint (Security Events, Sysmon) là tuyến phòng thủ cốt lõi của Trung tâm Giám sát An ninh (SOC).</a:t>
            </a:r>
          </a:p>
          <a:p>
            <a:pPr>
              <a:spcBef>
                <a:spcPts val="400"/>
              </a:spcBef>
              <a:defRPr sz="1200">
                <a:solidFill>
                  <a:srgbClr val="0F172A"/>
                </a:solidFill>
                <a:latin typeface="Calibri"/>
              </a:defRPr>
            </a:pPr>
            <a:r>
              <a:t>•  Việc ánh xạ nhật ký thô sang mã MITRE ATT&amp;CK Technique là tiêu chuẩn vàng để xác định ý đồ tấn công.</a:t>
            </a:r>
          </a:p>
          <a:p>
            <a:pPr>
              <a:spcBef>
                <a:spcPts val="400"/>
              </a:spcBef>
              <a:defRPr sz="1200">
                <a:solidFill>
                  <a:srgbClr val="0F172A"/>
                </a:solidFill>
                <a:latin typeface="Calibri"/>
              </a:defRPr>
            </a:pPr>
            <a:r>
              <a:t>•  Quy trình thủ công đòi hỏi chuyên gia cấp cao, tốn thời gian và khó đáp ứng quy mô hàng triệu sự kiện mỗi ngày.</a:t>
            </a:r>
          </a:p>
        </p:txBody>
      </p:sp>
      <p:sp>
        <p:nvSpPr>
          <p:cNvPr id="8" name="Rounded Rectangle 7"/>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344168"/>
            <a:ext cx="3047695" cy="4855464"/>
          </a:xfrm>
          <a:prstGeom prst="rect">
            <a:avLst/>
          </a:prstGeom>
          <a:noFill/>
        </p:spPr>
        <p:txBody>
          <a:bodyPr wrap="square">
            <a:spAutoFit/>
          </a:bodyPr>
          <a:lstStyle/>
          <a:p>
            <a:pPr>
              <a:defRPr sz="1600" b="1">
                <a:solidFill>
                  <a:srgbClr val="DC2626"/>
                </a:solidFill>
                <a:latin typeface="Calibri"/>
              </a:defRPr>
            </a:pPr>
            <a:r>
              <a:t>Thách Thức Của LLM Thuần Túy</a:t>
            </a:r>
          </a:p>
          <a:p>
            <a:pPr>
              <a:spcBef>
                <a:spcPts val="400"/>
              </a:spcBef>
              <a:defRPr sz="1200">
                <a:solidFill>
                  <a:srgbClr val="0F172A"/>
                </a:solidFill>
                <a:latin typeface="Calibri"/>
              </a:defRPr>
            </a:pPr>
            <a:r>
              <a:t>•  Khoảng cách trừu tượng: Log mang tính kỹ thuật hệ thống (Process GUID, CommandLine), trong khi ATT&amp;CK mô tả hành vi khái niệm.</a:t>
            </a:r>
          </a:p>
          <a:p>
            <a:pPr>
              <a:spcBef>
                <a:spcPts val="400"/>
              </a:spcBef>
              <a:defRPr sz="1200">
                <a:solidFill>
                  <a:srgbClr val="0F172A"/>
                </a:solidFill>
                <a:latin typeface="Calibri"/>
              </a:defRPr>
            </a:pPr>
            <a:r>
              <a:t>•  Hiện tượng ảo giác: LLM không có RAG dễ suy đoán mã kỹ thuật sai cú pháp hoặc không tồn tại trong danh mục.</a:t>
            </a:r>
          </a:p>
          <a:p>
            <a:pPr>
              <a:spcBef>
                <a:spcPts val="400"/>
              </a:spcBef>
              <a:defRPr sz="1200">
                <a:solidFill>
                  <a:srgbClr val="0F172A"/>
                </a:solidFill>
                <a:latin typeface="Calibri"/>
              </a:defRPr>
            </a:pPr>
            <a:r>
              <a:t>•  Nhầm lẫn Sub-techniques: Khó phân biệt các kỹ thuật lân cận (ví dụ: T1059.001 PowerShell vs T1059.003 Command Shell).</a:t>
            </a:r>
          </a:p>
        </p:txBody>
      </p:sp>
      <p:sp>
        <p:nvSpPr>
          <p:cNvPr id="10" name="Rounded Rectangle 9"/>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344168"/>
            <a:ext cx="3047695" cy="4855464"/>
          </a:xfrm>
          <a:prstGeom prst="rect">
            <a:avLst/>
          </a:prstGeom>
          <a:noFill/>
        </p:spPr>
        <p:txBody>
          <a:bodyPr wrap="square">
            <a:spAutoFit/>
          </a:bodyPr>
          <a:lstStyle/>
          <a:p>
            <a:pPr>
              <a:defRPr sz="1600" b="1">
                <a:solidFill>
                  <a:srgbClr val="059669"/>
                </a:solidFill>
                <a:latin typeface="Calibri"/>
              </a:defRPr>
            </a:pPr>
            <a:r>
              <a:t>Động Lực Của RAG2ATT&amp;CK</a:t>
            </a:r>
          </a:p>
          <a:p>
            <a:pPr>
              <a:spcBef>
                <a:spcPts val="400"/>
              </a:spcBef>
              <a:defRPr sz="1200">
                <a:solidFill>
                  <a:srgbClr val="0F172A"/>
                </a:solidFill>
                <a:latin typeface="Calibri"/>
              </a:defRPr>
            </a:pPr>
            <a:r>
              <a:t>•  Thiết kế nghiên cứu thực nghiệm có kiểm soát (Controlled Empirical Study).</a:t>
            </a:r>
          </a:p>
          <a:p>
            <a:pPr>
              <a:spcBef>
                <a:spcPts val="400"/>
              </a:spcBef>
              <a:defRPr sz="1200">
                <a:solidFill>
                  <a:srgbClr val="0F172A"/>
                </a:solidFill>
                <a:latin typeface="Calibri"/>
              </a:defRPr>
            </a:pPr>
            <a:r>
              <a:t>•  Đo lường chính xác delta hiệu năng do RAG mang lại trên cùng mô hình LLM.</a:t>
            </a:r>
          </a:p>
          <a:p>
            <a:pPr>
              <a:spcBef>
                <a:spcPts val="400"/>
              </a:spcBef>
              <a:defRPr sz="1200">
                <a:solidFill>
                  <a:srgbClr val="0F172A"/>
                </a:solidFill>
                <a:latin typeface="Calibri"/>
              </a:defRPr>
            </a:pPr>
            <a:r>
              <a:t>•  Bóc tách độc lập lỗi tìm kiếm (Retrieval Failure) và lỗi phân loại (Classification Failure).</a:t>
            </a:r>
          </a:p>
          <a:p>
            <a:pPr>
              <a:spcBef>
                <a:spcPts val="400"/>
              </a:spcBef>
              <a:defRPr sz="1200">
                <a:solidFill>
                  <a:srgbClr val="0F172A"/>
                </a:solidFill>
                <a:latin typeface="Calibri"/>
              </a:defRPr>
            </a:pPr>
            <a:r>
              <a:t>•  Đóng băng giao thức v1.1: Thực thi xác định (Deterministic Execution under Frozen Environment &amp; Seeds).</a:t>
            </a:r>
          </a:p>
          <a:p>
            <a:pPr>
              <a:spcBef>
                <a:spcPts val="400"/>
              </a:spcBef>
              <a:defRPr sz="1200">
                <a:solidFill>
                  <a:srgbClr val="0F172A"/>
                </a:solidFill>
                <a:latin typeface="Calibri"/>
              </a:defRPr>
            </a:pPr>
            <a:r>
              <a:t>•  Tái lập ngoại tuyến chi phí 0 đồng với bộ offline_guard chặn tuyệt đối kết nối mạng ngoài.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2. Kiến Trúc Thực Nghiệm Đối Chứng</a:t>
            </a:r>
          </a:p>
          <a:p>
            <a:pPr>
              <a:defRPr sz="1300">
                <a:solidFill>
                  <a:srgbClr val="06B6D4"/>
                </a:solidFill>
                <a:latin typeface="Calibri"/>
              </a:defRPr>
            </a:pPr>
            <a:r>
              <a:t>So sánh đối đầu giữa Baseline (No-RAG) và Experimental (RAG)</a:t>
            </a:r>
          </a:p>
        </p:txBody>
      </p:sp>
      <p:sp>
        <p:nvSpPr>
          <p:cNvPr id="6" name="Rounded Rectangle 5"/>
          <p:cNvSpPr/>
          <p:nvPr/>
        </p:nvSpPr>
        <p:spPr>
          <a:xfrm>
            <a:off x="731520"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2843784"/>
          </a:xfrm>
          <a:prstGeom prst="rect">
            <a:avLst/>
          </a:prstGeom>
          <a:noFill/>
        </p:spPr>
        <p:txBody>
          <a:bodyPr wrap="square">
            <a:spAutoFit/>
          </a:bodyPr>
          <a:lstStyle/>
          <a:p>
            <a:pPr>
              <a:defRPr sz="1600" b="1">
                <a:solidFill>
                  <a:srgbClr val="1E293B"/>
                </a:solidFill>
                <a:latin typeface="Calibri"/>
              </a:defRPr>
            </a:pPr>
            <a:r>
              <a:t>Nhánh Cơ Sở: Baseline No-RAG</a:t>
            </a:r>
          </a:p>
          <a:p>
            <a:pPr>
              <a:spcBef>
                <a:spcPts val="350"/>
              </a:spcBef>
              <a:defRPr sz="1200">
                <a:solidFill>
                  <a:srgbClr val="0F172A"/>
                </a:solidFill>
                <a:latin typeface="Calibri"/>
              </a:defRPr>
            </a:pPr>
            <a:r>
              <a:t>•  Đầu vào: Chuỗi sự kiện Windows Endpoint (endpoint_evidence).</a:t>
            </a:r>
          </a:p>
          <a:p>
            <a:pPr>
              <a:spcBef>
                <a:spcPts val="350"/>
              </a:spcBef>
              <a:defRPr sz="1200">
                <a:solidFill>
                  <a:srgbClr val="0F172A"/>
                </a:solidFill>
                <a:latin typeface="Calibri"/>
              </a:defRPr>
            </a:pPr>
            <a:r>
              <a:t>•  Cơ chế: Đưa trực tiếp vào LLM cùng prompt hướng dẫn chuẩn hóa.</a:t>
            </a:r>
          </a:p>
          <a:p>
            <a:pPr>
              <a:spcBef>
                <a:spcPts val="350"/>
              </a:spcBef>
              <a:defRPr sz="1200">
                <a:solidFill>
                  <a:srgbClr val="0F172A"/>
                </a:solidFill>
                <a:latin typeface="Calibri"/>
              </a:defRPr>
            </a:pPr>
            <a:r>
              <a:t>•  Đầu ra: Chuỗi JSON chứa duy nhất mã technique_id.</a:t>
            </a:r>
          </a:p>
          <a:p>
            <a:pPr>
              <a:spcBef>
                <a:spcPts val="350"/>
              </a:spcBef>
              <a:defRPr sz="1200">
                <a:solidFill>
                  <a:srgbClr val="0F172A"/>
                </a:solidFill>
                <a:latin typeface="Calibri"/>
              </a:defRPr>
            </a:pPr>
            <a:r>
              <a:t>•  Mô hình: gpt-5.6-luna (reasoning_effort=xhigh, api_interface=responses).</a:t>
            </a:r>
          </a:p>
        </p:txBody>
      </p:sp>
      <p:sp>
        <p:nvSpPr>
          <p:cNvPr id="8" name="Rounded Rectangle 7"/>
          <p:cNvSpPr/>
          <p:nvPr/>
        </p:nvSpPr>
        <p:spPr>
          <a:xfrm>
            <a:off x="6248095" y="1234440"/>
            <a:ext cx="5212080" cy="306324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2843784"/>
          </a:xfrm>
          <a:prstGeom prst="rect">
            <a:avLst/>
          </a:prstGeom>
          <a:noFill/>
        </p:spPr>
        <p:txBody>
          <a:bodyPr wrap="square">
            <a:spAutoFit/>
          </a:bodyPr>
          <a:lstStyle/>
          <a:p>
            <a:pPr>
              <a:defRPr sz="1600" b="1">
                <a:solidFill>
                  <a:srgbClr val="1E40AF"/>
                </a:solidFill>
                <a:latin typeface="Calibri"/>
              </a:defRPr>
            </a:pPr>
            <a:r>
              <a:t>Nhánh Thử Nghiệm: Experimental RAG</a:t>
            </a:r>
          </a:p>
          <a:p>
            <a:pPr>
              <a:spcBef>
                <a:spcPts val="350"/>
              </a:spcBef>
              <a:defRPr sz="1200">
                <a:solidFill>
                  <a:srgbClr val="0F172A"/>
                </a:solidFill>
                <a:latin typeface="Calibri"/>
              </a:defRPr>
            </a:pPr>
            <a:r>
              <a:t>•  Đầu vào: Chuỗi sự kiện Windows Endpoint như nhánh cơ sở.</a:t>
            </a:r>
          </a:p>
          <a:p>
            <a:pPr>
              <a:spcBef>
                <a:spcPts val="350"/>
              </a:spcBef>
              <a:defRPr sz="1200">
                <a:solidFill>
                  <a:srgbClr val="0F172A"/>
                </a:solidFill>
                <a:latin typeface="Calibri"/>
              </a:defRPr>
            </a:pPr>
            <a:r>
              <a:t>•  Bộ truy xuất: sentence-transformers/all-MiniLM-L6-v2 + FAISS FlatIP (384-dim).</a:t>
            </a:r>
          </a:p>
          <a:p>
            <a:pPr>
              <a:spcBef>
                <a:spcPts val="350"/>
              </a:spcBef>
              <a:defRPr sz="1200">
                <a:solidFill>
                  <a:srgbClr val="0F172A"/>
                </a:solidFill>
                <a:latin typeface="Calibri"/>
              </a:defRPr>
            </a:pPr>
            <a:r>
              <a:t>•  Kho tri thức: 474 tài liệu ATT&amp;CK v19.2 Enterprise Windows.</a:t>
            </a:r>
          </a:p>
          <a:p>
            <a:pPr>
              <a:spcBef>
                <a:spcPts val="350"/>
              </a:spcBef>
              <a:defRPr sz="1200">
                <a:solidFill>
                  <a:srgbClr val="0F172A"/>
                </a:solidFill>
                <a:latin typeface="Calibri"/>
              </a:defRPr>
            </a:pPr>
            <a:r>
              <a:t>•  Độ sâu k: Đánh giá có hệ thống k ∈ {1, 3, 5, 10}.</a:t>
            </a:r>
          </a:p>
          <a:p>
            <a:pPr>
              <a:spcBef>
                <a:spcPts val="350"/>
              </a:spcBef>
              <a:defRPr sz="1200">
                <a:solidFill>
                  <a:srgbClr val="0F172A"/>
                </a:solidFill>
                <a:latin typeface="Calibri"/>
              </a:defRPr>
            </a:pPr>
            <a:r>
              <a:t>•  Đầu ra: Cùng cấu trúc JSON và cùng bộ kiểm tra cú pháp nghiêm ngặt.</a:t>
            </a:r>
          </a:p>
        </p:txBody>
      </p:sp>
      <p:sp>
        <p:nvSpPr>
          <p:cNvPr id="10" name="Rounded Rectangle 9"/>
          <p:cNvSpPr/>
          <p:nvPr/>
        </p:nvSpPr>
        <p:spPr>
          <a:xfrm>
            <a:off x="731520" y="443484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544568"/>
            <a:ext cx="10362895" cy="1655063"/>
          </a:xfrm>
          <a:prstGeom prst="rect">
            <a:avLst/>
          </a:prstGeom>
          <a:noFill/>
        </p:spPr>
        <p:txBody>
          <a:bodyPr wrap="square">
            <a:spAutoFit/>
          </a:bodyPr>
          <a:lstStyle/>
          <a:p>
            <a:pPr>
              <a:defRPr sz="1600" b="1">
                <a:solidFill>
                  <a:srgbClr val="059669"/>
                </a:solidFill>
                <a:latin typeface="Calibri"/>
              </a:defRPr>
            </a:pPr>
            <a:r>
              <a:t>Các Biến Kiểm Soát Bất Biến (Controlled Invariants)</a:t>
            </a:r>
          </a:p>
          <a:p>
            <a:pPr>
              <a:spcBef>
                <a:spcPts val="350"/>
              </a:spcBef>
              <a:defRPr sz="1200">
                <a:solidFill>
                  <a:srgbClr val="0F172A"/>
                </a:solidFill>
                <a:latin typeface="Calibri"/>
              </a:defRPr>
            </a:pPr>
            <a:r>
              <a:t>•  Cùng tập dữ liệu thử nghiệm (exact same telemetry instances); Cùng mô hình và tham số suy luận.</a:t>
            </a:r>
          </a:p>
          <a:p>
            <a:pPr>
              <a:spcBef>
                <a:spcPts val="350"/>
              </a:spcBef>
              <a:defRPr sz="1200">
                <a:solidFill>
                  <a:srgbClr val="0F172A"/>
                </a:solidFill>
                <a:latin typeface="Calibri"/>
              </a:defRPr>
            </a:pPr>
            <a:r>
              <a:t>•  Cùng cấu trúc Prompt (prompts/baseline_v1.txt), chỉ khác biệt ở khối Context được chèn vào.</a:t>
            </a:r>
          </a:p>
          <a:p>
            <a:pPr>
              <a:spcBef>
                <a:spcPts val="350"/>
              </a:spcBef>
              <a:defRPr sz="1200">
                <a:solidFill>
                  <a:srgbClr val="0F172A"/>
                </a:solidFill>
                <a:latin typeface="Calibri"/>
              </a:defRPr>
            </a:pPr>
            <a:r>
              <a:t>•  Biến duy nhất được thay đổi trong toàn bộ nghiên cứu: Retrieval ON vs. 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3. Thiết Kế Dữ Liệu &amp; Giao Thức Chống Rò Rỉ Nhãn</a:t>
            </a:r>
          </a:p>
          <a:p>
            <a:pPr>
              <a:defRPr sz="1300">
                <a:solidFill>
                  <a:srgbClr val="06B6D4"/>
                </a:solidFill>
                <a:latin typeface="Calibri"/>
              </a:defRPr>
            </a:pPr>
            <a:r>
              <a:t>Bộ dữ liệu chuẩn đóng băng Stage B (670 cặp kịch bản, 1,340 views)</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Bộ Dữ Liệu Chuẩn Đóng Băng Stage B</a:t>
            </a:r>
          </a:p>
          <a:p>
            <a:pPr>
              <a:spcBef>
                <a:spcPts val="300"/>
              </a:spcBef>
              <a:defRPr sz="1150">
                <a:solidFill>
                  <a:srgbClr val="0F172A"/>
                </a:solidFill>
                <a:latin typeface="Calibri"/>
              </a:defRPr>
            </a:pPr>
            <a:r>
              <a:t>•  Tổng thể: 670 cặp kịch bản (Scenario Pairs) tương ứng 1,340 Views.</a:t>
            </a:r>
          </a:p>
          <a:p>
            <a:pPr>
              <a:spcBef>
                <a:spcPts val="300"/>
              </a:spcBef>
              <a:defRPr sz="1150">
                <a:solidFill>
                  <a:srgbClr val="0F172A"/>
                </a:solidFill>
                <a:latin typeface="Calibri"/>
              </a:defRPr>
            </a:pPr>
            <a:r>
              <a:t>•  Phân chia tập: 1,280 TEST views và 60 DEV views.</a:t>
            </a:r>
          </a:p>
          <a:p>
            <a:pPr>
              <a:spcBef>
                <a:spcPts val="300"/>
              </a:spcBef>
              <a:defRPr sz="1150">
                <a:solidFill>
                  <a:srgbClr val="0F172A"/>
                </a:solidFill>
                <a:latin typeface="Calibri"/>
              </a:defRPr>
            </a:pPr>
            <a:r>
              <a:t>•  Hình thức biểu diễn Telemetry:</a:t>
            </a:r>
          </a:p>
          <a:p>
            <a:pPr>
              <a:spcBef>
                <a:spcPts val="300"/>
              </a:spcBef>
              <a:defRPr sz="1150">
                <a:solidFill>
                  <a:srgbClr val="0F172A"/>
                </a:solidFill>
                <a:latin typeface="Calibri"/>
              </a:defRPr>
            </a:pPr>
            <a:r>
              <a:t>  • Single-event view: Một sự kiện đơn lẻ kích hoạt kỹ thuật tấn công.</a:t>
            </a:r>
          </a:p>
          <a:p>
            <a:pPr>
              <a:spcBef>
                <a:spcPts val="300"/>
              </a:spcBef>
              <a:defRPr sz="1150">
                <a:solidFill>
                  <a:srgbClr val="0F172A"/>
                </a:solidFill>
                <a:latin typeface="Calibri"/>
              </a:defRPr>
            </a:pPr>
            <a:r>
              <a:t>  • Contextual-event view: Sự kiện mục tiêu kèm nhật ký ngữ cảnh lân cận.</a:t>
            </a:r>
          </a:p>
          <a:p>
            <a:pPr>
              <a:spcBef>
                <a:spcPts val="300"/>
              </a:spcBef>
              <a:defRPr sz="1150">
                <a:solidFill>
                  <a:srgbClr val="0F172A"/>
                </a:solidFill>
                <a:latin typeface="Calibri"/>
              </a:defRPr>
            </a:pPr>
            <a:r>
              <a:t>•  Độ bao phủ: 8 nhóm kỹ thuật mục tiêu đại diện cùng các mẫu âm tính / mơ hồ.</a:t>
            </a:r>
          </a:p>
          <a:p>
            <a:pPr>
              <a:spcBef>
                <a:spcPts val="300"/>
              </a:spcBef>
              <a:defRPr sz="1150">
                <a:solidFill>
                  <a:srgbClr val="0F172A"/>
                </a:solidFill>
                <a:latin typeface="Calibri"/>
              </a:defRPr>
            </a:pPr>
            <a:r>
              <a:t>•  Toàn vẹn mật mã: Khóa bằng SHA-256 trong canonical_experiment_lock_v1.json.</a:t>
            </a:r>
          </a:p>
        </p:txBody>
      </p:sp>
      <p:sp>
        <p:nvSpPr>
          <p:cNvPr id="8" name="Rounded Rectangle 7"/>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Giao Thức Chống Rò Rỉ Nhãn (Anti-Label-Leakage)</a:t>
            </a:r>
          </a:p>
          <a:p>
            <a:pPr>
              <a:spcBef>
                <a:spcPts val="300"/>
              </a:spcBef>
              <a:defRPr sz="1150">
                <a:solidFill>
                  <a:srgbClr val="0F172A"/>
                </a:solidFill>
                <a:latin typeface="Calibri"/>
              </a:defRPr>
            </a:pPr>
            <a:r>
              <a:t>•  Nguyên tắc cốt lõi: Tuyệt đối không để lộ nhãn hoặc tri thức luật trong đầu vào suy luận.</a:t>
            </a:r>
          </a:p>
          <a:p>
            <a:pPr>
              <a:spcBef>
                <a:spcPts val="300"/>
              </a:spcBef>
              <a:defRPr sz="1150">
                <a:solidFill>
                  <a:srgbClr val="0F172A"/>
                </a:solidFill>
                <a:latin typeface="Calibri"/>
              </a:defRPr>
            </a:pPr>
            <a:r>
              <a:t>•  Bộ lọc nghiêm ngặt (INFERENCE_ALLOWLIST):</a:t>
            </a:r>
          </a:p>
          <a:p>
            <a:pPr>
              <a:spcBef>
                <a:spcPts val="300"/>
              </a:spcBef>
              <a:defRPr sz="1150">
                <a:solidFill>
                  <a:srgbClr val="0F172A"/>
                </a:solidFill>
                <a:latin typeface="Calibri"/>
              </a:defRPr>
            </a:pPr>
            <a:r>
              <a:t>  • Chỉ giữ lại các trường kỹ thuật thô (CommandLine, ParentImage, Hashes).</a:t>
            </a:r>
          </a:p>
          <a:p>
            <a:pPr>
              <a:spcBef>
                <a:spcPts val="300"/>
              </a:spcBef>
              <a:defRPr sz="1150">
                <a:solidFill>
                  <a:srgbClr val="0F172A"/>
                </a:solidFill>
                <a:latin typeface="Calibri"/>
              </a:defRPr>
            </a:pPr>
            <a:r>
              <a:t>  • Loại bỏ hoàn toàn: technique_id, RuleName, Tactic, Description, Tags.</a:t>
            </a:r>
          </a:p>
          <a:p>
            <a:pPr>
              <a:spcBef>
                <a:spcPts val="300"/>
              </a:spcBef>
              <a:defRPr sz="1150">
                <a:solidFill>
                  <a:srgbClr val="0F172A"/>
                </a:solidFill>
                <a:latin typeface="Calibri"/>
              </a:defRPr>
            </a:pPr>
            <a:r>
              <a:t>•  Đầu vào suy luận (inference.jsonl) chỉ chứa 2 trường duy nhất: sample_id và endpoint_evidence.</a:t>
            </a:r>
          </a:p>
          <a:p>
            <a:pPr>
              <a:spcBef>
                <a:spcPts val="300"/>
              </a:spcBef>
              <a:defRPr sz="1150">
                <a:solidFill>
                  <a:srgbClr val="0F172A"/>
                </a:solidFill>
                <a:latin typeface="Calibri"/>
              </a:defRPr>
            </a:pPr>
            <a:r>
              <a:t>•  Phân định phạm vi: Stage B phục vụ kiểm định kỹ thuật &amp; chẩn đoán lỗi; dữ liệu thực địa (T15 real pilot) được quản lý độc lập.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4. Phương Pháp Luận, Mô Hình Đe Dọa &amp; Giao Thức v1.1</a:t>
            </a:r>
          </a:p>
          <a:p>
            <a:pPr>
              <a:defRPr sz="1300">
                <a:solidFill>
                  <a:srgbClr val="06B6D4"/>
                </a:solidFill>
                <a:latin typeface="Calibri"/>
              </a:defRPr>
            </a:pPr>
            <a:r>
              <a:t>Khóa 7 quyết định khoa học D1-D7 và chính sách chấp nhận kỹ thuật lịch sử</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Mô Hình Đe Dọa &amp; Danh Mục ATT&amp;CK v19.2</a:t>
            </a:r>
          </a:p>
          <a:p>
            <a:pPr>
              <a:spcBef>
                <a:spcPts val="300"/>
              </a:spcBef>
              <a:defRPr sz="1150">
                <a:solidFill>
                  <a:srgbClr val="0F172A"/>
                </a:solidFill>
                <a:latin typeface="Calibri"/>
              </a:defRPr>
            </a:pPr>
            <a:r>
              <a:t>•  Tiêu chuẩn danh mục: Pinned MITRE ATT&amp;CK v19.2 Enterprise Windows (474 techniques/sub-techniques).</a:t>
            </a:r>
          </a:p>
          <a:p>
            <a:pPr>
              <a:spcBef>
                <a:spcPts val="300"/>
              </a:spcBef>
              <a:defRPr sz="1150">
                <a:solidFill>
                  <a:srgbClr val="0F172A"/>
                </a:solidFill>
                <a:latin typeface="Calibri"/>
              </a:defRPr>
            </a:pPr>
            <a:r>
              <a:t>•  Chính sách kỹ thuật lịch sử (D2g: ALLOW_HISTORICAL):</a:t>
            </a:r>
          </a:p>
          <a:p>
            <a:pPr>
              <a:spcBef>
                <a:spcPts val="300"/>
              </a:spcBef>
              <a:defRPr sz="1150">
                <a:solidFill>
                  <a:srgbClr val="0F172A"/>
                </a:solidFill>
                <a:latin typeface="Calibri"/>
              </a:defRPr>
            </a:pPr>
            <a:r>
              <a:t>  • Chấp nhận các mã kỹ thuật lịch sử hoặc đã bị thu hồi (revoked/deprecated) có trong bộ kiểm chuẩn.</a:t>
            </a:r>
          </a:p>
          <a:p>
            <a:pPr>
              <a:spcBef>
                <a:spcPts val="300"/>
              </a:spcBef>
              <a:defRPr sz="1150">
                <a:solidFill>
                  <a:srgbClr val="0F172A"/>
                </a:solidFill>
                <a:latin typeface="Calibri"/>
              </a:defRPr>
            </a:pPr>
            <a:r>
              <a:t>  • Báo cáo dưới dạng distinct observation count, không tự ý gán lại (no silent remapping).</a:t>
            </a:r>
          </a:p>
          <a:p>
            <a:pPr>
              <a:spcBef>
                <a:spcPts val="300"/>
              </a:spcBef>
              <a:defRPr sz="1150">
                <a:solidFill>
                  <a:srgbClr val="0F172A"/>
                </a:solidFill>
                <a:latin typeface="Calibri"/>
              </a:defRPr>
            </a:pPr>
            <a:r>
              <a:t>•  Không gian lớp mục tiêu (D2d: FROZEN_BENCHMARK_UNIVERSE):</a:t>
            </a:r>
          </a:p>
          <a:p>
            <a:pPr>
              <a:spcBef>
                <a:spcPts val="300"/>
              </a:spcBef>
              <a:defRPr sz="1150">
                <a:solidFill>
                  <a:srgbClr val="0F172A"/>
                </a:solidFill>
                <a:latin typeface="Calibri"/>
              </a:defRPr>
            </a:pPr>
            <a:r>
              <a:t>  • Macro-F1 tính trên tập các lớp kỹ thuật chuẩn đóng băng, đảm bảo tính nhất quán giữa các lần chạy.</a:t>
            </a:r>
          </a:p>
          <a:p>
            <a:pPr>
              <a:spcBef>
                <a:spcPts val="300"/>
              </a:spcBef>
              <a:defRPr sz="1150">
                <a:solidFill>
                  <a:srgbClr val="0F172A"/>
                </a:solidFill>
                <a:latin typeface="Calibri"/>
              </a:defRPr>
            </a:pPr>
            <a:r>
              <a:t>•  Loại trừ mẫu rỗng / mơ hồ (D2b-c: EXCLUDE):</a:t>
            </a:r>
          </a:p>
          <a:p>
            <a:pPr>
              <a:spcBef>
                <a:spcPts val="300"/>
              </a:spcBef>
              <a:defRPr sz="1150">
                <a:solidFill>
                  <a:srgbClr val="0F172A"/>
                </a:solidFill>
                <a:latin typeface="Calibri"/>
              </a:defRPr>
            </a:pPr>
            <a:r>
              <a:t>  • Mẫu không gán được nhãn hoặc nhãn mơ hồ bị loại khỏi mẫu số Attribution Accuracy.</a:t>
            </a:r>
          </a:p>
          <a:p>
            <a:pPr>
              <a:spcBef>
                <a:spcPts val="300"/>
              </a:spcBef>
              <a:defRPr sz="1150">
                <a:solidFill>
                  <a:srgbClr val="0F172A"/>
                </a:solidFill>
                <a:latin typeface="Calibri"/>
              </a:defRPr>
            </a:pPr>
            <a:r>
              <a:t>•  Lưu vết đầy đủ (D1: RECORD_ONLY): Lưu toàn văn phản hồi thô phục vụ kiểm toán độc lập.</a:t>
            </a:r>
          </a:p>
        </p:txBody>
      </p:sp>
      <p:sp>
        <p:nvSpPr>
          <p:cNvPr id="8" name="Rounded Rectangle 7"/>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4855464"/>
          </a:xfrm>
          <a:prstGeom prst="rect">
            <a:avLst/>
          </a:prstGeom>
          <a:noFill/>
        </p:spPr>
        <p:txBody>
          <a:bodyPr wrap="square">
            <a:spAutoFit/>
          </a:bodyPr>
          <a:lstStyle/>
          <a:p>
            <a:pPr>
              <a:defRPr sz="1600" b="1">
                <a:solidFill>
                  <a:srgbClr val="059669"/>
                </a:solidFill>
                <a:latin typeface="Calibri"/>
              </a:defRPr>
            </a:pPr>
            <a:r>
              <a:t>4 Tiêu Chí Đánh Giá Cốt Lõi (D2h, D2i, D2e, D2f)</a:t>
            </a:r>
          </a:p>
          <a:p>
            <a:pPr>
              <a:spcBef>
                <a:spcPts val="300"/>
              </a:spcBef>
              <a:defRPr sz="1150">
                <a:solidFill>
                  <a:srgbClr val="0F172A"/>
                </a:solidFill>
                <a:latin typeface="Calibri"/>
              </a:defRPr>
            </a:pPr>
            <a:r>
              <a:t>•  D2h: Multi-GT Retrieval Success (ANY_GT_RETRIEVED):</a:t>
            </a:r>
          </a:p>
          <a:p>
            <a:pPr>
              <a:spcBef>
                <a:spcPts val="300"/>
              </a:spcBef>
              <a:defRPr sz="1150">
                <a:solidFill>
                  <a:srgbClr val="0F172A"/>
                </a:solidFill>
                <a:latin typeface="Calibri"/>
              </a:defRPr>
            </a:pPr>
            <a:r>
              <a:t>  • Retrieval được tính là thành công nếu BẤT KỲ ground-truth technique ID nào có trong Top-k candidates.</a:t>
            </a:r>
          </a:p>
          <a:p>
            <a:pPr>
              <a:spcBef>
                <a:spcPts val="300"/>
              </a:spcBef>
              <a:defRPr sz="1150">
                <a:solidFill>
                  <a:srgbClr val="0F172A"/>
                </a:solidFill>
                <a:latin typeface="Calibri"/>
              </a:defRPr>
            </a:pPr>
            <a:r>
              <a:t>•  D2i: Failure Decomposition (INDEPENDENT_AXES):</a:t>
            </a:r>
          </a:p>
          <a:p>
            <a:pPr>
              <a:spcBef>
                <a:spcPts val="300"/>
              </a:spcBef>
              <a:defRPr sz="1150">
                <a:solidFill>
                  <a:srgbClr val="0F172A"/>
                </a:solidFill>
                <a:latin typeface="Calibri"/>
              </a:defRPr>
            </a:pPr>
            <a:r>
              <a:t>  • Bóc tách độc lập lỗi tìm kiếm và phân loại trên các trục trực giao; ghi nhận đầy đủ phần giao thoa (overlap).</a:t>
            </a:r>
          </a:p>
          <a:p>
            <a:pPr>
              <a:spcBef>
                <a:spcPts val="300"/>
              </a:spcBef>
              <a:defRPr sz="1150">
                <a:solidFill>
                  <a:srgbClr val="0F172A"/>
                </a:solidFill>
                <a:latin typeface="Calibri"/>
              </a:defRPr>
            </a:pPr>
            <a:r>
              <a:t>•  D2e: Invalid ATT&amp;CK ID Denominator (INCLUDE_IN_DENOMINATOR):</a:t>
            </a:r>
          </a:p>
          <a:p>
            <a:pPr>
              <a:spcBef>
                <a:spcPts val="300"/>
              </a:spcBef>
              <a:defRPr sz="1150">
                <a:solidFill>
                  <a:srgbClr val="0F172A"/>
                </a:solidFill>
                <a:latin typeface="Calibri"/>
              </a:defRPr>
            </a:pPr>
            <a:r>
              <a:t>  • Mã kỹ thuật ảo giác, sai cú pháp đều bị tính là thất bại (Fail-Closed).</a:t>
            </a:r>
          </a:p>
          <a:p>
            <a:pPr>
              <a:spcBef>
                <a:spcPts val="300"/>
              </a:spcBef>
              <a:defRPr sz="1150">
                <a:solidFill>
                  <a:srgbClr val="0F172A"/>
                </a:solidFill>
                <a:latin typeface="Calibri"/>
              </a:defRPr>
            </a:pPr>
            <a:r>
              <a:t>•  D2f: Provider Failure Denominator (INCLUDE_IN_DENOMINATOR):</a:t>
            </a:r>
          </a:p>
          <a:p>
            <a:pPr>
              <a:spcBef>
                <a:spcPts val="300"/>
              </a:spcBef>
              <a:defRPr sz="1150">
                <a:solidFill>
                  <a:srgbClr val="0F172A"/>
                </a:solidFill>
                <a:latin typeface="Calibri"/>
              </a:defRPr>
            </a:pPr>
            <a:r>
              <a:t>  • Lỗi API, timeout, refusal đều tính vào mẫu số, không được loại trừ.</a:t>
            </a:r>
          </a:p>
          <a:p>
            <a:pPr>
              <a:spcBef>
                <a:spcPts val="300"/>
              </a:spcBef>
              <a:defRPr sz="1150">
                <a:solidFill>
                  <a:srgbClr val="0F172A"/>
                </a:solidFill>
                <a:latin typeface="Calibri"/>
              </a:defRPr>
            </a:pPr>
            <a:r>
              <a:t>•  D3: Khóa mô hình: ALLOW_LATEST_WITH_TIMESTAMP_BINDING (tem UTC thực tế).</a:t>
            </a:r>
          </a:p>
          <a:p>
            <a:pPr>
              <a:spcBef>
                <a:spcPts val="300"/>
              </a:spcBef>
              <a:defRPr sz="1150">
                <a:solidFill>
                  <a:srgbClr val="0F172A"/>
                </a:solidFill>
                <a:latin typeface="Calibri"/>
              </a:defRPr>
            </a:pPr>
            <a:r>
              <a:t>•  D4-D5: Thực thi tuần tự (SEQUENTIAL_ONLY), chặn cứng ngân sách (HARD_CAP).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5. Kết Quả RQ2: Chẩn Đoán Khâu Truy Xuất (Retrieval Quality)</a:t>
            </a:r>
          </a:p>
          <a:p>
            <a:pPr>
              <a:defRPr sz="1300">
                <a:solidFill>
                  <a:srgbClr val="06B6D4"/>
                </a:solidFill>
                <a:latin typeface="Calibri"/>
              </a:defRPr>
            </a:pPr>
            <a:r>
              <a:t>Đánh giá độc lập bộ tìm kiếm trên 756 positive views của benchmark</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Số Liệu Chẩn Đoán Cốt Lõi (T20 Overall)</a:t>
            </a:r>
          </a:p>
          <a:p>
            <a:pPr>
              <a:spcBef>
                <a:spcPts val="300"/>
              </a:spcBef>
              <a:defRPr sz="1150">
                <a:solidFill>
                  <a:srgbClr val="0F172A"/>
                </a:solidFill>
                <a:latin typeface="Calibri"/>
              </a:defRPr>
            </a:pPr>
            <a:r>
              <a:t>•  Số mẫu dương tính đánh giá: 756 / 1,340 views.</a:t>
            </a:r>
          </a:p>
          <a:p>
            <a:pPr>
              <a:spcBef>
                <a:spcPts val="300"/>
              </a:spcBef>
              <a:defRPr sz="1150">
                <a:solidFill>
                  <a:srgbClr val="0F172A"/>
                </a:solidFill>
                <a:latin typeface="Calibri"/>
              </a:defRPr>
            </a:pPr>
            <a:r>
              <a:t>•  Tỷ lệ tìm trúng theo độ sâu k (Hit@k):</a:t>
            </a:r>
          </a:p>
          <a:p>
            <a:pPr>
              <a:spcBef>
                <a:spcPts val="300"/>
              </a:spcBef>
              <a:defRPr sz="1150">
                <a:solidFill>
                  <a:srgbClr val="0F172A"/>
                </a:solidFill>
                <a:latin typeface="Calibri"/>
              </a:defRPr>
            </a:pPr>
            <a:r>
              <a:t>  • Hit@1:   4.23% (32 / 756)</a:t>
            </a:r>
          </a:p>
          <a:p>
            <a:pPr>
              <a:spcBef>
                <a:spcPts val="300"/>
              </a:spcBef>
              <a:defRPr sz="1150">
                <a:solidFill>
                  <a:srgbClr val="0F172A"/>
                </a:solidFill>
                <a:latin typeface="Calibri"/>
              </a:defRPr>
            </a:pPr>
            <a:r>
              <a:t>  • Hit@3:  16.80% (127 / 756)</a:t>
            </a:r>
          </a:p>
          <a:p>
            <a:pPr>
              <a:spcBef>
                <a:spcPts val="300"/>
              </a:spcBef>
              <a:defRPr sz="1150">
                <a:solidFill>
                  <a:srgbClr val="0F172A"/>
                </a:solidFill>
                <a:latin typeface="Calibri"/>
              </a:defRPr>
            </a:pPr>
            <a:r>
              <a:t>  • Hit@5:  24.21% (183 / 756)</a:t>
            </a:r>
          </a:p>
          <a:p>
            <a:pPr>
              <a:spcBef>
                <a:spcPts val="300"/>
              </a:spcBef>
              <a:defRPr sz="1150">
                <a:solidFill>
                  <a:srgbClr val="0F172A"/>
                </a:solidFill>
                <a:latin typeface="Calibri"/>
              </a:defRPr>
            </a:pPr>
            <a:r>
              <a:t>  • Hit@10: 45.11% (341 / 756)</a:t>
            </a:r>
          </a:p>
          <a:p>
            <a:pPr>
              <a:spcBef>
                <a:spcPts val="300"/>
              </a:spcBef>
              <a:defRPr sz="1150">
                <a:solidFill>
                  <a:srgbClr val="0F172A"/>
                </a:solidFill>
                <a:latin typeface="Calibri"/>
              </a:defRPr>
            </a:pPr>
            <a:r>
              <a:t>•  Tỷ lệ vắng mặt trong Top-10 (Retrieval Failure): 54.89% (415 / 756).</a:t>
            </a:r>
          </a:p>
          <a:p>
            <a:pPr>
              <a:spcBef>
                <a:spcPts val="300"/>
              </a:spcBef>
              <a:defRPr sz="1150">
                <a:solidFill>
                  <a:srgbClr val="0F172A"/>
                </a:solidFill>
                <a:latin typeface="Calibri"/>
              </a:defRPr>
            </a:pPr>
            <a:r>
              <a:t>•  Macro Recall@10: 43.14%  |  Mean Rank khi trúng: 5.21.</a:t>
            </a:r>
          </a:p>
          <a:p>
            <a:pPr>
              <a:spcBef>
                <a:spcPts val="300"/>
              </a:spcBef>
              <a:defRPr sz="1150">
                <a:solidFill>
                  <a:srgbClr val="0F172A"/>
                </a:solidFill>
                <a:latin typeface="Calibri"/>
              </a:defRPr>
            </a:pPr>
            <a:r>
              <a:t>•  Phát hiện: Trong hơn 54% trường hợp, kỹ thuật đúng hoàn toàn vắng bóng trong Top-10 gửi cho LLM!</a:t>
            </a:r>
          </a:p>
        </p:txBody>
      </p:sp>
      <p:pic>
        <p:nvPicPr>
          <p:cNvPr id="8" name="Picture 7" descr="fig_rq2_retrieval_hit_rates.png"/>
          <p:cNvPicPr>
            <a:picLocks noChangeAspect="1"/>
          </p:cNvPicPr>
          <p:nvPr/>
        </p:nvPicPr>
        <p:blipFill>
          <a:blip r:embed="rId2"/>
          <a:stretch>
            <a:fillRect/>
          </a:stretch>
        </p:blipFill>
        <p:spPr>
          <a:xfrm>
            <a:off x="6248095" y="1234440"/>
            <a:ext cx="5212080" cy="3257550"/>
          </a:xfrm>
          <a:prstGeom prst="rect">
            <a:avLst/>
          </a:prstGeom>
        </p:spPr>
      </p:pic>
      <p:sp>
        <p:nvSpPr>
          <p:cNvPr id="9" name="Rounded Rectangle 8"/>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4636008"/>
            <a:ext cx="4846320" cy="1563624"/>
          </a:xfrm>
          <a:prstGeom prst="rect">
            <a:avLst/>
          </a:prstGeom>
          <a:noFill/>
        </p:spPr>
        <p:txBody>
          <a:bodyPr wrap="square">
            <a:spAutoFit/>
          </a:bodyPr>
          <a:lstStyle/>
          <a:p>
            <a:pPr>
              <a:defRPr sz="1600" b="1">
                <a:solidFill>
                  <a:srgbClr val="DC2626"/>
                </a:solidFill>
                <a:latin typeface="Calibri"/>
              </a:defRPr>
            </a:pPr>
            <a:r>
              <a:t>Giả Thuyết Context Scaling &amp; Dilution (k=1,3,5,10)</a:t>
            </a:r>
          </a:p>
          <a:p>
            <a:pPr>
              <a:spcBef>
                <a:spcPts val="250"/>
              </a:spcBef>
              <a:defRPr sz="1100">
                <a:solidFill>
                  <a:srgbClr val="0F172A"/>
                </a:solidFill>
                <a:latin typeface="Calibri"/>
              </a:defRPr>
            </a:pPr>
            <a:r>
              <a:t>•  Khoảng cách ngữ nghĩa tại T1136.001 (Local Account): 0/99 lượt trúng Top-10 do log Event ID 4720 lệch từ vựng so với STIX persistence.</a:t>
            </a:r>
          </a:p>
          <a:p>
            <a:pPr>
              <a:spcBef>
                <a:spcPts val="250"/>
              </a:spcBef>
              <a:defRPr sz="1100">
                <a:solidFill>
                  <a:srgbClr val="0F172A"/>
                </a:solidFill>
                <a:latin typeface="Calibri"/>
              </a:defRPr>
            </a:pPr>
            <a:r>
              <a:t>•  Giả thuyết Context Scaling &amp; Dilution: Tăng k tăng độ phủ (Hit@k) nhưng tăng nguy cơ nhiễu distractor; đang được kiểm chứng đối chứng trên ma trận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6. Tác Động Của Hình Thức Biểu Diễn Telemetry</a:t>
            </a:r>
          </a:p>
          <a:p>
            <a:pPr>
              <a:defRPr sz="1300">
                <a:solidFill>
                  <a:srgbClr val="06B6D4"/>
                </a:solidFill>
                <a:latin typeface="Calibri"/>
              </a:defRPr>
            </a:pPr>
            <a:r>
              <a:t>So sánh thực nghiệm Single vs Contextual trên 670 cặp kịch bản đối ứng</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2563EB"/>
                </a:solidFill>
                <a:latin typeface="Calibri"/>
              </a:defRPr>
            </a:pPr>
            <a:r>
              <a:t>Phân Tích Cặp Anchor Chuẩn (296 Cặp - Primary)</a:t>
            </a:r>
          </a:p>
          <a:p>
            <a:pPr>
              <a:spcBef>
                <a:spcPts val="300"/>
              </a:spcBef>
              <a:defRPr sz="1150">
                <a:solidFill>
                  <a:srgbClr val="0F172A"/>
                </a:solidFill>
                <a:latin typeface="Calibri"/>
              </a:defRPr>
            </a:pPr>
            <a:r>
              <a:t>•  Quy mô: 670 cặp kịch bản đối ứng; 374 cặp bị loại trừ do đa nhãn/mismatch.</a:t>
            </a:r>
          </a:p>
          <a:p>
            <a:pPr>
              <a:spcBef>
                <a:spcPts val="300"/>
              </a:spcBef>
              <a:defRPr sz="1150">
                <a:solidFill>
                  <a:srgbClr val="0F172A"/>
                </a:solidFill>
                <a:latin typeface="Calibri"/>
              </a:defRPr>
            </a:pPr>
            <a:r>
              <a:t>•  Tiêu chí Anchor chuẩn (scripts/verify_t20_canonical_artifacts.py):</a:t>
            </a:r>
          </a:p>
          <a:p>
            <a:pPr>
              <a:spcBef>
                <a:spcPts val="300"/>
              </a:spcBef>
              <a:defRPr sz="1150">
                <a:solidFill>
                  <a:srgbClr val="0F172A"/>
                </a:solidFill>
                <a:latin typeface="Calibri"/>
              </a:defRPr>
            </a:pPr>
            <a:r>
              <a:t>  • Single view có duy nhất 1 kỹ thuật và kỹ thuật này có mặt trong Contextual view.</a:t>
            </a:r>
          </a:p>
          <a:p>
            <a:pPr>
              <a:spcBef>
                <a:spcPts val="300"/>
              </a:spcBef>
              <a:defRPr sz="1150">
                <a:solidFill>
                  <a:srgbClr val="0F172A"/>
                </a:solidFill>
                <a:latin typeface="Calibri"/>
              </a:defRPr>
            </a:pPr>
            <a:r>
              <a:t>•  Phân bố thứ hạng thực nghiệm quan sát được:</a:t>
            </a:r>
          </a:p>
          <a:p>
            <a:pPr>
              <a:spcBef>
                <a:spcPts val="300"/>
              </a:spcBef>
              <a:defRPr sz="1150">
                <a:solidFill>
                  <a:srgbClr val="0F172A"/>
                </a:solidFill>
                <a:latin typeface="Calibri"/>
              </a:defRPr>
            </a:pPr>
            <a:r>
              <a:t>  • Single-event đạt thứ hạng tốt hơn: 65 cặp (22.0%)</a:t>
            </a:r>
          </a:p>
          <a:p>
            <a:pPr>
              <a:spcBef>
                <a:spcPts val="300"/>
              </a:spcBef>
              <a:defRPr sz="1150">
                <a:solidFill>
                  <a:srgbClr val="0F172A"/>
                </a:solidFill>
                <a:latin typeface="Calibri"/>
              </a:defRPr>
            </a:pPr>
            <a:r>
              <a:t>  • Contextual-event đạt thứ hạng tốt hơn: 23 cặp (7.8%)</a:t>
            </a:r>
          </a:p>
          <a:p>
            <a:pPr>
              <a:spcBef>
                <a:spcPts val="300"/>
              </a:spcBef>
              <a:defRPr sz="1150">
                <a:solidFill>
                  <a:srgbClr val="0F172A"/>
                </a:solidFill>
                <a:latin typeface="Calibri"/>
              </a:defRPr>
            </a:pPr>
            <a:r>
              <a:t>  • Hiệu năng thứ hạng tương đương: 208 cặp (70.3%)</a:t>
            </a:r>
          </a:p>
          <a:p>
            <a:pPr>
              <a:spcBef>
                <a:spcPts val="300"/>
              </a:spcBef>
              <a:defRPr sz="1150">
                <a:solidFill>
                  <a:srgbClr val="0F172A"/>
                </a:solidFill>
                <a:latin typeface="Calibri"/>
              </a:defRPr>
            </a:pPr>
            <a:r>
              <a:t>    - Cả hai biểu diễn cùng trượt Top-10: 147 cặp</a:t>
            </a:r>
          </a:p>
          <a:p>
            <a:pPr>
              <a:spcBef>
                <a:spcPts val="300"/>
              </a:spcBef>
              <a:defRPr sz="1150">
                <a:solidFill>
                  <a:srgbClr val="0F172A"/>
                </a:solidFill>
                <a:latin typeface="Calibri"/>
              </a:defRPr>
            </a:pPr>
            <a:r>
              <a:t>    - Đồng hạng chính xác trong Top-10: 61 cặp</a:t>
            </a:r>
          </a:p>
          <a:p>
            <a:pPr>
              <a:spcBef>
                <a:spcPts val="300"/>
              </a:spcBef>
              <a:defRPr sz="1150">
                <a:solidFill>
                  <a:srgbClr val="0F172A"/>
                </a:solidFill>
                <a:latin typeface="Calibri"/>
              </a:defRPr>
            </a:pPr>
            <a:r>
              <a:t>•  Nhóm lọc đơn kỹ thuật nghiêm ngặt (252 cặp - Secondary): Single tốt hơn 59 cặp (23.4%) vs. Contextual 23 cặp (9.1%), ngang nhau 170 cặp.</a:t>
            </a:r>
          </a:p>
        </p:txBody>
      </p:sp>
      <p:sp>
        <p:nvSpPr>
          <p:cNvPr id="8" name="Rounded Rectangle 7"/>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4855464"/>
          </a:xfrm>
          <a:prstGeom prst="rect">
            <a:avLst/>
          </a:prstGeom>
          <a:noFill/>
        </p:spPr>
        <p:txBody>
          <a:bodyPr wrap="square">
            <a:spAutoFit/>
          </a:bodyPr>
          <a:lstStyle/>
          <a:p>
            <a:pPr>
              <a:defRPr sz="1600" b="1">
                <a:solidFill>
                  <a:srgbClr val="DC2626"/>
                </a:solidFill>
                <a:latin typeface="Calibri"/>
              </a:defRPr>
            </a:pPr>
            <a:r>
              <a:t>Hiện Tượng Quan Sát &amp; Schema So Sánh [PENDING]</a:t>
            </a:r>
          </a:p>
          <a:p>
            <a:pPr>
              <a:spcBef>
                <a:spcPts val="300"/>
              </a:spcBef>
              <a:defRPr sz="1150">
                <a:solidFill>
                  <a:srgbClr val="0F172A"/>
                </a:solidFill>
                <a:latin typeface="Calibri"/>
              </a:defRPr>
            </a:pPr>
            <a:r>
              <a:t>•  Hiện tượng Benign Drift khi mở rộng ngữ cảnh:</a:t>
            </a:r>
          </a:p>
          <a:p>
            <a:pPr>
              <a:spcBef>
                <a:spcPts val="300"/>
              </a:spcBef>
              <a:defRPr sz="1150">
                <a:solidFill>
                  <a:srgbClr val="0F172A"/>
                </a:solidFill>
                <a:latin typeface="Calibri"/>
              </a:defRPr>
            </a:pPr>
            <a:r>
              <a:t>  • Gộp các sự kiện lân cận bổ sung nhiều token thông thường (Explorer, DNS, svchost).</a:t>
            </a:r>
          </a:p>
          <a:p>
            <a:pPr>
              <a:spcBef>
                <a:spcPts val="300"/>
              </a:spcBef>
              <a:defRPr sz="1150">
                <a:solidFill>
                  <a:srgbClr val="0F172A"/>
                </a:solidFill>
                <a:latin typeface="Calibri"/>
              </a:defRPr>
            </a:pPr>
            <a:r>
              <a:t>  • Vector dense embedding bị kéo lệch về hành vi bình thường, làm tụt thứ hạng kỹ thuật tấn công.</a:t>
            </a:r>
          </a:p>
          <a:p>
            <a:pPr>
              <a:spcBef>
                <a:spcPts val="300"/>
              </a:spcBef>
              <a:defRPr sz="1150">
                <a:solidFill>
                  <a:srgbClr val="0F172A"/>
                </a:solidFill>
                <a:latin typeface="Calibri"/>
              </a:defRPr>
            </a:pPr>
            <a:r>
              <a:t>•  Schema So Sánh Đối Chứng Scaffold [PENDING EXECUTION]:</a:t>
            </a:r>
          </a:p>
          <a:p>
            <a:pPr>
              <a:spcBef>
                <a:spcPts val="300"/>
              </a:spcBef>
              <a:defRPr sz="1150">
                <a:solidFill>
                  <a:srgbClr val="0F172A"/>
                </a:solidFill>
                <a:latin typeface="Calibri"/>
              </a:defRPr>
            </a:pPr>
            <a:r>
              <a:t>  • Đối chứng: Zero-Shot No-RAG vs Zero-Shot RAG (k=1..10) vs Prompt Scaffolds.</a:t>
            </a:r>
          </a:p>
          <a:p>
            <a:pPr>
              <a:spcBef>
                <a:spcPts val="300"/>
              </a:spcBef>
              <a:defRPr sz="1150">
                <a:solidFill>
                  <a:srgbClr val="0F172A"/>
                </a:solidFill>
                <a:latin typeface="Calibri"/>
              </a:defRPr>
            </a:pPr>
            <a:r>
              <a:t>  • Giả thuyết: Khối tri thức RAG bổ trợ cần đi kèm tiền lọc sự kiện nghi vấn thay vì nhúng thô.</a:t>
            </a:r>
          </a:p>
          <a:p>
            <a:pPr>
              <a:spcBef>
                <a:spcPts val="300"/>
              </a:spcBef>
              <a:defRPr sz="1150">
                <a:solidFill>
                  <a:srgbClr val="0F172A"/>
                </a:solidFill>
                <a:latin typeface="Calibri"/>
              </a:defRPr>
            </a:pPr>
            <a:r>
              <a:t>  • Trạng thái: Toàn bộ ma trận TEST đang thực thi; kết luận chính thức sẽ công bố khi hoàn tất.</a:t>
            </a:r>
          </a:p>
          <a:p>
            <a:pPr>
              <a:spcBef>
                <a:spcPts val="300"/>
              </a:spcBef>
              <a:defRPr sz="1150">
                <a:solidFill>
                  <a:srgbClr val="0F172A"/>
                </a:solidFill>
                <a:latin typeface="Calibri"/>
              </a:defRPr>
            </a:pPr>
            <a:r>
              <a:t>•  Phạm vi khảo sát: Ghi nhận trên synthetic-paired-v1; cần tiếp tục kiểm chứng trên telemetry thực tế.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7. Khung Đánh Giá End-to-End (RQ1) &amp; Phân Rã Lỗi Độc Lập D2i (RQ2)</a:t>
            </a:r>
          </a:p>
          <a:p>
            <a:pPr>
              <a:defRPr sz="1300">
                <a:solidFill>
                  <a:srgbClr val="06B6D4"/>
                </a:solidFill>
                <a:latin typeface="Calibri"/>
              </a:defRPr>
            </a:pPr>
            <a:r>
              <a:t>Bóc tách độc lập giữa năng lực truy xuất và phân loại theo định đề D2i (Independent Axes)</a:t>
            </a:r>
          </a:p>
        </p:txBody>
      </p:sp>
      <p:sp>
        <p:nvSpPr>
          <p:cNvPr id="6" name="Rounded Rectangle 5"/>
          <p:cNvSpPr/>
          <p:nvPr/>
        </p:nvSpPr>
        <p:spPr>
          <a:xfrm>
            <a:off x="731520" y="1188720"/>
            <a:ext cx="10728655" cy="1874519"/>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298448"/>
            <a:ext cx="10362895" cy="1655063"/>
          </a:xfrm>
          <a:prstGeom prst="rect">
            <a:avLst/>
          </a:prstGeom>
          <a:noFill/>
        </p:spPr>
        <p:txBody>
          <a:bodyPr wrap="square">
            <a:spAutoFit/>
          </a:bodyPr>
          <a:lstStyle/>
          <a:p>
            <a:pPr>
              <a:defRPr sz="1600" b="1">
                <a:solidFill>
                  <a:srgbClr val="1E40AF"/>
                </a:solidFill>
                <a:latin typeface="Calibri"/>
              </a:defRPr>
            </a:pPr>
            <a:r>
              <a:t>Mô Hình Phân Rã Lỗi Độc Lập Theo Định Đề D2i (RQ2 Error Decomposition)</a:t>
            </a:r>
          </a:p>
          <a:p>
            <a:pPr>
              <a:spcBef>
                <a:spcPts val="300"/>
              </a:spcBef>
              <a:defRPr sz="1150">
                <a:solidFill>
                  <a:srgbClr val="0F172A"/>
                </a:solidFill>
                <a:latin typeface="Calibri"/>
              </a:defRPr>
            </a:pPr>
            <a:r>
              <a:t>•  Định đề D2i quy định retrieval failure và downstream generation failure là CÁC TRỤC ĐỘC LẬP (Independent Axes), không phải phân hoạch xung khắc rời rạc (phần giao thoa khác 0).</a:t>
            </a:r>
          </a:p>
          <a:p>
            <a:pPr>
              <a:spcBef>
                <a:spcPts val="300"/>
              </a:spcBef>
              <a:defRPr sz="1150">
                <a:solidFill>
                  <a:srgbClr val="0F172A"/>
                </a:solidFill>
                <a:latin typeface="Calibri"/>
              </a:defRPr>
            </a:pPr>
            <a:r>
              <a:t>•  Trục 1 - Retrieval Miss Rate: 1 - Hit@k (kỹ thuật ground-truth vắng mặt trong Top-k theo tiêu chí D2h ANY_MATCH).</a:t>
            </a:r>
          </a:p>
          <a:p>
            <a:pPr>
              <a:spcBef>
                <a:spcPts val="300"/>
              </a:spcBef>
              <a:defRPr sz="1150">
                <a:solidFill>
                  <a:srgbClr val="0F172A"/>
                </a:solidFill>
                <a:latin typeface="Calibri"/>
              </a:defRPr>
            </a:pPr>
            <a:r>
              <a:t>•  Trục 2 - Downstream Generation Failure: mô hình phát sinh invalid ATT&amp;CK ID (D2e), gặp lỗi provider (D2f), hoặc chọn sai kỹ thuật dù đã được cung cấp.</a:t>
            </a:r>
          </a:p>
          <a:p>
            <a:pPr>
              <a:spcBef>
                <a:spcPts val="300"/>
              </a:spcBef>
              <a:defRPr sz="1150">
                <a:solidFill>
                  <a:srgbClr val="0F172A"/>
                </a:solidFill>
                <a:latin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p:cNvSpPr/>
          <p:nvPr/>
        </p:nvSpPr>
        <p:spPr>
          <a:xfrm>
            <a:off x="731520"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10128"/>
            <a:ext cx="4846320" cy="2889504"/>
          </a:xfrm>
          <a:prstGeom prst="rect">
            <a:avLst/>
          </a:prstGeom>
          <a:noFill/>
        </p:spPr>
        <p:txBody>
          <a:bodyPr wrap="square">
            <a:spAutoFit/>
          </a:bodyPr>
          <a:lstStyle/>
          <a:p>
            <a:pPr>
              <a:defRPr sz="1600" b="1">
                <a:solidFill>
                  <a:srgbClr val="2563EB"/>
                </a:solidFill>
                <a:latin typeface="Calibri"/>
              </a:defRPr>
            </a:pPr>
            <a:r>
              <a:t>Các Thước Đo Có Điều Kiện (Conditional Metrics)</a:t>
            </a:r>
          </a:p>
          <a:p>
            <a:pPr>
              <a:spcBef>
                <a:spcPts val="350"/>
              </a:spcBef>
              <a:defRPr sz="1150">
                <a:solidFill>
                  <a:srgbClr val="0F172A"/>
                </a:solidFill>
                <a:latin typeface="Calibri"/>
              </a:defRPr>
            </a:pPr>
            <a:r>
              <a:t>•  P(Correct | GT in Top-k): Đánh giá năng lực lựa chọn của LLM khi bộ tìm kiếm hoạt động chính xác.</a:t>
            </a:r>
          </a:p>
          <a:p>
            <a:pPr>
              <a:spcBef>
                <a:spcPts val="350"/>
              </a:spcBef>
              <a:defRPr sz="1150">
                <a:solidFill>
                  <a:srgbClr val="0F172A"/>
                </a:solidFill>
                <a:latin typeface="Calibri"/>
              </a:defRPr>
            </a:pPr>
            <a:r>
              <a:t>•  P(Correct | GT NOT in Top-k): Đánh giá khả năng LLM tự sửa sai dựa trên tri thức nội tại.</a:t>
            </a:r>
          </a:p>
          <a:p>
            <a:pPr>
              <a:spcBef>
                <a:spcPts val="350"/>
              </a:spcBef>
              <a:defRPr sz="1150">
                <a:solidFill>
                  <a:srgbClr val="0F172A"/>
                </a:solidFill>
                <a:latin typeface="Calibri"/>
              </a:defRPr>
            </a:pPr>
            <a:r>
              <a:t>•  Macro-F1 &amp; Exact Match: Tính trên không gian kỹ thuật chuẩn Frozen Benchmark Universe (D2d).</a:t>
            </a:r>
          </a:p>
          <a:p>
            <a:pPr>
              <a:spcBef>
                <a:spcPts val="350"/>
              </a:spcBef>
              <a:defRPr sz="1150">
                <a:solidFill>
                  <a:srgbClr val="0F172A"/>
                </a:solidFill>
                <a:latin typeface="Calibri"/>
              </a:defRPr>
            </a:pPr>
            <a:r>
              <a:t>•  Fail-Closed Invariant: Mẫu lỗi API, timeout (D2f) hay mã sai cú pháp (D2e) đều tính vào mẫu số.</a:t>
            </a:r>
          </a:p>
        </p:txBody>
      </p:sp>
      <p:sp>
        <p:nvSpPr>
          <p:cNvPr id="10" name="Rounded Rectangle 9"/>
          <p:cNvSpPr/>
          <p:nvPr/>
        </p:nvSpPr>
        <p:spPr>
          <a:xfrm>
            <a:off x="6248095" y="3200400"/>
            <a:ext cx="5212080" cy="310896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3310128"/>
            <a:ext cx="4846320" cy="2889504"/>
          </a:xfrm>
          <a:prstGeom prst="rect">
            <a:avLst/>
          </a:prstGeom>
          <a:noFill/>
        </p:spPr>
        <p:txBody>
          <a:bodyPr wrap="square">
            <a:spAutoFit/>
          </a:bodyPr>
          <a:lstStyle/>
          <a:p>
            <a:pPr>
              <a:defRPr sz="1600" b="1">
                <a:solidFill>
                  <a:srgbClr val="DC2626"/>
                </a:solidFill>
                <a:latin typeface="Calibri"/>
              </a:defRPr>
            </a:pPr>
            <a:r>
              <a:t>[PENDING EXECUTION] Trạng Thái Thực Nghiệm RQ1 &amp; RQ2</a:t>
            </a:r>
          </a:p>
          <a:p>
            <a:pPr>
              <a:spcBef>
                <a:spcPts val="350"/>
              </a:spcBef>
              <a:defRPr sz="1150">
                <a:solidFill>
                  <a:srgbClr val="0F172A"/>
                </a:solidFill>
                <a:latin typeface="Calibri"/>
              </a:defRPr>
            </a:pPr>
            <a:r>
              <a:t>•  Ma trận TEST chính thức: 1,280 views x 5 nhánh (6,400 bản ghi) đang trong tiến trình chạy (PID 50192).</a:t>
            </a:r>
          </a:p>
          <a:p>
            <a:pPr>
              <a:spcBef>
                <a:spcPts val="350"/>
              </a:spcBef>
              <a:defRPr sz="1150">
                <a:solidFill>
                  <a:srgbClr val="0F172A"/>
                </a:solidFill>
                <a:latin typeface="Calibri"/>
              </a:defRPr>
            </a:pPr>
            <a:r>
              <a:t>•  Nguyên tắc Fail-Closed: Evaluator từ chối công bố điểm chính thức khi chưa đủ 6,400 records.</a:t>
            </a:r>
          </a:p>
          <a:p>
            <a:pPr>
              <a:spcBef>
                <a:spcPts val="350"/>
              </a:spcBef>
              <a:defRPr sz="1150">
                <a:solidFill>
                  <a:srgbClr val="0F172A"/>
                </a:solidFill>
                <a:latin typeface="Calibri"/>
              </a:defRPr>
            </a:pPr>
            <a:r>
              <a:t>•  Kiểm định toán học Evaluator: Đã xác thực ngoại tuyến qua 5 test fixtures (outputs/reproduction/fixture_diagnostics/).</a:t>
            </a:r>
          </a:p>
          <a:p>
            <a:pPr>
              <a:spcBef>
                <a:spcPts val="350"/>
              </a:spcBef>
              <a:defRPr sz="1150">
                <a:solidFill>
                  <a:srgbClr val="0F172A"/>
                </a:solidFill>
                <a:latin typeface="Calibri"/>
              </a:defRPr>
            </a:pPr>
            <a:r>
              <a:t>•  Đầu ra chuẩn: 6 metric JSON artifacts kèm _fixture_metadata.json (fixture_only: true).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8. Nghiên Cứu Tiêu Thụ Tài Nguyên &amp; Chi Phí Thực Nghiệm (RQ3)</a:t>
            </a:r>
          </a:p>
          <a:p>
            <a:pPr>
              <a:defRPr sz="1300">
                <a:solidFill>
                  <a:srgbClr val="06B6D4"/>
                </a:solidFill>
                <a:latin typeface="Calibri"/>
              </a:defRPr>
            </a:pPr>
            <a:r>
              <a:t>Đo lường từ DEV Cost Pilot trên OpenAI gpt-5.6-luna xhigh và kiểm soát ngân sách</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1E40AF"/>
                </a:solidFill>
                <a:latin typeface="Calibri"/>
              </a:defRPr>
            </a:pPr>
            <a:r>
              <a:t>DEV Cost Pilot &amp; Kiểm Soát Ngân Sách (RQ3)</a:t>
            </a:r>
          </a:p>
          <a:p>
            <a:pPr>
              <a:spcBef>
                <a:spcPts val="250"/>
              </a:spcBef>
              <a:defRPr sz="1150">
                <a:solidFill>
                  <a:srgbClr val="0F172A"/>
                </a:solidFill>
                <a:latin typeface="Calibri"/>
              </a:defRPr>
            </a:pPr>
            <a:r>
              <a:t>•  Mục đích: Đo lường mức tăng trưởng token thực tế và kiểm tra độ ổn định schema.</a:t>
            </a:r>
          </a:p>
          <a:p>
            <a:pPr>
              <a:spcBef>
                <a:spcPts val="250"/>
              </a:spcBef>
              <a:defRPr sz="1150">
                <a:solidFill>
                  <a:srgbClr val="0F172A"/>
                </a:solidFill>
                <a:latin typeface="Calibri"/>
              </a:defRPr>
            </a:pPr>
            <a:r>
              <a:t>•  Quy mô: 20 yêu cầu thực tế qua Responses API trên 4 DEV views x 5 điều kiện (100% VALID, 0 retry, trễ TB 8,127.6 ms).</a:t>
            </a:r>
          </a:p>
          <a:p>
            <a:pPr>
              <a:spcBef>
                <a:spcPts val="250"/>
              </a:spcBef>
              <a:defRPr sz="1150">
                <a:solidFill>
                  <a:srgbClr val="0F172A"/>
                </a:solidFill>
                <a:latin typeface="Calibri"/>
              </a:defRPr>
            </a:pPr>
            <a:r>
              <a:t>•  Ước tính từ dữ liệu telemetry pilot ban đầu:</a:t>
            </a:r>
          </a:p>
          <a:p>
            <a:pPr>
              <a:spcBef>
                <a:spcPts val="250"/>
              </a:spcBef>
              <a:defRPr sz="1150">
                <a:solidFill>
                  <a:srgbClr val="0F172A"/>
                </a:solidFill>
                <a:latin typeface="Calibri"/>
              </a:defRPr>
            </a:pPr>
            <a:r>
              <a:t>  • no_rag (k=0): 643 in / 224 out (~$0.00039 / query)</a:t>
            </a:r>
          </a:p>
          <a:p>
            <a:pPr>
              <a:spcBef>
                <a:spcPts val="250"/>
              </a:spcBef>
              <a:defRPr sz="1150">
                <a:solidFill>
                  <a:srgbClr val="0F172A"/>
                </a:solidFill>
                <a:latin typeface="Calibri"/>
              </a:defRPr>
            </a:pPr>
            <a:r>
              <a:t>  • rag_k1 (k=1): 1,115 in / 332 out (~$0.00062 / query)</a:t>
            </a:r>
          </a:p>
          <a:p>
            <a:pPr>
              <a:spcBef>
                <a:spcPts val="250"/>
              </a:spcBef>
              <a:defRPr sz="1150">
                <a:solidFill>
                  <a:srgbClr val="0F172A"/>
                </a:solidFill>
                <a:latin typeface="Calibri"/>
              </a:defRPr>
            </a:pPr>
            <a:r>
              <a:t>  • rag_k3 (k=3): 1,741 in / 1,087 out (~$0.00165 / query - telemetry ban đầu)</a:t>
            </a:r>
          </a:p>
          <a:p>
            <a:pPr>
              <a:spcBef>
                <a:spcPts val="250"/>
              </a:spcBef>
              <a:defRPr sz="1150">
                <a:solidFill>
                  <a:srgbClr val="0F172A"/>
                </a:solidFill>
                <a:latin typeface="Calibri"/>
              </a:defRPr>
            </a:pPr>
            <a:r>
              <a:t>  • rag_k5 (k=5): 2,518 in / 840 out (~$0.00151 / query)</a:t>
            </a:r>
          </a:p>
          <a:p>
            <a:pPr>
              <a:spcBef>
                <a:spcPts val="250"/>
              </a:spcBef>
              <a:defRPr sz="1150">
                <a:solidFill>
                  <a:srgbClr val="0F172A"/>
                </a:solidFill>
                <a:latin typeface="Calibri"/>
              </a:defRPr>
            </a:pPr>
            <a:r>
              <a:t>  • rag_k10 (k=10): 4,537 in / 801 out (~$0.00187 / query)</a:t>
            </a:r>
          </a:p>
          <a:p>
            <a:pPr>
              <a:spcBef>
                <a:spcPts val="250"/>
              </a:spcBef>
              <a:defRPr sz="1150">
                <a:solidFill>
                  <a:srgbClr val="0F172A"/>
                </a:solidFill>
                <a:latin typeface="Calibri"/>
              </a:defRPr>
            </a:pPr>
            <a:r>
              <a:t>•  Phân định rõ chi phí thực nghiệm:</a:t>
            </a:r>
          </a:p>
          <a:p>
            <a:pPr>
              <a:spcBef>
                <a:spcPts val="250"/>
              </a:spcBef>
              <a:defRPr sz="1150">
                <a:solidFill>
                  <a:srgbClr val="0F172A"/>
                </a:solidFill>
                <a:latin typeface="Calibri"/>
              </a:defRPr>
            </a:pPr>
            <a:r>
              <a:t>  • Quyết toán thực tế (Verified Spend): $0.024209 USD (conservative: $0.026320 USD).</a:t>
            </a:r>
          </a:p>
          <a:p>
            <a:pPr>
              <a:spcBef>
                <a:spcPts val="250"/>
              </a:spcBef>
              <a:defRPr sz="1150">
                <a:solidFill>
                  <a:srgbClr val="0F172A"/>
                </a:solidFill>
                <a:latin typeface="Calibri"/>
              </a:defRPr>
            </a:pPr>
            <a:r>
              <a:t>  • Dự phóng tập TEST (Projected Spend): $8.20 – $8.99 USD cho 6,400 requests.</a:t>
            </a:r>
          </a:p>
          <a:p>
            <a:pPr>
              <a:spcBef>
                <a:spcPts val="250"/>
              </a:spcBef>
              <a:defRPr sz="1150">
                <a:solidFill>
                  <a:srgbClr val="0F172A"/>
                </a:solidFill>
                <a:latin typeface="Calibri"/>
              </a:defRPr>
            </a:pPr>
            <a:r>
              <a:t>  • Trần ngân sách đóng băng: $19.99 USD (hard_budget_limit_usd).</a:t>
            </a:r>
          </a:p>
          <a:p>
            <a:pPr>
              <a:spcBef>
                <a:spcPts val="250"/>
              </a:spcBef>
              <a:defRPr sz="1150">
                <a:solidFill>
                  <a:srgbClr val="0F172A"/>
                </a:solidFill>
                <a:latin typeface="Calibri"/>
              </a:defRPr>
            </a:pPr>
            <a:r>
              <a:t>  • Khoản giữ chỗ conservative pilot: $0.05264010 USD (reserved_budget_usd).</a:t>
            </a:r>
          </a:p>
        </p:txBody>
      </p:sp>
      <p:pic>
        <p:nvPicPr>
          <p:cNvPr id="8" name="Picture 7" descr="fig_rq3_pilot_token_scaling.png"/>
          <p:cNvPicPr>
            <a:picLocks noChangeAspect="1"/>
          </p:cNvPicPr>
          <p:nvPr/>
        </p:nvPicPr>
        <p:blipFill>
          <a:blip r:embed="rId2"/>
          <a:stretch>
            <a:fillRect/>
          </a:stretch>
        </p:blipFill>
        <p:spPr>
          <a:xfrm>
            <a:off x="6248095" y="1234440"/>
            <a:ext cx="5212080" cy="2132215"/>
          </a:xfrm>
          <a:prstGeom prst="rect">
            <a:avLst/>
          </a:prstGeom>
        </p:spPr>
      </p:pic>
      <p:sp>
        <p:nvSpPr>
          <p:cNvPr id="9" name="Rounded Rectangle 8"/>
          <p:cNvSpPr/>
          <p:nvPr/>
        </p:nvSpPr>
        <p:spPr>
          <a:xfrm>
            <a:off x="6248095" y="4526280"/>
            <a:ext cx="5212080" cy="178308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0975" y="4636008"/>
            <a:ext cx="4846320" cy="1563624"/>
          </a:xfrm>
          <a:prstGeom prst="rect">
            <a:avLst/>
          </a:prstGeom>
          <a:noFill/>
        </p:spPr>
        <p:txBody>
          <a:bodyPr wrap="square">
            <a:spAutoFit/>
          </a:bodyPr>
          <a:lstStyle/>
          <a:p>
            <a:pPr>
              <a:defRPr sz="1600" b="1">
                <a:solidFill>
                  <a:srgbClr val="059669"/>
                </a:solidFill>
                <a:latin typeface="Calibri"/>
              </a:defRPr>
            </a:pPr>
            <a:r>
              <a:t>Quy Luật Đánh Đổi Hiệu Năng &amp; Chi Phí (RQ3 Trade-off)</a:t>
            </a:r>
          </a:p>
          <a:p>
            <a:pPr>
              <a:spcBef>
                <a:spcPts val="250"/>
              </a:spcBef>
              <a:defRPr sz="1100">
                <a:solidFill>
                  <a:srgbClr val="0F172A"/>
                </a:solidFill>
                <a:latin typeface="Calibri"/>
              </a:defRPr>
            </a:pPr>
            <a:r>
              <a:t>•  Tăng k từ 1 lên 10 giúp tăng Hit rate từ 4.2% lên 45.1%, nhưng lượng token đầu vào tăng ~4x.</a:t>
            </a:r>
          </a:p>
          <a:p>
            <a:pPr>
              <a:spcBef>
                <a:spcPts val="250"/>
              </a:spcBef>
              <a:defRPr sz="1100">
                <a:solidFill>
                  <a:srgbClr val="0F172A"/>
                </a:solidFill>
                <a:latin typeface="Calibri"/>
              </a:defRPr>
            </a:pPr>
            <a:r>
              <a:t>•  Toàn bộ chi phí dự phóng cho tập TEST (&lt; $10 USD) nằm an toàn dưới trần ngân sách đóng băng $19.99 USD.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9. Giới Hạn Nghiên Cứu &amp; Mối Đe Dọa Giá Trị</a:t>
            </a:r>
          </a:p>
          <a:p>
            <a:pPr>
              <a:defRPr sz="1300">
                <a:solidFill>
                  <a:srgbClr val="06B6D4"/>
                </a:solidFill>
                <a:latin typeface="Calibri"/>
              </a:defRPr>
            </a:pPr>
            <a:r>
              <a:t>Đánh giá khách quan các hạn chế kỹ thuật và phạm vi khoa học</a:t>
            </a:r>
          </a:p>
        </p:txBody>
      </p:sp>
      <p:sp>
        <p:nvSpPr>
          <p:cNvPr id="6" name="Rounded Rectangle 5"/>
          <p:cNvSpPr/>
          <p:nvPr/>
        </p:nvSpPr>
        <p:spPr>
          <a:xfrm>
            <a:off x="7315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3047695" cy="4855464"/>
          </a:xfrm>
          <a:prstGeom prst="rect">
            <a:avLst/>
          </a:prstGeom>
          <a:noFill/>
        </p:spPr>
        <p:txBody>
          <a:bodyPr wrap="square">
            <a:spAutoFit/>
          </a:bodyPr>
          <a:lstStyle/>
          <a:p>
            <a:pPr>
              <a:defRPr sz="1600" b="1">
                <a:solidFill>
                  <a:srgbClr val="DC2626"/>
                </a:solidFill>
                <a:latin typeface="Calibri"/>
              </a:defRPr>
            </a:pPr>
            <a:r>
              <a:t>Phạm Vi Dữ Liệu (Scope)</a:t>
            </a:r>
          </a:p>
          <a:p>
            <a:pPr>
              <a:spcBef>
                <a:spcPts val="400"/>
              </a:spcBef>
              <a:defRPr sz="1200">
                <a:solidFill>
                  <a:srgbClr val="0F172A"/>
                </a:solidFill>
                <a:latin typeface="Calibri"/>
              </a:defRPr>
            </a:pPr>
            <a:r>
              <a:t>•  Dữ liệu thử nghiệm Stage B là kịch bản giả lập có cấu trúc (synthetic-paired-v1).</a:t>
            </a:r>
          </a:p>
          <a:p>
            <a:pPr>
              <a:spcBef>
                <a:spcPts val="400"/>
              </a:spcBef>
              <a:defRPr sz="1200">
                <a:solidFill>
                  <a:srgbClr val="0F172A"/>
                </a:solidFill>
                <a:latin typeface="Calibri"/>
              </a:defRPr>
            </a:pPr>
            <a:r>
              <a:t>•  Mặc dù tuân thủ nghiêm ngặt định dạng sự kiện Windows, nó chưa phản ánh toàn diện độ nhiễu của các cuộc tấn công APT thực tế.</a:t>
            </a:r>
          </a:p>
          <a:p>
            <a:pPr>
              <a:spcBef>
                <a:spcPts val="400"/>
              </a:spcBef>
              <a:defRPr sz="1200">
                <a:solidFill>
                  <a:srgbClr val="0F172A"/>
                </a:solidFill>
                <a:latin typeface="Calibri"/>
              </a:defRPr>
            </a:pPr>
            <a:r>
              <a:t>•  Nghiên cứu không khẳng định kết quả áp dụng nguyên vẹn cho môi trường thực tế cho đến khi hoàn tất T15 real pilot.</a:t>
            </a:r>
          </a:p>
        </p:txBody>
      </p:sp>
      <p:sp>
        <p:nvSpPr>
          <p:cNvPr id="8" name="Rounded Rectangle 7"/>
          <p:cNvSpPr/>
          <p:nvPr/>
        </p:nvSpPr>
        <p:spPr>
          <a:xfrm>
            <a:off x="43891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344168"/>
            <a:ext cx="3047695" cy="4855464"/>
          </a:xfrm>
          <a:prstGeom prst="rect">
            <a:avLst/>
          </a:prstGeom>
          <a:noFill/>
        </p:spPr>
        <p:txBody>
          <a:bodyPr wrap="square">
            <a:spAutoFit/>
          </a:bodyPr>
          <a:lstStyle/>
          <a:p>
            <a:pPr>
              <a:defRPr sz="1600" b="1">
                <a:solidFill>
                  <a:srgbClr val="2563EB"/>
                </a:solidFill>
                <a:latin typeface="Calibri"/>
              </a:defRPr>
            </a:pPr>
            <a:r>
              <a:t>Mô Hình Nhúng Đơn Tầng</a:t>
            </a:r>
          </a:p>
          <a:p>
            <a:pPr>
              <a:spcBef>
                <a:spcPts val="400"/>
              </a:spcBef>
              <a:defRPr sz="1200">
                <a:solidFill>
                  <a:srgbClr val="0F172A"/>
                </a:solidFill>
                <a:latin typeface="Calibri"/>
              </a:defRPr>
            </a:pPr>
            <a:r>
              <a:t>•  Việc sử dụng all-MiniLM-L6-v2 thuần túy (dense bi-encoder) bộc lộ hạn chế lớn với các từ khóa kỹ thuật số (như Event ID 4720).</a:t>
            </a:r>
          </a:p>
          <a:p>
            <a:pPr>
              <a:spcBef>
                <a:spcPts val="400"/>
              </a:spcBef>
              <a:defRPr sz="1200">
                <a:solidFill>
                  <a:srgbClr val="0F172A"/>
                </a:solidFill>
                <a:latin typeface="Calibri"/>
              </a:defRPr>
            </a:pPr>
            <a:r>
              <a:t>•  Khoảng cách giữa ngôn ngữ nhật ký và ngôn ngữ mô tả của ATT&amp;CK đòi hỏi phải có kiến trúc tìm kiếm lai (Hybrid Search: Dense + BM25 Lexical).</a:t>
            </a:r>
          </a:p>
        </p:txBody>
      </p:sp>
      <p:sp>
        <p:nvSpPr>
          <p:cNvPr id="10" name="Rounded Rectangle 9"/>
          <p:cNvSpPr/>
          <p:nvPr/>
        </p:nvSpPr>
        <p:spPr>
          <a:xfrm>
            <a:off x="8046720" y="1234440"/>
            <a:ext cx="3413455"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344168"/>
            <a:ext cx="3047695" cy="4855464"/>
          </a:xfrm>
          <a:prstGeom prst="rect">
            <a:avLst/>
          </a:prstGeom>
          <a:noFill/>
        </p:spPr>
        <p:txBody>
          <a:bodyPr wrap="square">
            <a:spAutoFit/>
          </a:bodyPr>
          <a:lstStyle/>
          <a:p>
            <a:pPr>
              <a:defRPr sz="1600" b="1">
                <a:solidFill>
                  <a:srgbClr val="1E293B"/>
                </a:solidFill>
                <a:latin typeface="Calibri"/>
              </a:defRPr>
            </a:pPr>
            <a:r>
              <a:t>Phạm Vi Mô Hình &amp; Tái Lập An Toàn</a:t>
            </a:r>
          </a:p>
          <a:p>
            <a:pPr>
              <a:spcBef>
                <a:spcPts val="400"/>
              </a:spcBef>
              <a:defRPr sz="1200">
                <a:solidFill>
                  <a:srgbClr val="0F172A"/>
                </a:solidFill>
                <a:latin typeface="Calibri"/>
              </a:defRPr>
            </a:pPr>
            <a:r>
              <a:t>•  Nghiên cứu tập trung đánh giá trên mô hình đại diện gpt-5.6-luna nhằm kiểm soát chặt chẽ biến số.</a:t>
            </a:r>
          </a:p>
          <a:p>
            <a:pPr>
              <a:spcBef>
                <a:spcPts val="400"/>
              </a:spcBef>
              <a:defRPr sz="1200">
                <a:solidFill>
                  <a:srgbClr val="0F172A"/>
                </a:solidFill>
                <a:latin typeface="Calibri"/>
              </a:defRPr>
            </a:pPr>
            <a:r>
              <a:t>•  Cần mở rộng kiểm nghiệm trên các mô hình mã nguồn mở (Llama-3, Qwen) để xác minh tính phổ quát của quy luật phân rã lỗi.</a:t>
            </a:r>
          </a:p>
          <a:p>
            <a:pPr>
              <a:spcBef>
                <a:spcPts val="400"/>
              </a:spcBef>
              <a:defRPr sz="1200">
                <a:solidFill>
                  <a:srgbClr val="0F172A"/>
                </a:solidFill>
                <a:latin typeface="Calibri"/>
              </a:defRPr>
            </a:pPr>
            <a:r>
              <a:t>•  Quy trình tái lập an toàn: Mọi kịch bản kiểm thử bắt buộc chạy qua runner offline scripts/run_offline_tests.py, tuyệt đối không dùng pytest trần không có guard.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87552"/>
            <a:ext cx="12191695" cy="3657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91440"/>
            <a:ext cx="10728655" cy="822960"/>
          </a:xfrm>
          <a:prstGeom prst="rect">
            <a:avLst/>
          </a:prstGeom>
          <a:noFill/>
        </p:spPr>
        <p:txBody>
          <a:bodyPr wrap="square">
            <a:spAutoFit/>
          </a:bodyPr>
          <a:lstStyle/>
          <a:p>
            <a:pPr>
              <a:defRPr sz="2400" b="1">
                <a:solidFill>
                  <a:srgbClr val="FFFFFF"/>
                </a:solidFill>
                <a:latin typeface="Calibri"/>
              </a:defRPr>
            </a:pPr>
            <a:r>
              <a:t>10. Khả Năng Tái Lập Độc Lập &amp; Đóng Góp Khoa Học</a:t>
            </a:r>
          </a:p>
          <a:p>
            <a:pPr>
              <a:defRPr sz="1300">
                <a:solidFill>
                  <a:srgbClr val="06B6D4"/>
                </a:solidFill>
                <a:latin typeface="Calibri"/>
              </a:defRPr>
            </a:pPr>
            <a:r>
              <a:t>Toàn bộ nghiên cứu có thể kiểm chứng ngoại tuyến với chi phí 0 đồng</a:t>
            </a:r>
          </a:p>
        </p:txBody>
      </p:sp>
      <p:sp>
        <p:nvSpPr>
          <p:cNvPr id="6" name="Rounded Rectangle 5"/>
          <p:cNvSpPr/>
          <p:nvPr/>
        </p:nvSpPr>
        <p:spPr>
          <a:xfrm>
            <a:off x="731520"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44168"/>
            <a:ext cx="4846320" cy="4855464"/>
          </a:xfrm>
          <a:prstGeom prst="rect">
            <a:avLst/>
          </a:prstGeom>
          <a:noFill/>
        </p:spPr>
        <p:txBody>
          <a:bodyPr wrap="square">
            <a:spAutoFit/>
          </a:bodyPr>
          <a:lstStyle/>
          <a:p>
            <a:pPr>
              <a:defRPr sz="1600" b="1">
                <a:solidFill>
                  <a:srgbClr val="059669"/>
                </a:solidFill>
                <a:latin typeface="Calibri"/>
              </a:defRPr>
            </a:pPr>
            <a:r>
              <a:t>Tái Lập 100% Ngoại Tuyến (Zero-Cost)</a:t>
            </a:r>
          </a:p>
          <a:p>
            <a:pPr>
              <a:spcBef>
                <a:spcPts val="300"/>
              </a:spcBef>
              <a:defRPr sz="1150">
                <a:solidFill>
                  <a:srgbClr val="0F172A"/>
                </a:solidFill>
                <a:latin typeface="Calibri"/>
              </a:defRPr>
            </a:pPr>
            <a:r>
              <a:t>•  Lệnh tái lập tự động toàn diện: uv run python scripts/reproduce_study.py --all</a:t>
            </a:r>
          </a:p>
          <a:p>
            <a:pPr>
              <a:spcBef>
                <a:spcPts val="300"/>
              </a:spcBef>
              <a:defRPr sz="1150">
                <a:solidFill>
                  <a:srgbClr val="0F172A"/>
                </a:solidFill>
                <a:latin typeface="Calibri"/>
              </a:defRPr>
            </a:pPr>
            <a:r>
              <a:t>•  Lệnh kiểm thử bộ test suite có bảo vệ: uv run python scripts/run_offline_tests.py</a:t>
            </a:r>
          </a:p>
          <a:p>
            <a:pPr>
              <a:spcBef>
                <a:spcPts val="300"/>
              </a:spcBef>
              <a:defRPr sz="1150">
                <a:solidFill>
                  <a:srgbClr val="0F172A"/>
                </a:solidFill>
                <a:latin typeface="Calibri"/>
              </a:defRPr>
            </a:pPr>
            <a:r>
              <a:t>•  Tuyệt đối không dùng pytest trần không có OFFLINE_GUARD.</a:t>
            </a:r>
          </a:p>
          <a:p>
            <a:pPr>
              <a:spcBef>
                <a:spcPts val="300"/>
              </a:spcBef>
              <a:defRPr sz="1150">
                <a:solidFill>
                  <a:srgbClr val="0F172A"/>
                </a:solidFill>
                <a:latin typeface="Calibri"/>
              </a:defRPr>
            </a:pPr>
            <a:r>
              <a:t>•  Điều kiện tái lập:</a:t>
            </a:r>
          </a:p>
          <a:p>
            <a:pPr>
              <a:spcBef>
                <a:spcPts val="300"/>
              </a:spcBef>
              <a:defRPr sz="1150">
                <a:solidFill>
                  <a:srgbClr val="0F172A"/>
                </a:solidFill>
                <a:latin typeface="Calibri"/>
              </a:defRPr>
            </a:pPr>
            <a:r>
              <a:t>  • Tái lập ngoại tuyến: Sử dụng 15 canonical artifacts đã khóa mật mã trong repo.</a:t>
            </a:r>
          </a:p>
          <a:p>
            <a:pPr>
              <a:spcBef>
                <a:spcPts val="300"/>
              </a:spcBef>
              <a:defRPr sz="1150">
                <a:solidFill>
                  <a:srgbClr val="0F172A"/>
                </a:solidFill>
                <a:latin typeface="Calibri"/>
              </a:defRPr>
            </a:pPr>
            <a:r>
              <a:t>  • Tái lập toàn diện luồng live provider: Yêu cầu nạp credentials thực và chạy dưới cơ chế budget guard trần $19.99 USD.</a:t>
            </a:r>
          </a:p>
          <a:p>
            <a:pPr>
              <a:spcBef>
                <a:spcPts val="300"/>
              </a:spcBef>
              <a:defRPr sz="1150">
                <a:solidFill>
                  <a:srgbClr val="0F172A"/>
                </a:solidFill>
                <a:latin typeface="Calibri"/>
              </a:defRPr>
            </a:pPr>
            <a:r>
              <a:t>•  Khóa mật mã 15 artifact cốt lõi trong canonical_experiment_lock_v1.json.</a:t>
            </a:r>
          </a:p>
          <a:p>
            <a:pPr>
              <a:spcBef>
                <a:spcPts val="300"/>
              </a:spcBef>
              <a:defRPr sz="1150">
                <a:solidFill>
                  <a:srgbClr val="0F172A"/>
                </a:solidFill>
                <a:latin typeface="Calibri"/>
              </a:defRPr>
            </a:pPr>
            <a:r>
              <a:t>•  Tự động phát hiện và chặn đứng mọi hành vi rò rỉ mã bí mật hoặc gọi API ra ngoài bằng offline_guard.</a:t>
            </a:r>
          </a:p>
        </p:txBody>
      </p:sp>
      <p:sp>
        <p:nvSpPr>
          <p:cNvPr id="8" name="Rounded Rectangle 7"/>
          <p:cNvSpPr/>
          <p:nvPr/>
        </p:nvSpPr>
        <p:spPr>
          <a:xfrm>
            <a:off x="6248095" y="1234440"/>
            <a:ext cx="5212080" cy="5074920"/>
          </a:xfrm>
          <a:prstGeom prst="roundRect">
            <a:avLst/>
          </a:prstGeom>
          <a:solidFill>
            <a:srgbClr val="F1F5F9"/>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30975" y="1344168"/>
            <a:ext cx="4846320" cy="4855464"/>
          </a:xfrm>
          <a:prstGeom prst="rect">
            <a:avLst/>
          </a:prstGeom>
          <a:noFill/>
        </p:spPr>
        <p:txBody>
          <a:bodyPr wrap="square">
            <a:spAutoFit/>
          </a:bodyPr>
          <a:lstStyle/>
          <a:p>
            <a:pPr>
              <a:defRPr sz="1600" b="1">
                <a:solidFill>
                  <a:srgbClr val="1E40AF"/>
                </a:solidFill>
                <a:latin typeface="Calibri"/>
              </a:defRPr>
            </a:pPr>
            <a:r>
              <a:t>Đóng Góp Khoa Học Cốt Lõi</a:t>
            </a:r>
          </a:p>
          <a:p>
            <a:pPr>
              <a:spcBef>
                <a:spcPts val="300"/>
              </a:spcBef>
              <a:defRPr sz="1150">
                <a:solidFill>
                  <a:srgbClr val="0F172A"/>
                </a:solidFill>
                <a:latin typeface="Calibri"/>
              </a:defRPr>
            </a:pPr>
            <a:r>
              <a:t>•  1. Quy trình thực nghiệm chuẩn hóa: Thiết lập giao thức thực nghiệm đối chứng khép kín, chống rò rỉ nhãn đầu tiên cho bài toán Windows log attribution.</a:t>
            </a:r>
          </a:p>
          <a:p>
            <a:pPr>
              <a:spcBef>
                <a:spcPts val="300"/>
              </a:spcBef>
              <a:defRPr sz="1150">
                <a:solidFill>
                  <a:srgbClr val="0F172A"/>
                </a:solidFill>
                <a:latin typeface="Calibri"/>
              </a:defRPr>
            </a:pPr>
            <a:r>
              <a:t>•  2. Bóc tách độc lập các trục lỗi (RQ2 Failure Decomposition per D2i): Phân tích riêng biệt retrieval miss, downstream generation failure và joint overlap.</a:t>
            </a:r>
          </a:p>
          <a:p>
            <a:pPr>
              <a:spcBef>
                <a:spcPts val="300"/>
              </a:spcBef>
              <a:defRPr sz="1150">
                <a:solidFill>
                  <a:srgbClr val="0F172A"/>
                </a:solidFill>
                <a:latin typeface="Calibri"/>
              </a:defRPr>
            </a:pPr>
            <a:r>
              <a:t>•  3. Bằng chứng định lượng về khoảng cách từ vựng và giả thuyết pha loãng ngữ cảnh (Context Dilution Hypothesis).</a:t>
            </a:r>
          </a:p>
          <a:p>
            <a:pPr>
              <a:spcBef>
                <a:spcPts val="300"/>
              </a:spcBef>
              <a:defRPr sz="1150">
                <a:solidFill>
                  <a:srgbClr val="0F172A"/>
                </a:solidFill>
                <a:latin typeface="Calibri"/>
              </a:defRPr>
            </a:pPr>
            <a:r>
              <a:t>•  4. Bộ công cụ nghiên cứu mở: Cung cấp toàn bộ mã nguồn, benchmark, kịch bản tạo slide và dữ liệu chứng cứ nguyên vẹn.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97280" y="1371600"/>
            <a:ext cx="137160" cy="411480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280160"/>
            <a:ext cx="9601200" cy="4389120"/>
          </a:xfrm>
          <a:prstGeom prst="rect">
            <a:avLst/>
          </a:prstGeom>
          <a:noFill/>
        </p:spPr>
        <p:txBody>
          <a:bodyPr wrap="square">
            <a:spAutoFit/>
          </a:bodyPr>
          <a:lstStyle/>
          <a:p>
            <a:pPr>
              <a:defRPr sz="1400" b="1">
                <a:solidFill>
                  <a:srgbClr val="06B6D4"/>
                </a:solidFill>
                <a:latin typeface="Calibri"/>
              </a:defRPr>
            </a:pPr>
            <a:r>
              <a:t>TỔNG KẾT &amp; PHẦN HỎI ĐÁP (Q&amp;A)</a:t>
            </a:r>
          </a:p>
          <a:p>
            <a:pPr>
              <a:spcBef>
                <a:spcPts val="800"/>
              </a:spcBef>
              <a:defRPr sz="2600" b="1">
                <a:solidFill>
                  <a:srgbClr val="FFFFFF"/>
                </a:solidFill>
                <a:latin typeface="Calibri"/>
              </a:defRPr>
            </a:pPr>
            <a:r>
              <a:t>RAG2ATT&amp;CK: Đưa Tri Thức Thực Sự Vào Giám Sát An Ninh Mạng</a:t>
            </a:r>
          </a:p>
          <a:p>
            <a:pPr>
              <a:spcBef>
                <a:spcPts val="800"/>
              </a:spcBef>
              <a:defRPr sz="1300">
                <a:solidFill>
                  <a:srgbClr val="E2E8F0"/>
                </a:solidFill>
                <a:latin typeface="Calibri"/>
              </a:defRPr>
            </a:pPr>
            <a:r>
              <a:t>•  RAG cung cấp tri thức nền tảng quan trọng, nhưng chất lượng khâu truy xuất (Retrieval) là yếu tố quyết định thành bại.</a:t>
            </a:r>
          </a:p>
          <a:p>
            <a:pPr>
              <a:spcBef>
                <a:spcPts val="800"/>
              </a:spcBef>
              <a:defRPr sz="1300">
                <a:solidFill>
                  <a:srgbClr val="E2E8F0"/>
                </a:solidFill>
                <a:latin typeface="Calibri"/>
              </a:defRPr>
            </a:pPr>
            <a:r>
              <a:t>•  Phân rã lỗi theo D2i (Independent Axes) định lượng độc lập lỗi tìm kiếm, lỗi sinh của mô hình và phần giao thoa.</a:t>
            </a:r>
          </a:p>
          <a:p>
            <a:pPr>
              <a:spcBef>
                <a:spcPts val="800"/>
              </a:spcBef>
              <a:defRPr sz="1300">
                <a:solidFill>
                  <a:srgbClr val="E2E8F0"/>
                </a:solidFill>
                <a:latin typeface="Calibri"/>
              </a:defRPr>
            </a:pPr>
            <a:r>
              <a:t>•  Quy trình tái lập an toàn: Toàn bộ kiểm thử chạy qua runner offline scripts/run_offline_tests.py bảo đảm không rò rỉ credential.</a:t>
            </a:r>
          </a:p>
          <a:p>
            <a:pPr>
              <a:spcBef>
                <a:spcPts val="800"/>
              </a:spcBef>
              <a:defRPr sz="1300">
                <a:solidFill>
                  <a:srgbClr val="E2E8F0"/>
                </a:solidFill>
                <a:latin typeface="Calibri"/>
              </a:defRPr>
            </a:pPr>
            <a:r>
              <a:t>•  Định hướng tiếp theo: Triển khai Hybrid Retrieval (Dense + BM25) và kiểm nghiệm mở rộng trên telemetry thực tế.</a:t>
            </a:r>
          </a:p>
          <a:p>
            <a:pPr>
              <a:spcBef>
                <a:spcPts val="800"/>
              </a:spcBef>
              <a:defRPr sz="1300">
                <a:solidFill>
                  <a:srgbClr val="E2E8F0"/>
                </a:solidFill>
                <a:latin typeface="Calibri"/>
              </a:defRPr>
            </a:pPr>
            <a:r>
              <a:t>•  Mã nguồn, dữ liệu và báo cáo tái lập sẵn sàng tại: https://github.com/habachcp6/RAG2ATTCK</a:t>
            </a:r>
          </a:p>
          <a:p>
            <a:pPr>
              <a:spcBef>
                <a:spcPts val="1800"/>
              </a:spcBef>
              <a:defRPr sz="1500" b="1">
                <a:solidFill>
                  <a:srgbClr val="06B6D4"/>
                </a:solidFill>
                <a:latin typeface="Calibri"/>
              </a:defRPr>
            </a:pPr>
            <a:r>
              <a:t>Xin trân trọng cảm ơn Quý Thầy Cô và Hội Đồng! Kính mời đặt câu hỏi thảo luận.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